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9bfdc53-f8b6-e889-d0cf-e4247aa51802}">
          <p14:sldIdLst>
            <p14:sldId id="256"/>
            <p14:sldId id="257"/>
            <p14:sldId id="258"/>
          </p14:sldIdLst>
        </p14:section>
        <p14:section name="01 The data" id="{28998732-2f47-7924-7aef-dd3d65bbe4d6}">
          <p14:sldIdLst>
            <p14:sldId id="259"/>
            <p14:sldId id="260"/>
            <p14:sldId id="261"/>
            <p14:sldId id="262"/>
            <p14:sldId id="263"/>
            <p14:sldId id="264"/>
          </p14:sldIdLst>
        </p14:section>
        <p14:section name="02 A fair fight" id="{3e5098c7-b738-b4a9-ae86-fd5c79e38007}">
          <p14:sldIdLst>
            <p14:sldId id="265"/>
            <p14:sldId id="266"/>
            <p14:sldId id="267"/>
          </p14:sldIdLst>
        </p14:section>
        <p14:section name="03 Trees" id="{062a8367-e926-9f3f-9306-c0ee994ec5a9}">
          <p14:sldIdLst>
            <p14:sldId id="268"/>
            <p14:sldId id="269"/>
            <p14:sldId id="270"/>
            <p14:sldId id="271"/>
            <p14:sldId id="272"/>
          </p14:sldIdLst>
        </p14:section>
        <p14:section name="Closing" id="{400a7dd1-d3ee-27f4-6f3d-3d4267bec24c}">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Baselines to beat — test MAE (mph)</a:t>
            </a:r>
          </a:p>
        </c:rich>
      </c:tx>
      <c:layout/>
      <c:overlay val="0"/>
    </c:title>
    <c:autoTitleDeleted val="0"/>
    <c:plotArea>
      <c:layout/>
      <c:barChart>
        <c:barDir val="col"/>
        <c:grouping val="clustered"/>
        <c:varyColors val="0"/>
        <c:ser>
          <c:idx val="0"/>
          <c:order val="0"/>
          <c:tx>
            <c:strRef>
              <c:f>Sheet1!$B$1</c:f>
              <c:strCache>
                <c:ptCount val="1"/>
                <c:pt idx="0">
                  <c:v>Persistence</c:v>
                </c:pt>
              </c:strCache>
            </c:strRef>
          </c:tx>
          <c:spPr>
            <a:solidFill>
              <a:srgbClr val="FF5A4E"/>
            </a:solidFill>
            <a:effectLst/>
          </c:spPr>
          <c:invertIfNegative val="0"/>
          <c:dLbls>
            <c:numFmt formatCode="0.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15 min</c:v>
                  </c:pt>
                  <c:pt idx="1">
                    <c:v>30 min</c:v>
                  </c:pt>
                  <c:pt idx="2">
                    <c:v>60 min</c:v>
                  </c:pt>
                </c:lvl>
              </c:multiLvlStrCache>
            </c:multiLvlStrRef>
          </c:cat>
          <c:val>
            <c:numRef>
              <c:f>Sheet1!$B$2:$B$4</c:f>
              <c:numCache>
                <c:formatCode>General</c:formatCode>
                <c:ptCount val="3"/>
                <c:pt idx="0">
                  <c:v>3.494</c:v>
                </c:pt>
                <c:pt idx="1">
                  <c:v>4.198</c:v>
                </c:pt>
                <c:pt idx="2">
                  <c:v>5.368</c:v>
                </c:pt>
              </c:numCache>
            </c:numRef>
          </c:val>
        </c:ser>
        <c:ser>
          <c:idx val="1"/>
          <c:order val="1"/>
          <c:tx>
            <c:strRef>
              <c:f>Sheet1!$C$1</c:f>
              <c:strCache>
                <c:ptCount val="1"/>
                <c:pt idx="0">
                  <c:v>Historical average</c:v>
                </c:pt>
              </c:strCache>
            </c:strRef>
          </c:tx>
          <c:spPr>
            <a:solidFill>
              <a:srgbClr val="FFB547"/>
            </a:solidFill>
            <a:effectLst/>
          </c:spPr>
          <c:invertIfNegative val="0"/>
          <c:dLbls>
            <c:numFmt formatCode="0.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15 min</c:v>
                  </c:pt>
                  <c:pt idx="1">
                    <c:v>30 min</c:v>
                  </c:pt>
                  <c:pt idx="2">
                    <c:v>60 min</c:v>
                  </c:pt>
                </c:lvl>
              </c:multiLvlStrCache>
            </c:multiLvlStrRef>
          </c:cat>
          <c:val>
            <c:numRef>
              <c:f>Sheet1!$C$2:$C$4</c:f>
              <c:numCache>
                <c:formatCode>General</c:formatCode>
                <c:ptCount val="3"/>
                <c:pt idx="0">
                  <c:v>4.193</c:v>
                </c:pt>
                <c:pt idx="1">
                  <c:v>4.193</c:v>
                </c:pt>
                <c:pt idx="2">
                  <c:v>4.193</c:v>
                </c:pt>
              </c:numCache>
            </c:numRef>
          </c:val>
        </c:ser>
        <c:ser>
          <c:idx val="2"/>
          <c:order val="2"/>
          <c:tx>
            <c:strRef>
              <c:f>Sheet1!$D$1</c:f>
              <c:strCache>
                <c:ptCount val="1"/>
                <c:pt idx="0">
                  <c:v>Seasonal naive</c:v>
                </c:pt>
              </c:strCache>
            </c:strRef>
          </c:tx>
          <c:spPr>
            <a:solidFill>
              <a:srgbClr val="6B7794"/>
            </a:solidFill>
            <a:effectLst/>
          </c:spPr>
          <c:invertIfNegative val="0"/>
          <c:dLbls>
            <c:numFmt formatCode="0.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15 min</c:v>
                  </c:pt>
                  <c:pt idx="1">
                    <c:v>30 min</c:v>
                  </c:pt>
                  <c:pt idx="2">
                    <c:v>60 min</c:v>
                  </c:pt>
                </c:lvl>
              </c:multiLvlStrCache>
            </c:multiLvlStrRef>
          </c:cat>
          <c:val>
            <c:numRef>
              <c:f>Sheet1!$D$2:$D$4</c:f>
              <c:numCache>
                <c:formatCode>General</c:formatCode>
                <c:ptCount val="3"/>
                <c:pt idx="0">
                  <c:v>5.503</c:v>
                </c:pt>
                <c:pt idx="1">
                  <c:v>5.503</c:v>
                </c:pt>
                <c:pt idx="2">
                  <c:v>5.503</c:v>
                </c:pt>
              </c:numCache>
            </c:numRef>
          </c:val>
        </c:ser>
        <c:dLbls>
          <c:numFmt formatCode="0.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AEB8D0"/>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26304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AEB8D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AEB8D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Test MAE (mph) — lower is better</a:t>
            </a:r>
          </a:p>
        </c:rich>
      </c:tx>
      <c:layout/>
      <c:overlay val="0"/>
    </c:title>
    <c:autoTitleDeleted val="0"/>
    <c:plotArea>
      <c:layout/>
      <c:barChart>
        <c:barDir val="col"/>
        <c:grouping val="clustered"/>
        <c:varyColors val="0"/>
        <c:ser>
          <c:idx val="0"/>
          <c:order val="0"/>
          <c:tx>
            <c:strRef>
              <c:f>Sheet1!$B$1</c:f>
              <c:strCache>
                <c:ptCount val="1"/>
                <c:pt idx="0">
                  <c:v>XGB per-segment</c:v>
                </c:pt>
              </c:strCache>
            </c:strRef>
          </c:tx>
          <c:spPr>
            <a:solidFill>
              <a:srgbClr val="8C9BFF"/>
            </a:solidFill>
            <a:effectLst/>
          </c:spPr>
          <c:invertIfNegative val="0"/>
          <c:dLbls>
            <c:numFmt formatCode="0.0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15 min</c:v>
                  </c:pt>
                  <c:pt idx="1">
                    <c:v>30 min</c:v>
                  </c:pt>
                  <c:pt idx="2">
                    <c:v>60 min</c:v>
                  </c:pt>
                </c:lvl>
              </c:multiLvlStrCache>
            </c:multiLvlStrRef>
          </c:cat>
          <c:val>
            <c:numRef>
              <c:f>Sheet1!$B$2:$B$4</c:f>
              <c:numCache>
                <c:formatCode>General</c:formatCode>
                <c:ptCount val="3"/>
                <c:pt idx="0">
                  <c:v>2.86</c:v>
                </c:pt>
                <c:pt idx="1">
                  <c:v>3.276</c:v>
                </c:pt>
                <c:pt idx="2">
                  <c:v>3.684</c:v>
                </c:pt>
              </c:numCache>
            </c:numRef>
          </c:val>
        </c:ser>
        <c:ser>
          <c:idx val="1"/>
          <c:order val="1"/>
          <c:tx>
            <c:strRef>
              <c:f>Sheet1!$C$1</c:f>
              <c:strCache>
                <c:ptCount val="1"/>
                <c:pt idx="0">
                  <c:v>XGB pooled</c:v>
                </c:pt>
              </c:strCache>
            </c:strRef>
          </c:tx>
          <c:spPr>
            <a:solidFill>
              <a:srgbClr val="FFB547"/>
            </a:solidFill>
            <a:effectLst/>
          </c:spPr>
          <c:invertIfNegative val="0"/>
          <c:dLbls>
            <c:numFmt formatCode="0.0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15 min</c:v>
                  </c:pt>
                  <c:pt idx="1">
                    <c:v>30 min</c:v>
                  </c:pt>
                  <c:pt idx="2">
                    <c:v>60 min</c:v>
                  </c:pt>
                </c:lvl>
              </c:multiLvlStrCache>
            </c:multiLvlStrRef>
          </c:cat>
          <c:val>
            <c:numRef>
              <c:f>Sheet1!$C$2:$C$4</c:f>
              <c:numCache>
                <c:formatCode>General</c:formatCode>
                <c:ptCount val="3"/>
                <c:pt idx="0">
                  <c:v>2.88</c:v>
                </c:pt>
                <c:pt idx="1">
                  <c:v>3.331</c:v>
                </c:pt>
                <c:pt idx="2">
                  <c:v>3.781</c:v>
                </c:pt>
              </c:numCache>
            </c:numRef>
          </c:val>
        </c:ser>
        <c:ser>
          <c:idx val="2"/>
          <c:order val="2"/>
          <c:tx>
            <c:strRef>
              <c:f>Sheet1!$D$1</c:f>
              <c:strCache>
                <c:ptCount val="1"/>
                <c:pt idx="0">
                  <c:v>Random Forest</c:v>
                </c:pt>
              </c:strCache>
            </c:strRef>
          </c:tx>
          <c:spPr>
            <a:solidFill>
              <a:srgbClr val="6B7794"/>
            </a:solidFill>
            <a:effectLst/>
          </c:spPr>
          <c:invertIfNegative val="0"/>
          <c:dLbls>
            <c:numFmt formatCode="0.0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15 min</c:v>
                  </c:pt>
                  <c:pt idx="1">
                    <c:v>30 min</c:v>
                  </c:pt>
                  <c:pt idx="2">
                    <c:v>60 min</c:v>
                  </c:pt>
                </c:lvl>
              </c:multiLvlStrCache>
            </c:multiLvlStrRef>
          </c:cat>
          <c:val>
            <c:numRef>
              <c:f>Sheet1!$D$2:$D$4</c:f>
              <c:numCache>
                <c:formatCode>General</c:formatCode>
                <c:ptCount val="3"/>
                <c:pt idx="0">
                  <c:v>3.137</c:v>
                </c:pt>
                <c:pt idx="1">
                  <c:v>3.798</c:v>
                </c:pt>
                <c:pt idx="2">
                  <c:v>4.732</c:v>
                </c:pt>
              </c:numCache>
            </c:numRef>
          </c:val>
        </c:ser>
        <c:ser>
          <c:idx val="3"/>
          <c:order val="3"/>
          <c:tx>
            <c:strRef>
              <c:f>Sheet1!$E$1</c:f>
              <c:strCache>
                <c:ptCount val="1"/>
                <c:pt idx="0">
                  <c:v>XGB spatial</c:v>
                </c:pt>
              </c:strCache>
            </c:strRef>
          </c:tx>
          <c:spPr>
            <a:solidFill>
              <a:srgbClr val="3DD6C4"/>
            </a:solidFill>
            <a:effectLst/>
          </c:spPr>
          <c:invertIfNegative val="0"/>
          <c:dLbls>
            <c:numFmt formatCode="0.0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15 min</c:v>
                  </c:pt>
                  <c:pt idx="1">
                    <c:v>30 min</c:v>
                  </c:pt>
                  <c:pt idx="2">
                    <c:v>60 min</c:v>
                  </c:pt>
                </c:lvl>
              </c:multiLvlStrCache>
            </c:multiLvlStrRef>
          </c:cat>
          <c:val>
            <c:numRef>
              <c:f>Sheet1!$E$2:$E$4</c:f>
              <c:numCache>
                <c:formatCode>General</c:formatCode>
                <c:ptCount val="3"/>
                <c:pt idx="0">
                  <c:v>2.82</c:v>
                </c:pt>
                <c:pt idx="1">
                  <c:v>3.258</c:v>
                </c:pt>
                <c:pt idx="2">
                  <c:v>3.73</c:v>
                </c:pt>
              </c:numCache>
            </c:numRef>
          </c:val>
        </c:ser>
        <c:dLbls>
          <c:numFmt formatCode="0.0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AEB8D0"/>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26304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AEB8D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AEB8D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Test MAE (mph) by horizon (minutes)</a:t>
            </a:r>
          </a:p>
        </c:rich>
      </c:tx>
      <c:layout/>
      <c:overlay val="0"/>
    </c:title>
    <c:autoTitleDeleted val="0"/>
    <c:plotArea>
      <c:layout/>
      <c:lineChart>
        <c:varyColors val="0"/>
        <c:ser>
          <c:idx val="0"/>
          <c:order val="0"/>
          <c:tx>
            <c:strRef>
              <c:f>Sheet1!$B$1</c:f>
              <c:strCache>
                <c:ptCount val="1"/>
                <c:pt idx="0">
                  <c:v>Persistence</c:v>
                </c:pt>
              </c:strCache>
            </c:strRef>
          </c:tx>
          <c:spPr>
            <a:solidFill>
              <a:srgbClr val="6B7794"/>
            </a:solidFill>
            <a:ln w="38100" cap="flat">
              <a:solidFill>
                <a:srgbClr val="6B7794"/>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circle"/>
            <c:size val="5"/>
            <c:spPr>
              <a:solidFill>
                <a:srgbClr val="6B7794"/>
              </a:solidFill>
              <a:ln w="9525" cap="flat">
                <a:solidFill>
                  <a:srgbClr val="6B7794"/>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Sheet1!$B$2:$B$13</c:f>
              <c:numCache>
                <c:formatCode>General</c:formatCode>
                <c:ptCount val="12"/>
                <c:pt idx="0">
                  <c:v>2.812</c:v>
                </c:pt>
                <c:pt idx="1">
                  <c:v>3.205</c:v>
                </c:pt>
                <c:pt idx="2">
                  <c:v>3.494</c:v>
                </c:pt>
                <c:pt idx="3">
                  <c:v>3.745</c:v>
                </c:pt>
                <c:pt idx="4">
                  <c:v>3.974</c:v>
                </c:pt>
                <c:pt idx="5">
                  <c:v>4.198</c:v>
                </c:pt>
                <c:pt idx="6">
                  <c:v>4.413</c:v>
                </c:pt>
                <c:pt idx="7">
                  <c:v>4.617</c:v>
                </c:pt>
                <c:pt idx="8">
                  <c:v>4.808</c:v>
                </c:pt>
                <c:pt idx="9">
                  <c:v>4.999</c:v>
                </c:pt>
                <c:pt idx="10">
                  <c:v>5.184</c:v>
                </c:pt>
                <c:pt idx="11">
                  <c:v>5.368</c:v>
                </c:pt>
              </c:numCache>
            </c:numRef>
          </c:val>
          <c:smooth val="0"/>
        </c:ser>
        <c:ser>
          <c:idx val="1"/>
          <c:order val="1"/>
          <c:tx>
            <c:strRef>
              <c:f>Sheet1!$C$1</c:f>
              <c:strCache>
                <c:ptCount val="1"/>
                <c:pt idx="0">
                  <c:v>Historical average</c:v>
                </c:pt>
              </c:strCache>
            </c:strRef>
          </c:tx>
          <c:spPr>
            <a:solidFill>
              <a:srgbClr val="FFB547"/>
            </a:solidFill>
            <a:ln w="38100" cap="flat">
              <a:solidFill>
                <a:srgbClr val="FFB547"/>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circle"/>
            <c:size val="5"/>
            <c:spPr>
              <a:solidFill>
                <a:srgbClr val="FFB547"/>
              </a:solidFill>
              <a:ln w="9525" cap="flat">
                <a:solidFill>
                  <a:srgbClr val="FFB547"/>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Sheet1!$C$2:$C$13</c:f>
              <c:numCache>
                <c:formatCode>General</c:formatCode>
                <c:ptCount val="12"/>
                <c:pt idx="0">
                  <c:v>4.193</c:v>
                </c:pt>
                <c:pt idx="1">
                  <c:v>4.193</c:v>
                </c:pt>
                <c:pt idx="2">
                  <c:v>4.193</c:v>
                </c:pt>
                <c:pt idx="3">
                  <c:v>4.193</c:v>
                </c:pt>
                <c:pt idx="4">
                  <c:v>4.193</c:v>
                </c:pt>
                <c:pt idx="5">
                  <c:v>4.193</c:v>
                </c:pt>
                <c:pt idx="6">
                  <c:v>4.193</c:v>
                </c:pt>
                <c:pt idx="7">
                  <c:v>4.193</c:v>
                </c:pt>
                <c:pt idx="8">
                  <c:v>4.193</c:v>
                </c:pt>
                <c:pt idx="9">
                  <c:v>4.193</c:v>
                </c:pt>
                <c:pt idx="10">
                  <c:v>4.193</c:v>
                </c:pt>
                <c:pt idx="11">
                  <c:v>4.193</c:v>
                </c:pt>
              </c:numCache>
            </c:numRef>
          </c:val>
          <c:smooth val="0"/>
        </c:ser>
        <c:ser>
          <c:idx val="2"/>
          <c:order val="2"/>
          <c:tx>
            <c:strRef>
              <c:f>Sheet1!$D$1</c:f>
              <c:strCache>
                <c:ptCount val="1"/>
                <c:pt idx="0">
                  <c:v>Random Forest</c:v>
                </c:pt>
              </c:strCache>
            </c:strRef>
          </c:tx>
          <c:spPr>
            <a:solidFill>
              <a:srgbClr val="9AA7C7"/>
            </a:solidFill>
            <a:ln w="38100" cap="flat">
              <a:solidFill>
                <a:srgbClr val="9AA7C7"/>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circle"/>
            <c:size val="5"/>
            <c:spPr>
              <a:solidFill>
                <a:srgbClr val="9AA7C7"/>
              </a:solidFill>
              <a:ln w="9525" cap="flat">
                <a:solidFill>
                  <a:srgbClr val="9AA7C7"/>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Sheet1!$D$2:$D$13</c:f>
              <c:numCache>
                <c:formatCode>General</c:formatCode>
                <c:ptCount val="12"/>
                <c:pt idx="0">
                  <c:v>2.459</c:v>
                </c:pt>
                <c:pt idx="1">
                  <c:v>2.844</c:v>
                </c:pt>
                <c:pt idx="2">
                  <c:v>3.137</c:v>
                </c:pt>
                <c:pt idx="3">
                  <c:v>3.383</c:v>
                </c:pt>
                <c:pt idx="4">
                  <c:v>3.599</c:v>
                </c:pt>
                <c:pt idx="5">
                  <c:v>3.798</c:v>
                </c:pt>
                <c:pt idx="6">
                  <c:v>3.978</c:v>
                </c:pt>
                <c:pt idx="7">
                  <c:v>4.145</c:v>
                </c:pt>
                <c:pt idx="8">
                  <c:v>4.3</c:v>
                </c:pt>
                <c:pt idx="9">
                  <c:v>4.45</c:v>
                </c:pt>
                <c:pt idx="10">
                  <c:v>4.591</c:v>
                </c:pt>
                <c:pt idx="11">
                  <c:v>4.732</c:v>
                </c:pt>
              </c:numCache>
            </c:numRef>
          </c:val>
          <c:smooth val="0"/>
        </c:ser>
        <c:ser>
          <c:idx val="3"/>
          <c:order val="3"/>
          <c:tx>
            <c:strRef>
              <c:f>Sheet1!$E$1</c:f>
              <c:strCache>
                <c:ptCount val="1"/>
                <c:pt idx="0">
                  <c:v>XGB per-segment</c:v>
                </c:pt>
              </c:strCache>
            </c:strRef>
          </c:tx>
          <c:spPr>
            <a:solidFill>
              <a:srgbClr val="8C9BFF"/>
            </a:solidFill>
            <a:ln w="38100" cap="flat">
              <a:solidFill>
                <a:srgbClr val="8C9BFF"/>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circle"/>
            <c:size val="5"/>
            <c:spPr>
              <a:solidFill>
                <a:srgbClr val="8C9BFF"/>
              </a:solidFill>
              <a:ln w="9525" cap="flat">
                <a:solidFill>
                  <a:srgbClr val="8C9BFF"/>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Sheet1!$E$2:$E$13</c:f>
              <c:numCache>
                <c:formatCode>General</c:formatCode>
                <c:ptCount val="12"/>
                <c:pt idx="0">
                  <c:v/>
                </c:pt>
                <c:pt idx="1">
                  <c:v/>
                </c:pt>
                <c:pt idx="2">
                  <c:v>2.86</c:v>
                </c:pt>
                <c:pt idx="3">
                  <c:v/>
                </c:pt>
                <c:pt idx="4">
                  <c:v/>
                </c:pt>
                <c:pt idx="5">
                  <c:v>3.276</c:v>
                </c:pt>
                <c:pt idx="6">
                  <c:v/>
                </c:pt>
                <c:pt idx="7">
                  <c:v/>
                </c:pt>
                <c:pt idx="8">
                  <c:v/>
                </c:pt>
                <c:pt idx="9">
                  <c:v/>
                </c:pt>
                <c:pt idx="10">
                  <c:v/>
                </c:pt>
                <c:pt idx="11">
                  <c:v>3.684</c:v>
                </c:pt>
              </c:numCache>
            </c:numRef>
          </c:val>
          <c:smooth val="0"/>
        </c:ser>
        <c:ser>
          <c:idx val="4"/>
          <c:order val="4"/>
          <c:tx>
            <c:strRef>
              <c:f>Sheet1!$F$1</c:f>
              <c:strCache>
                <c:ptCount val="1"/>
                <c:pt idx="0">
                  <c:v>XGB pooled</c:v>
                </c:pt>
              </c:strCache>
            </c:strRef>
          </c:tx>
          <c:spPr>
            <a:solidFill>
              <a:srgbClr val="FF8A3D"/>
            </a:solidFill>
            <a:ln w="38100" cap="flat">
              <a:solidFill>
                <a:srgbClr val="FF8A3D"/>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circle"/>
            <c:size val="5"/>
            <c:spPr>
              <a:solidFill>
                <a:srgbClr val="FF8A3D"/>
              </a:solidFill>
              <a:ln w="9525" cap="flat">
                <a:solidFill>
                  <a:srgbClr val="FF8A3D"/>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Sheet1!$F$2:$F$13</c:f>
              <c:numCache>
                <c:formatCode>General</c:formatCode>
                <c:ptCount val="12"/>
                <c:pt idx="0">
                  <c:v>2.332</c:v>
                </c:pt>
                <c:pt idx="1">
                  <c:v>2.657</c:v>
                </c:pt>
                <c:pt idx="2">
                  <c:v>2.88</c:v>
                </c:pt>
                <c:pt idx="3">
                  <c:v>3.059</c:v>
                </c:pt>
                <c:pt idx="4">
                  <c:v>3.207</c:v>
                </c:pt>
                <c:pt idx="5">
                  <c:v>3.331</c:v>
                </c:pt>
                <c:pt idx="6">
                  <c:v>3.436</c:v>
                </c:pt>
                <c:pt idx="7">
                  <c:v>3.526</c:v>
                </c:pt>
                <c:pt idx="8">
                  <c:v>3.61</c:v>
                </c:pt>
                <c:pt idx="9">
                  <c:v>3.671</c:v>
                </c:pt>
                <c:pt idx="10">
                  <c:v>3.727</c:v>
                </c:pt>
                <c:pt idx="11">
                  <c:v>3.781</c:v>
                </c:pt>
              </c:numCache>
            </c:numRef>
          </c:val>
          <c:smooth val="0"/>
        </c:ser>
        <c:ser>
          <c:idx val="5"/>
          <c:order val="5"/>
          <c:tx>
            <c:strRef>
              <c:f>Sheet1!$G$1</c:f>
              <c:strCache>
                <c:ptCount val="1"/>
                <c:pt idx="0">
                  <c:v>XGB + neighbours</c:v>
                </c:pt>
              </c:strCache>
            </c:strRef>
          </c:tx>
          <c:spPr>
            <a:solidFill>
              <a:srgbClr val="3DD6C4"/>
            </a:solidFill>
            <a:ln w="38100" cap="flat">
              <a:solidFill>
                <a:srgbClr val="3DD6C4"/>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circle"/>
            <c:size val="5"/>
            <c:spPr>
              <a:solidFill>
                <a:srgbClr val="3DD6C4"/>
              </a:solidFill>
              <a:ln w="9525" cap="flat">
                <a:solidFill>
                  <a:srgbClr val="3DD6C4"/>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Sheet1!$G$2:$G$13</c:f>
              <c:numCache>
                <c:formatCode>General</c:formatCode>
                <c:ptCount val="12"/>
                <c:pt idx="0">
                  <c:v>2.269</c:v>
                </c:pt>
                <c:pt idx="1">
                  <c:v>2.599</c:v>
                </c:pt>
                <c:pt idx="2">
                  <c:v>2.82</c:v>
                </c:pt>
                <c:pt idx="3">
                  <c:v>2.993</c:v>
                </c:pt>
                <c:pt idx="4">
                  <c:v>3.138</c:v>
                </c:pt>
                <c:pt idx="5">
                  <c:v>3.258</c:v>
                </c:pt>
                <c:pt idx="6">
                  <c:v>3.37</c:v>
                </c:pt>
                <c:pt idx="7">
                  <c:v>3.461</c:v>
                </c:pt>
                <c:pt idx="8">
                  <c:v>3.546</c:v>
                </c:pt>
                <c:pt idx="9">
                  <c:v>3.613</c:v>
                </c:pt>
                <c:pt idx="10">
                  <c:v>3.672</c:v>
                </c:pt>
                <c:pt idx="11">
                  <c:v>3.73</c:v>
                </c:pt>
              </c:numCache>
            </c:numRef>
          </c:val>
          <c:smooth val="0"/>
        </c:ser>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AEB8D0"/>
                </a:solidFill>
                <a:latin typeface="+mn-lt"/>
              </a:defRPr>
            </a:pPr>
            <a:endParaRPr lang="en-US"/>
          </a:p>
        </c:txPr>
        <c:crossAx val="2094734552"/>
        <c:crosses val="autoZero"/>
        <c:auto val="1"/>
        <c:lblAlgn val="ctr"/>
        <c:noMultiLvlLbl val="1"/>
      </c:catAx>
      <c:valAx>
        <c:axId val="2094734552"/>
        <c:scaling>
          <c:orientation val="minMax"/>
          <c:max val="6"/>
          <c:min val="2"/>
        </c:scaling>
        <c:delete val="0"/>
        <c:axPos val="l"/>
        <c:majorGridlines>
          <c:spPr>
            <a:ln w="9525" cap="flat">
              <a:solidFill>
                <a:srgbClr val="26304F"/>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AEB8D0"/>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200">
              <a:solidFill>
                <a:srgbClr val="AEB8D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MAE gain from neighbour features (mph, pooled − spatial)</a:t>
            </a:r>
          </a:p>
        </c:rich>
      </c:tx>
      <c:layout/>
      <c:overlay val="0"/>
    </c:title>
    <c:autoTitleDeleted val="0"/>
    <c:plotArea>
      <c:layout/>
      <c:barChart>
        <c:barDir val="col"/>
        <c:grouping val="clustered"/>
        <c:varyColors val="0"/>
        <c:ser>
          <c:idx val="0"/>
          <c:order val="0"/>
          <c:tx>
            <c:strRef>
              <c:f>Sheet1!$B$1</c:f>
              <c:strCache>
                <c:ptCount val="1"/>
                <c:pt idx="0">
                  <c:v>15 min</c:v>
                </c:pt>
              </c:strCache>
            </c:strRef>
          </c:tx>
          <c:spPr>
            <a:solidFill>
              <a:srgbClr val="3DD6C4"/>
            </a:solidFill>
            <a:effectLst/>
          </c:spPr>
          <c:invertIfNegative val="0"/>
          <c:dLbls>
            <c:numFmt formatCode="0.0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cat>
            <c:multiLvlStrRef>
              <c:f>Sheet1!$A$2:$A$5</c:f>
              <c:multiLvlStrCache>
                <c:ptCount val="4"/>
                <c:lvl>
                  <c:pt idx="0">
                    <c:v>All</c:v>
                  </c:pt>
                  <c:pt idx="1">
                    <c:v>Peak</c:v>
                  </c:pt>
                  <c:pt idx="2">
                    <c:v>Off-peak</c:v>
                  </c:pt>
                  <c:pt idx="3">
                    <c:v>Congested</c:v>
                  </c:pt>
                </c:lvl>
              </c:multiLvlStrCache>
            </c:multiLvlStrRef>
          </c:cat>
          <c:val>
            <c:numRef>
              <c:f>Sheet1!$B$2:$B$5</c:f>
              <c:numCache>
                <c:formatCode>General</c:formatCode>
                <c:ptCount val="4"/>
                <c:pt idx="0">
                  <c:v>0.059</c:v>
                </c:pt>
                <c:pt idx="1">
                  <c:v>0.117</c:v>
                </c:pt>
                <c:pt idx="2">
                  <c:v>0.038</c:v>
                </c:pt>
                <c:pt idx="3">
                  <c:v>0.336</c:v>
                </c:pt>
              </c:numCache>
            </c:numRef>
          </c:val>
        </c:ser>
        <c:ser>
          <c:idx val="1"/>
          <c:order val="1"/>
          <c:tx>
            <c:strRef>
              <c:f>Sheet1!$C$1</c:f>
              <c:strCache>
                <c:ptCount val="1"/>
                <c:pt idx="0">
                  <c:v>30 min</c:v>
                </c:pt>
              </c:strCache>
            </c:strRef>
          </c:tx>
          <c:spPr>
            <a:solidFill>
              <a:srgbClr val="FFB547"/>
            </a:solidFill>
            <a:effectLst/>
          </c:spPr>
          <c:invertIfNegative val="0"/>
          <c:dLbls>
            <c:numFmt formatCode="0.0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cat>
            <c:multiLvlStrRef>
              <c:f>Sheet1!$A$2:$A$5</c:f>
              <c:multiLvlStrCache>
                <c:ptCount val="4"/>
                <c:lvl>
                  <c:pt idx="0">
                    <c:v>All</c:v>
                  </c:pt>
                  <c:pt idx="1">
                    <c:v>Peak</c:v>
                  </c:pt>
                  <c:pt idx="2">
                    <c:v>Off-peak</c:v>
                  </c:pt>
                  <c:pt idx="3">
                    <c:v>Congested</c:v>
                  </c:pt>
                </c:lvl>
              </c:multiLvlStrCache>
            </c:multiLvlStrRef>
          </c:cat>
          <c:val>
            <c:numRef>
              <c:f>Sheet1!$C$2:$C$5</c:f>
              <c:numCache>
                <c:formatCode>General</c:formatCode>
                <c:ptCount val="4"/>
                <c:pt idx="0">
                  <c:v>0.073</c:v>
                </c:pt>
                <c:pt idx="1">
                  <c:v>0.152</c:v>
                </c:pt>
                <c:pt idx="2">
                  <c:v>0.048</c:v>
                </c:pt>
                <c:pt idx="3">
                  <c:v>0.559</c:v>
                </c:pt>
              </c:numCache>
            </c:numRef>
          </c:val>
        </c:ser>
        <c:ser>
          <c:idx val="2"/>
          <c:order val="2"/>
          <c:tx>
            <c:strRef>
              <c:f>Sheet1!$D$1</c:f>
              <c:strCache>
                <c:ptCount val="1"/>
                <c:pt idx="0">
                  <c:v>60 min</c:v>
                </c:pt>
              </c:strCache>
            </c:strRef>
          </c:tx>
          <c:spPr>
            <a:solidFill>
              <a:srgbClr val="FF5A4E"/>
            </a:solidFill>
            <a:effectLst/>
          </c:spPr>
          <c:invertIfNegative val="0"/>
          <c:dLbls>
            <c:numFmt formatCode="0.0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cat>
            <c:multiLvlStrRef>
              <c:f>Sheet1!$A$2:$A$5</c:f>
              <c:multiLvlStrCache>
                <c:ptCount val="4"/>
                <c:lvl>
                  <c:pt idx="0">
                    <c:v>All</c:v>
                  </c:pt>
                  <c:pt idx="1">
                    <c:v>Peak</c:v>
                  </c:pt>
                  <c:pt idx="2">
                    <c:v>Off-peak</c:v>
                  </c:pt>
                  <c:pt idx="3">
                    <c:v>Congested</c:v>
                  </c:pt>
                </c:lvl>
              </c:multiLvlStrCache>
            </c:multiLvlStrRef>
          </c:cat>
          <c:val>
            <c:numRef>
              <c:f>Sheet1!$D$2:$D$5</c:f>
              <c:numCache>
                <c:formatCode>General</c:formatCode>
                <c:ptCount val="4"/>
                <c:pt idx="0">
                  <c:v>0.051</c:v>
                </c:pt>
                <c:pt idx="1">
                  <c:v>0.112</c:v>
                </c:pt>
                <c:pt idx="2">
                  <c:v>0.032</c:v>
                </c:pt>
                <c:pt idx="3">
                  <c:v>0.458</c:v>
                </c:pt>
              </c:numCache>
            </c:numRef>
          </c:val>
        </c:ser>
        <c:dLbls>
          <c:numFmt formatCode="0.0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AEB8D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26304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AEB8D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AEB8D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image: long-exposure traffic at night. Every streak is a car; every car is a data point. Our question is simple: when congestion starts somewhere on a freeway, can a model that looks at neighbouring sensors see it coming before a model that only looks at one road segment?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stakes. Congestion is the minority case overall but dominates errors: at weekday peaks more than a quarter of readings are below 40 mph. A forecaster is only useful if it handles the jam.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physical intuition. Traffic moves forward, but the jam's tail moves backwards. If D and E slow down now, C will slow down soon. A model that sees D and E can warn C; a model that only sees C has to guess. Everything that follows tests whether that intuition survives contact with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one: what we actually have, and the traps hidden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to remember. 207 sensors, 34 thousand five-minute steps, 8.1 percent missing, 1,515 directed road links. The data is speed only, which matters later for the control experiment. The single most important rule: a zero is an outage, not a traffic jam.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heatmap shows outages are clustered: whole-network blackouts on 61 days. The test period is noticeably noisier than training. Our rule: fill inputs with past-only information and flag them; never invent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rush hours on weekdays, almost none at weekends. Across the week, time-slot averages range from about 42 to 66 mph. This is why every model gets time-of-day and day-of-week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Distances become edge weights with a Gaussian kernel, exactly as in DCRNN, and our rebuild matches the published matrix to seven decimal places. On the right: sensor pairs one hop apart correlate much more strongly than distant ones. That is the case for a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checked the hypothesis before building anything. For every adjacent pair we found the time lag of strongest correlation. At peak hours half the pairs show the upstream sensor reacting later, as the shockwave story predicts, but 38% show the opposite. Real, but modest. That sets expectations for everything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two is about trust. Most impressive traffic results die here, through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split is purely chronological. A random split would put near-identical windows in train and test and make every model look great. Everything learned from data — even the scaling constants — comes from training time only. A built-in alarm fires if any model gets below 3.0 mph MAE at 60 minutes, because that would almost certainly mean leakage. It never fired.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statistical tools keep us honest. Diebold–Mariano tells us whether one model really beats another, with a variance that respects autocorrelation. The day-block bootstrap gives confidence intervals. On the right are the baselines. Persistence — just repeat the last speed — is surprisingly strong at 15 minutes. Our historical average lands within 0.03 of the published number, a nice sanity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three: the strong classical baseline. If deep learning can't beat this, it hasn't earned its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tree models. Per-segment XGBoost trains 621 small models, one per sensor and horizon. The pooled model learns across all sensors. The forest predicts all horizons at once. XGB-spatial adds hand-made neighbour features — our bridge between classical ML and graphs. XGB-spatial is best at 15 and 30 minutes (2.820, 3.258); per-segment wins at 60 minutes (3.684). One caveat: every pooled model hit our 400-tree cap, so these numbers are conservative.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learned model beats persistence. XGBoost with neighbour features is best at 15 and 30 minutes (2.820, 3.258); per-segment XGBoost wins at 60 minutes (3.684). The Random Forest is the weakest tree model, and at an hour ahead it loses even to the historical average. No model gets near the 3.0 mph leakage alarm.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experiment. Adding neighbour features to the same XGBoost improves accuracy almost everywhere, and the improvement is concentrated where we expected: peaks and congestion. But the hypothesis also said the gain should grow with horizon — it doesn't, it peaks at 30 minutes. Half a win, reported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shows how the trees think. Short horizon: what is happening right now. Long horizon: which sensor this is and what time it is — essentially a learned timetable. Neighbour information is used, but as a supporting feature. And a 'same time yesterday' feature added nothing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takeaways from Phase 1. Trust first. Trees are a strong baseline. Neighbours help in jams. At long horizons the trees mostly use identity and time. And the evidence that a learned graph will help is real but modest, which is exactly what Phase 2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about limits: most are compute budget, not method. Then hand over to Phase 2: replace hand-made neighbour features with learned attention, test it against a no-graph twin, and combine it with the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Phase 1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NTENT-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914400"/>
            <a:ext cx="10698480" cy="137160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
        <p:nvSpPr>
          <p:cNvPr id="3" name="Text 0"/>
          <p:cNvSpPr/>
          <p:nvPr>
            <p:ph idx="101" type="body" hasCustomPrompt="1"/>
          </p:nvPr>
        </p:nvSpPr>
        <p:spPr>
          <a:xfrm>
            <a:off x="731520" y="2377440"/>
            <a:ext cx="9601200" cy="822960"/>
          </a:xfrm>
          <a:prstGeom prst="rect">
            <a:avLst/>
          </a:prstGeom>
          <a:noFill/>
          <a:ln/>
        </p:spPr>
        <p:txBody>
          <a:bodyPr wrap="square" rtlCol="0"/>
          <a:lstStyle>
            <a:lvl1pPr algn="l" indent="0" marL="0">
              <a:buNone/>
              <a:defRPr lang="en-US" sz="2600" dirty="0">
                <a:solidFill>
                  <a:schemeClr val="bg2"/>
                </a:solidFill>
              </a:defRPr>
            </a:lvl1pPr>
          </a:lstStyle>
          <a:p>
            <a:pPr algn="l"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7315200" cy="457200"/>
          </a:xfrm>
          <a:prstGeom prst="rect">
            <a:avLst/>
          </a:prstGeom>
          <a:noFill/>
          <a:ln/>
        </p:spPr>
        <p:txBody>
          <a:bodyPr wrap="square" rtlCol="0"/>
          <a:lstStyle>
            <a:lvl1pPr algn="l" indent="0" marL="0">
              <a:buNone/>
              <a:defRPr lang="en-US" sz="1600" b="1" spc="400" kern="0" dirty="0">
                <a:solidFill>
                  <a:schemeClr val="accent2"/>
                </a:solidFill>
              </a:defRPr>
            </a:lvl1pPr>
          </a:lstStyle>
          <a:p>
            <a:pPr algn="l" indent="0" marL="0">
              <a:buNone/>
            </a:pPr>
            <a:endParaRPr lang="en-US" sz="1600" dirty="0"/>
          </a:p>
        </p:txBody>
      </p:sp>
      <p:sp>
        <p:nvSpPr>
          <p:cNvPr id="3" name="Text 0"/>
          <p:cNvSpPr/>
          <p:nvPr>
            <p:ph idx="101" type="title" hasCustomPrompt="1"/>
          </p:nvPr>
        </p:nvSpPr>
        <p:spPr>
          <a:xfrm>
            <a:off x="731520" y="2194560"/>
            <a:ext cx="10698480" cy="128016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
        <p:nvSpPr>
          <p:cNvPr id="4" name="Text 0"/>
          <p:cNvSpPr/>
          <p:nvPr>
            <p:ph idx="102" type="body" hasCustomPrompt="1"/>
          </p:nvPr>
        </p:nvSpPr>
        <p:spPr>
          <a:xfrm>
            <a:off x="731520" y="3520440"/>
            <a:ext cx="9601200" cy="109728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spc="300" kern="0" dirty="0">
                <a:solidFill>
                  <a:schemeClr val="accent5"/>
                </a:solidFill>
              </a:rPr>
              <a:t>TRAFFIC ORACLE  ·  TEAM T042</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914400"/>
            <a:ext cx="10698480" cy="1371600"/>
          </a:xfrm>
          <a:prstGeom prst="rect">
            <a:avLst/>
          </a:prstGeom>
          <a:noFill/>
          <a:ln/>
        </p:spPr>
        <p:txBody>
          <a:bodyPr wrap="square" lIns="0" tIns="0" rIns="0" bIns="0" rtlCol="0" anchor="b"/>
          <a:lstStyle/>
          <a:p>
            <a:pPr algn="l" indent="0" marL="0">
              <a:buNone/>
            </a:pPr>
            <a:r>
              <a:rPr lang="en-US" sz="6600" b="1" dirty="0">
                <a:solidFill>
                  <a:schemeClr val="bg1"/>
                </a:solidFill>
              </a:rPr>
              <a:t>Traffic Oracle</a:t>
            </a:r>
            <a:endParaRPr lang="en-US" sz="6600" dirty="0"/>
          </a:p>
        </p:txBody>
      </p:sp>
      <p:sp>
        <p:nvSpPr>
          <p:cNvPr id="3" name="Text 0"/>
          <p:cNvSpPr/>
          <p:nvPr>
            <p:ph idx="101" type="body" hasCustomPrompt="1"/>
          </p:nvPr>
        </p:nvSpPr>
        <p:spPr>
          <a:xfrm>
            <a:off x="731520" y="2377440"/>
            <a:ext cx="9601200" cy="822960"/>
          </a:xfrm>
          <a:prstGeom prst="rect">
            <a:avLst/>
          </a:prstGeom>
          <a:noFill/>
          <a:ln/>
        </p:spPr>
        <p:txBody>
          <a:bodyPr wrap="square" lIns="0" tIns="0" rIns="0" bIns="0" rtlCol="0" anchor="t"/>
          <a:lstStyle/>
          <a:p>
            <a:pPr algn="l" indent="0" marL="0">
              <a:buNone/>
            </a:pPr>
            <a:r>
              <a:rPr lang="en-US" sz="2600" dirty="0">
                <a:solidFill>
                  <a:schemeClr val="bg2"/>
                </a:solidFill>
              </a:rPr>
              <a:t>Phase 1: how far can per-segment machine learning go?</a:t>
            </a:r>
            <a:endParaRPr lang="en-US" sz="2600" dirty="0"/>
          </a:p>
        </p:txBody>
      </p:sp>
      <p:sp>
        <p:nvSpPr>
          <p:cNvPr id="4" name="Text 2"/>
          <p:cNvSpPr txBox="1"/>
          <p:nvPr/>
        </p:nvSpPr>
        <p:spPr>
          <a:xfrm>
            <a:off x="731520" y="3246120"/>
            <a:ext cx="10058400" cy="822960"/>
          </a:xfrm>
          <a:prstGeom prst="rect">
            <a:avLst/>
          </a:prstGeom>
          <a:noFill/>
          <a:ln/>
        </p:spPr>
        <p:txBody>
          <a:bodyPr wrap="square" lIns="0" tIns="0" rIns="0" bIns="0" rtlCol="0" anchor="t"/>
          <a:lstStyle/>
          <a:p>
            <a:pPr indent="0" marL="0">
              <a:buNone/>
            </a:pPr>
            <a:r>
              <a:rPr lang="en-US" sz="1800" dirty="0">
                <a:solidFill>
                  <a:schemeClr val="bg2"/>
                </a:solidFill>
              </a:rPr>
              <a:t>Baselines, tuned trees and hand-made neighbour features on the METR-LA freeway network</a:t>
            </a:r>
            <a:endParaRPr lang="en-US" sz="1800" dirty="0"/>
          </a:p>
          <a:p>
            <a:pPr indent="0" marL="0">
              <a:buNone/>
            </a:pPr>
            <a:r>
              <a:rPr lang="en-US" sz="1400" b="1" spc="200" kern="0" dirty="0">
                <a:solidFill>
                  <a:schemeClr val="accent2"/>
                </a:solidFill>
              </a:rPr>
              <a:t>TEAM T042  ·  Pranav Singh · Kunal · Himanshu · Kanchan · Vaibhav</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7315200" cy="457200"/>
          </a:xfrm>
          <a:prstGeom prst="rect">
            <a:avLst/>
          </a:prstGeom>
          <a:noFill/>
          <a:ln/>
        </p:spPr>
        <p:txBody>
          <a:bodyPr wrap="square" lIns="0" tIns="0" rIns="0" bIns="0" rtlCol="0"/>
          <a:lstStyle/>
          <a:p>
            <a:pPr algn="l" indent="0" marL="0">
              <a:buNone/>
            </a:pPr>
            <a:r>
              <a:rPr lang="en-US" sz="1600" b="1" spc="400" kern="0" dirty="0">
                <a:solidFill>
                  <a:schemeClr val="accent2"/>
                </a:solidFill>
              </a:rPr>
              <a:t>LOS ANGELES · WEEKDAY, 8:00 AM</a:t>
            </a:r>
            <a:endParaRPr lang="en-US" sz="1600" dirty="0"/>
          </a:p>
        </p:txBody>
      </p:sp>
      <p:sp>
        <p:nvSpPr>
          <p:cNvPr id="3" name="Text 0"/>
          <p:cNvSpPr/>
          <p:nvPr>
            <p:ph idx="101" type="title" hasCustomPrompt="1"/>
          </p:nvPr>
        </p:nvSpPr>
        <p:spPr>
          <a:xfrm>
            <a:off x="731520" y="2194560"/>
            <a:ext cx="10698480" cy="1280160"/>
          </a:xfrm>
          <a:prstGeom prst="rect">
            <a:avLst/>
          </a:prstGeom>
          <a:noFill/>
          <a:ln/>
        </p:spPr>
        <p:txBody>
          <a:bodyPr wrap="square" lIns="0" tIns="0" rIns="0" bIns="0" rtlCol="0" anchor="t"/>
          <a:lstStyle/>
          <a:p>
            <a:pPr algn="l" indent="0" marL="0">
              <a:buNone/>
            </a:pPr>
            <a:r>
              <a:rPr lang="en-US" sz="5000" b="1" dirty="0">
                <a:solidFill>
                  <a:schemeClr val="bg1"/>
                </a:solidFill>
              </a:rPr>
              <a:t>207 sensors are listening</a:t>
            </a:r>
            <a:endParaRPr lang="en-US" sz="5000" dirty="0"/>
          </a:p>
        </p:txBody>
      </p:sp>
      <p:sp>
        <p:nvSpPr>
          <p:cNvPr id="4" name="Text 0"/>
          <p:cNvSpPr/>
          <p:nvPr>
            <p:ph idx="102" type="body" hasCustomPrompt="1"/>
          </p:nvPr>
        </p:nvSpPr>
        <p:spPr>
          <a:xfrm>
            <a:off x="731520" y="3520440"/>
            <a:ext cx="9601200" cy="1097280"/>
          </a:xfrm>
          <a:prstGeom prst="rect">
            <a:avLst/>
          </a:prstGeom>
          <a:noFill/>
          <a:ln/>
        </p:spPr>
        <p:txBody>
          <a:bodyPr wrap="square" lIns="0" tIns="0" rIns="0" bIns="0" rtlCol="0" anchor="t"/>
          <a:lstStyle/>
          <a:p>
            <a:pPr algn="l" indent="0" marL="0">
              <a:buNone/>
            </a:pPr>
            <a:r>
              <a:rPr lang="en-US" sz="2200" dirty="0">
                <a:solidFill>
                  <a:schemeClr val="bg2"/>
                </a:solidFill>
              </a:rPr>
              <a:t>At rush hour, 26.9% of readings fall below 40 mph — off-peak it is only 5.8%. Forecasting is easy when traffic flows; the hard part is the jam.</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The question behind every slide</a:t>
            </a:r>
            <a:endParaRPr lang="en-US" sz="3600" dirty="0"/>
          </a:p>
        </p:txBody>
      </p:sp>
      <p:sp>
        <p:nvSpPr>
          <p:cNvPr id="3" name="card"/>
          <p:cNvSpPr/>
          <p:nvPr/>
        </p:nvSpPr>
        <p:spPr>
          <a:xfrm>
            <a:off x="548640" y="1417320"/>
            <a:ext cx="5120640" cy="4754880"/>
          </a:xfrm>
          <a:prstGeom prst="roundRect">
            <a:avLst>
              <a:gd name="adj" fmla="val 2308"/>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4" name="Text 2"/>
          <p:cNvSpPr txBox="1"/>
          <p:nvPr/>
        </p:nvSpPr>
        <p:spPr>
          <a:xfrm>
            <a:off x="868680" y="1691640"/>
            <a:ext cx="4572000" cy="320040"/>
          </a:xfrm>
          <a:prstGeom prst="rect">
            <a:avLst/>
          </a:prstGeom>
          <a:noFill/>
          <a:ln/>
        </p:spPr>
        <p:txBody>
          <a:bodyPr wrap="square" lIns="0" tIns="0" rIns="0" bIns="0" rtlCol="0" anchor="t"/>
          <a:lstStyle/>
          <a:p>
            <a:pPr indent="0" marL="0">
              <a:buNone/>
            </a:pPr>
            <a:r>
              <a:rPr lang="en-US" sz="1400" b="1" spc="300" kern="0" dirty="0">
                <a:solidFill>
                  <a:schemeClr val="accent2"/>
                </a:solidFill>
              </a:rPr>
              <a:t>HYPOTHESIS</a:t>
            </a:r>
            <a:endParaRPr lang="en-US" sz="1400" dirty="0"/>
          </a:p>
        </p:txBody>
      </p:sp>
      <p:sp>
        <p:nvSpPr>
          <p:cNvPr id="5" name="Text 3"/>
          <p:cNvSpPr txBox="1"/>
          <p:nvPr/>
        </p:nvSpPr>
        <p:spPr>
          <a:xfrm>
            <a:off x="868680" y="2103120"/>
            <a:ext cx="4572000" cy="1463040"/>
          </a:xfrm>
          <a:prstGeom prst="rect">
            <a:avLst/>
          </a:prstGeom>
          <a:noFill/>
          <a:ln/>
        </p:spPr>
        <p:txBody>
          <a:bodyPr wrap="square" lIns="0" tIns="0" rIns="0" bIns="0" rtlCol="0" anchor="t"/>
          <a:lstStyle/>
          <a:p>
            <a:pPr indent="0" marL="0">
              <a:buNone/>
            </a:pPr>
            <a:r>
              <a:rPr lang="en-US" sz="1800" dirty="0">
                <a:solidFill>
                  <a:schemeClr val="bg1"/>
                </a:solidFill>
              </a:rPr>
              <a:t>Congestion travels. A jam starts at a bottleneck and its tail moves upstream, so downstream sensors know an upstream sensor's future.</a:t>
            </a:r>
            <a:endParaRPr lang="en-US" sz="1800" dirty="0"/>
          </a:p>
        </p:txBody>
      </p:sp>
      <p:sp>
        <p:nvSpPr>
          <p:cNvPr id="6" name="Text 4"/>
          <p:cNvSpPr txBox="1"/>
          <p:nvPr/>
        </p:nvSpPr>
        <p:spPr>
          <a:xfrm>
            <a:off x="868680" y="3794760"/>
            <a:ext cx="4572000" cy="20116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bg2"/>
                </a:solidFill>
              </a:rPr>
              <a:t>A per-segment model sees only its own history</a:t>
            </a:r>
            <a:endParaRPr lang="en-US" sz="1600" dirty="0"/>
          </a:p>
          <a:p>
            <a:pPr marL="228600" indent="-228600">
              <a:spcAft>
                <a:spcPts val="800"/>
              </a:spcAft>
              <a:buSzPct val="100000"/>
              <a:buChar char="•"/>
            </a:pPr>
            <a:r>
              <a:rPr lang="en-US" sz="1600" dirty="0">
                <a:solidFill>
                  <a:schemeClr val="bg2"/>
                </a:solidFill>
              </a:rPr>
              <a:t>A model with neighbour features can read the roads around it</a:t>
            </a:r>
            <a:endParaRPr lang="en-US" sz="1600" dirty="0"/>
          </a:p>
          <a:p>
            <a:pPr marL="228600" indent="-228600">
              <a:spcAft>
                <a:spcPts val="800"/>
              </a:spcAft>
              <a:buSzPct val="100000"/>
              <a:buChar char="•"/>
            </a:pPr>
            <a:r>
              <a:rPr lang="en-US" sz="1600" dirty="0">
                <a:solidFill>
                  <a:schemeClr val="bg2"/>
                </a:solidFill>
              </a:rPr>
              <a:t>Phase 1 tests how far hand-made neighbour features get us</a:t>
            </a:r>
            <a:endParaRPr lang="en-US" sz="1600" dirty="0"/>
          </a:p>
        </p:txBody>
      </p:sp>
      <p:sp>
        <p:nvSpPr>
          <p:cNvPr id="7" name="Shape 5"/>
          <p:cNvSpPr/>
          <p:nvPr/>
        </p:nvSpPr>
        <p:spPr>
          <a:xfrm>
            <a:off x="6217920" y="3657600"/>
            <a:ext cx="5394960" cy="146304"/>
          </a:xfrm>
          <a:prstGeom prst="roundRect">
            <a:avLst>
              <a:gd name="adj" fmla="val 50000"/>
            </a:avLst>
          </a:prstGeom>
          <a:solidFill>
            <a:schemeClr val="accent5"/>
          </a:solidFill>
          <a:ln w="12700">
            <a:solidFill>
              <a:schemeClr val="accent5">
                <a:alpha val="0"/>
              </a:schemeClr>
            </a:solidFill>
            <a:prstDash val="solid"/>
          </a:ln>
        </p:spPr>
      </p:sp>
      <p:sp>
        <p:nvSpPr>
          <p:cNvPr id="8" name="Shape 6"/>
          <p:cNvSpPr/>
          <p:nvPr/>
        </p:nvSpPr>
        <p:spPr>
          <a:xfrm>
            <a:off x="6446520" y="3456432"/>
            <a:ext cx="548640" cy="548640"/>
          </a:xfrm>
          <a:prstGeom prst="ellipse">
            <a:avLst/>
          </a:prstGeom>
          <a:solidFill>
            <a:schemeClr val="accent6"/>
          </a:solidFill>
          <a:ln w="19050">
            <a:solidFill>
              <a:schemeClr val="bg1"/>
            </a:solidFill>
            <a:prstDash val="solid"/>
          </a:ln>
        </p:spPr>
      </p:sp>
      <p:sp>
        <p:nvSpPr>
          <p:cNvPr id="9" name="Text 7"/>
          <p:cNvSpPr txBox="1"/>
          <p:nvPr/>
        </p:nvSpPr>
        <p:spPr>
          <a:xfrm>
            <a:off x="6446520" y="3456432"/>
            <a:ext cx="548640" cy="548640"/>
          </a:xfrm>
          <a:prstGeom prst="rect">
            <a:avLst/>
          </a:prstGeom>
          <a:noFill/>
          <a:ln/>
        </p:spPr>
        <p:txBody>
          <a:bodyPr wrap="square" lIns="0" tIns="0" rIns="0" bIns="0" rtlCol="0" anchor="ctr"/>
          <a:lstStyle/>
          <a:p>
            <a:pPr algn="ctr" indent="0" marL="0">
              <a:buNone/>
            </a:pPr>
            <a:r>
              <a:rPr lang="en-US" sz="1600" b="1" dirty="0">
                <a:solidFill>
                  <a:srgbClr val="0A0F1E"/>
                </a:solidFill>
              </a:rPr>
              <a:t>A</a:t>
            </a:r>
            <a:endParaRPr lang="en-US" sz="1600" dirty="0"/>
          </a:p>
        </p:txBody>
      </p:sp>
      <p:sp>
        <p:nvSpPr>
          <p:cNvPr id="10" name="Shape 8"/>
          <p:cNvSpPr/>
          <p:nvPr/>
        </p:nvSpPr>
        <p:spPr>
          <a:xfrm>
            <a:off x="7635240" y="3456432"/>
            <a:ext cx="548640" cy="548640"/>
          </a:xfrm>
          <a:prstGeom prst="ellipse">
            <a:avLst/>
          </a:prstGeom>
          <a:solidFill>
            <a:schemeClr val="accent6"/>
          </a:solidFill>
          <a:ln w="19050">
            <a:solidFill>
              <a:schemeClr val="bg1"/>
            </a:solidFill>
            <a:prstDash val="solid"/>
          </a:ln>
        </p:spPr>
      </p:sp>
      <p:sp>
        <p:nvSpPr>
          <p:cNvPr id="11" name="Text 9"/>
          <p:cNvSpPr txBox="1"/>
          <p:nvPr/>
        </p:nvSpPr>
        <p:spPr>
          <a:xfrm>
            <a:off x="7635240" y="3456432"/>
            <a:ext cx="548640" cy="548640"/>
          </a:xfrm>
          <a:prstGeom prst="rect">
            <a:avLst/>
          </a:prstGeom>
          <a:noFill/>
          <a:ln/>
        </p:spPr>
        <p:txBody>
          <a:bodyPr wrap="square" lIns="0" tIns="0" rIns="0" bIns="0" rtlCol="0" anchor="ctr"/>
          <a:lstStyle/>
          <a:p>
            <a:pPr algn="ctr" indent="0" marL="0">
              <a:buNone/>
            </a:pPr>
            <a:r>
              <a:rPr lang="en-US" sz="1600" b="1" dirty="0">
                <a:solidFill>
                  <a:srgbClr val="0A0F1E"/>
                </a:solidFill>
              </a:rPr>
              <a:t>B</a:t>
            </a:r>
            <a:endParaRPr lang="en-US" sz="1600" dirty="0"/>
          </a:p>
        </p:txBody>
      </p:sp>
      <p:sp>
        <p:nvSpPr>
          <p:cNvPr id="12" name="Shape 10"/>
          <p:cNvSpPr/>
          <p:nvPr/>
        </p:nvSpPr>
        <p:spPr>
          <a:xfrm>
            <a:off x="8823960" y="3456432"/>
            <a:ext cx="548640" cy="548640"/>
          </a:xfrm>
          <a:prstGeom prst="ellipse">
            <a:avLst/>
          </a:prstGeom>
          <a:solidFill>
            <a:schemeClr val="accent2"/>
          </a:solidFill>
          <a:ln w="19050">
            <a:solidFill>
              <a:schemeClr val="bg1"/>
            </a:solidFill>
            <a:prstDash val="solid"/>
          </a:ln>
        </p:spPr>
      </p:sp>
      <p:sp>
        <p:nvSpPr>
          <p:cNvPr id="13" name="Text 11"/>
          <p:cNvSpPr txBox="1"/>
          <p:nvPr/>
        </p:nvSpPr>
        <p:spPr>
          <a:xfrm>
            <a:off x="8823960" y="3456432"/>
            <a:ext cx="548640" cy="548640"/>
          </a:xfrm>
          <a:prstGeom prst="rect">
            <a:avLst/>
          </a:prstGeom>
          <a:noFill/>
          <a:ln/>
        </p:spPr>
        <p:txBody>
          <a:bodyPr wrap="square" lIns="0" tIns="0" rIns="0" bIns="0" rtlCol="0" anchor="ctr"/>
          <a:lstStyle/>
          <a:p>
            <a:pPr algn="ctr" indent="0" marL="0">
              <a:buNone/>
            </a:pPr>
            <a:r>
              <a:rPr lang="en-US" sz="1600" b="1" dirty="0">
                <a:solidFill>
                  <a:srgbClr val="0A0F1E"/>
                </a:solidFill>
              </a:rPr>
              <a:t>C</a:t>
            </a:r>
            <a:endParaRPr lang="en-US" sz="1600" dirty="0"/>
          </a:p>
        </p:txBody>
      </p:sp>
      <p:sp>
        <p:nvSpPr>
          <p:cNvPr id="14" name="Shape 12"/>
          <p:cNvSpPr/>
          <p:nvPr/>
        </p:nvSpPr>
        <p:spPr>
          <a:xfrm>
            <a:off x="10012680" y="3456432"/>
            <a:ext cx="548640" cy="548640"/>
          </a:xfrm>
          <a:prstGeom prst="ellipse">
            <a:avLst/>
          </a:prstGeom>
          <a:solidFill>
            <a:schemeClr val="accent1"/>
          </a:solidFill>
          <a:ln w="19050">
            <a:solidFill>
              <a:schemeClr val="bg1"/>
            </a:solidFill>
            <a:prstDash val="solid"/>
          </a:ln>
        </p:spPr>
      </p:sp>
      <p:sp>
        <p:nvSpPr>
          <p:cNvPr id="15" name="Text 13"/>
          <p:cNvSpPr txBox="1"/>
          <p:nvPr/>
        </p:nvSpPr>
        <p:spPr>
          <a:xfrm>
            <a:off x="10012680" y="3456432"/>
            <a:ext cx="548640" cy="548640"/>
          </a:xfrm>
          <a:prstGeom prst="rect">
            <a:avLst/>
          </a:prstGeom>
          <a:noFill/>
          <a:ln/>
        </p:spPr>
        <p:txBody>
          <a:bodyPr wrap="square" lIns="0" tIns="0" rIns="0" bIns="0" rtlCol="0" anchor="ctr"/>
          <a:lstStyle/>
          <a:p>
            <a:pPr algn="ctr" indent="0" marL="0">
              <a:buNone/>
            </a:pPr>
            <a:r>
              <a:rPr lang="en-US" sz="1600" b="1" dirty="0">
                <a:solidFill>
                  <a:srgbClr val="0A0F1E"/>
                </a:solidFill>
              </a:rPr>
              <a:t>D</a:t>
            </a:r>
            <a:endParaRPr lang="en-US" sz="1600" dirty="0"/>
          </a:p>
        </p:txBody>
      </p:sp>
      <p:sp>
        <p:nvSpPr>
          <p:cNvPr id="16" name="Shape 14"/>
          <p:cNvSpPr/>
          <p:nvPr/>
        </p:nvSpPr>
        <p:spPr>
          <a:xfrm>
            <a:off x="11201400" y="3456432"/>
            <a:ext cx="548640" cy="548640"/>
          </a:xfrm>
          <a:prstGeom prst="ellipse">
            <a:avLst/>
          </a:prstGeom>
          <a:solidFill>
            <a:schemeClr val="accent1"/>
          </a:solidFill>
          <a:ln w="19050">
            <a:solidFill>
              <a:schemeClr val="bg1"/>
            </a:solidFill>
            <a:prstDash val="solid"/>
          </a:ln>
        </p:spPr>
      </p:sp>
      <p:sp>
        <p:nvSpPr>
          <p:cNvPr id="17" name="Text 15"/>
          <p:cNvSpPr txBox="1"/>
          <p:nvPr/>
        </p:nvSpPr>
        <p:spPr>
          <a:xfrm>
            <a:off x="11201400" y="3456432"/>
            <a:ext cx="548640" cy="548640"/>
          </a:xfrm>
          <a:prstGeom prst="rect">
            <a:avLst/>
          </a:prstGeom>
          <a:noFill/>
          <a:ln/>
        </p:spPr>
        <p:txBody>
          <a:bodyPr wrap="square" lIns="0" tIns="0" rIns="0" bIns="0" rtlCol="0" anchor="ctr"/>
          <a:lstStyle/>
          <a:p>
            <a:pPr algn="ctr" indent="0" marL="0">
              <a:buNone/>
            </a:pPr>
            <a:r>
              <a:rPr lang="en-US" sz="1600" b="1" dirty="0">
                <a:solidFill>
                  <a:srgbClr val="0A0F1E"/>
                </a:solidFill>
              </a:rPr>
              <a:t>E</a:t>
            </a:r>
            <a:endParaRPr lang="en-US" sz="1600" dirty="0"/>
          </a:p>
        </p:txBody>
      </p:sp>
      <p:sp>
        <p:nvSpPr>
          <p:cNvPr id="18" name="Shape 16"/>
          <p:cNvSpPr/>
          <p:nvPr/>
        </p:nvSpPr>
        <p:spPr>
          <a:xfrm>
            <a:off x="6400800" y="2606040"/>
            <a:ext cx="4937760" cy="914"/>
          </a:xfrm>
          <a:prstGeom prst="line">
            <a:avLst/>
          </a:prstGeom>
          <a:noFill/>
          <a:ln w="31750">
            <a:solidFill>
              <a:srgbClr val="FFB547"/>
            </a:solidFill>
            <a:prstDash val="solid"/>
            <a:tailEnd type="triangle"/>
          </a:ln>
        </p:spPr>
      </p:sp>
      <p:sp>
        <p:nvSpPr>
          <p:cNvPr id="19" name="Text 17"/>
          <p:cNvSpPr txBox="1"/>
          <p:nvPr/>
        </p:nvSpPr>
        <p:spPr>
          <a:xfrm>
            <a:off x="6400800" y="2057400"/>
            <a:ext cx="4937760" cy="411480"/>
          </a:xfrm>
          <a:prstGeom prst="rect">
            <a:avLst/>
          </a:prstGeom>
          <a:noFill/>
          <a:ln/>
        </p:spPr>
        <p:txBody>
          <a:bodyPr wrap="square" lIns="0" tIns="0" rIns="0" bIns="0" rtlCol="0" anchor="t"/>
          <a:lstStyle/>
          <a:p>
            <a:pPr indent="0" marL="0">
              <a:buNone/>
            </a:pPr>
            <a:r>
              <a:rPr lang="en-US" sz="1600" b="1" dirty="0">
                <a:solidFill>
                  <a:schemeClr val="accent2"/>
                </a:solidFill>
              </a:rPr>
              <a:t>Traffic flows downstream →</a:t>
            </a:r>
            <a:endParaRPr lang="en-US" sz="1600" dirty="0"/>
          </a:p>
        </p:txBody>
      </p:sp>
      <p:sp>
        <p:nvSpPr>
          <p:cNvPr id="20" name="Shape 18"/>
          <p:cNvSpPr/>
          <p:nvPr/>
        </p:nvSpPr>
        <p:spPr>
          <a:xfrm flipH="1">
            <a:off x="6400800" y="4754880"/>
            <a:ext cx="4937760" cy="914"/>
          </a:xfrm>
          <a:prstGeom prst="line">
            <a:avLst/>
          </a:prstGeom>
          <a:noFill/>
          <a:ln w="31750">
            <a:solidFill>
              <a:srgbClr val="FF5A4E"/>
            </a:solidFill>
            <a:prstDash val="solid"/>
            <a:tailEnd type="triangle"/>
          </a:ln>
        </p:spPr>
      </p:sp>
      <p:sp>
        <p:nvSpPr>
          <p:cNvPr id="21" name="Text 19"/>
          <p:cNvSpPr txBox="1"/>
          <p:nvPr/>
        </p:nvSpPr>
        <p:spPr>
          <a:xfrm>
            <a:off x="6400800" y="4892040"/>
            <a:ext cx="5120640" cy="411480"/>
          </a:xfrm>
          <a:prstGeom prst="rect">
            <a:avLst/>
          </a:prstGeom>
          <a:noFill/>
          <a:ln/>
        </p:spPr>
        <p:txBody>
          <a:bodyPr wrap="square" lIns="0" tIns="0" rIns="0" bIns="0" rtlCol="0" anchor="t"/>
          <a:lstStyle/>
          <a:p>
            <a:pPr indent="0" marL="0">
              <a:buNone/>
            </a:pPr>
            <a:r>
              <a:rPr lang="en-US" sz="1600" b="1" dirty="0">
                <a:solidFill>
                  <a:schemeClr val="accent1"/>
                </a:solidFill>
              </a:rPr>
              <a:t>← The congestion wave moves upstream</a:t>
            </a:r>
            <a:endParaRPr lang="en-US" sz="1600" dirty="0"/>
          </a:p>
        </p:txBody>
      </p:sp>
      <p:sp>
        <p:nvSpPr>
          <p:cNvPr id="22" name="Text 20"/>
          <p:cNvSpPr txBox="1"/>
          <p:nvPr/>
        </p:nvSpPr>
        <p:spPr>
          <a:xfrm>
            <a:off x="6400800" y="5440680"/>
            <a:ext cx="5120640" cy="640080"/>
          </a:xfrm>
          <a:prstGeom prst="rect">
            <a:avLst/>
          </a:prstGeom>
          <a:noFill/>
          <a:ln/>
        </p:spPr>
        <p:txBody>
          <a:bodyPr wrap="square" lIns="0" tIns="0" rIns="0" bIns="0" rtlCol="0" anchor="t"/>
          <a:lstStyle/>
          <a:p>
            <a:pPr indent="0" marL="0">
              <a:buNone/>
            </a:pPr>
            <a:r>
              <a:rPr lang="en-US" sz="1400" dirty="0">
                <a:solidFill>
                  <a:schemeClr val="bg2"/>
                </a:solidFill>
              </a:rPr>
              <a:t>Sensors D and E slow down first; C, B and A follow minutes later.</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7315200" cy="457200"/>
          </a:xfrm>
          <a:prstGeom prst="rect">
            <a:avLst/>
          </a:prstGeom>
          <a:noFill/>
          <a:ln/>
        </p:spPr>
        <p:txBody>
          <a:bodyPr wrap="square" lIns="0" tIns="0" rIns="0" bIns="0" rtlCol="0"/>
          <a:lstStyle/>
          <a:p>
            <a:pPr algn="l" indent="0" marL="0">
              <a:buNone/>
            </a:pPr>
            <a:r>
              <a:rPr lang="en-US" sz="1600" b="1" spc="400" kern="0" dirty="0">
                <a:solidFill>
                  <a:schemeClr val="accent2"/>
                </a:solidFill>
              </a:rPr>
              <a:t>CHAPTER 01</a:t>
            </a:r>
            <a:endParaRPr lang="en-US" sz="1600" dirty="0"/>
          </a:p>
        </p:txBody>
      </p:sp>
      <p:sp>
        <p:nvSpPr>
          <p:cNvPr id="3" name="Text 0"/>
          <p:cNvSpPr/>
          <p:nvPr>
            <p:ph idx="101" type="title" hasCustomPrompt="1"/>
          </p:nvPr>
        </p:nvSpPr>
        <p:spPr>
          <a:xfrm>
            <a:off x="731520" y="2194560"/>
            <a:ext cx="10698480" cy="1280160"/>
          </a:xfrm>
          <a:prstGeom prst="rect">
            <a:avLst/>
          </a:prstGeom>
          <a:noFill/>
          <a:ln/>
        </p:spPr>
        <p:txBody>
          <a:bodyPr wrap="square" lIns="0" tIns="0" rIns="0" bIns="0" rtlCol="0" anchor="t"/>
          <a:lstStyle/>
          <a:p>
            <a:pPr algn="l" indent="0" marL="0">
              <a:buNone/>
            </a:pPr>
            <a:r>
              <a:rPr lang="en-US" sz="5000" b="1" dirty="0">
                <a:solidFill>
                  <a:schemeClr val="bg1"/>
                </a:solidFill>
              </a:rPr>
              <a:t>Listening to 207 sensors</a:t>
            </a:r>
            <a:endParaRPr lang="en-US" sz="5000" dirty="0"/>
          </a:p>
        </p:txBody>
      </p:sp>
      <p:sp>
        <p:nvSpPr>
          <p:cNvPr id="4" name="Text 0"/>
          <p:cNvSpPr/>
          <p:nvPr>
            <p:ph idx="102" type="body" hasCustomPrompt="1"/>
          </p:nvPr>
        </p:nvSpPr>
        <p:spPr>
          <a:xfrm>
            <a:off x="731520" y="3520440"/>
            <a:ext cx="9601200" cy="1097280"/>
          </a:xfrm>
          <a:prstGeom prst="rect">
            <a:avLst/>
          </a:prstGeom>
          <a:noFill/>
          <a:ln/>
        </p:spPr>
        <p:txBody>
          <a:bodyPr wrap="square" lIns="0" tIns="0" rIns="0" bIns="0" rtlCol="0" anchor="t"/>
          <a:lstStyle/>
          <a:p>
            <a:pPr algn="l" indent="0" marL="0">
              <a:buNone/>
            </a:pPr>
            <a:r>
              <a:rPr lang="en-US" sz="2200" dirty="0">
                <a:solidFill>
                  <a:schemeClr val="bg2"/>
                </a:solidFill>
              </a:rPr>
              <a:t>Four months of Los Angeles freeway speeds — and what the silence in the data means.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METR-LA in four numbers</a:t>
            </a:r>
            <a:endParaRPr lang="en-US" sz="3600" dirty="0"/>
          </a:p>
        </p:txBody>
      </p:sp>
      <p:sp>
        <p:nvSpPr>
          <p:cNvPr id="3" name="card"/>
          <p:cNvSpPr/>
          <p:nvPr/>
        </p:nvSpPr>
        <p:spPr>
          <a:xfrm>
            <a:off x="548640" y="1463040"/>
            <a:ext cx="2606040" cy="2194560"/>
          </a:xfrm>
          <a:prstGeom prst="roundRect">
            <a:avLst>
              <a:gd name="adj" fmla="val 50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4" name="Text 2"/>
          <p:cNvSpPr txBox="1"/>
          <p:nvPr/>
        </p:nvSpPr>
        <p:spPr>
          <a:xfrm>
            <a:off x="822960" y="1691640"/>
            <a:ext cx="2057400" cy="1097280"/>
          </a:xfrm>
          <a:prstGeom prst="rect">
            <a:avLst/>
          </a:prstGeom>
          <a:noFill/>
          <a:ln/>
        </p:spPr>
        <p:txBody>
          <a:bodyPr wrap="square" lIns="0" tIns="0" rIns="0" bIns="0" rtlCol="0" anchor="ctr"/>
          <a:lstStyle/>
          <a:p>
            <a:pPr indent="0" marL="0">
              <a:buNone/>
            </a:pPr>
            <a:r>
              <a:rPr lang="en-US" sz="4600" b="1" dirty="0">
                <a:solidFill>
                  <a:schemeClr val="accent2"/>
                </a:solidFill>
                <a:latin typeface="Arial" pitchFamily="34" charset="0"/>
                <a:ea typeface="Arial" pitchFamily="34" charset="-122"/>
                <a:cs typeface="Arial" pitchFamily="34" charset="-120"/>
              </a:rPr>
              <a:t>207</a:t>
            </a:r>
            <a:endParaRPr lang="en-US" sz="4600" dirty="0"/>
          </a:p>
        </p:txBody>
      </p:sp>
      <p:sp>
        <p:nvSpPr>
          <p:cNvPr id="5" name="Text 3"/>
          <p:cNvSpPr txBox="1"/>
          <p:nvPr/>
        </p:nvSpPr>
        <p:spPr>
          <a:xfrm>
            <a:off x="822960" y="2788920"/>
            <a:ext cx="2057400" cy="777240"/>
          </a:xfrm>
          <a:prstGeom prst="rect">
            <a:avLst/>
          </a:prstGeom>
          <a:noFill/>
          <a:ln/>
        </p:spPr>
        <p:txBody>
          <a:bodyPr wrap="square" lIns="0" tIns="0" rIns="0" bIns="0" rtlCol="0" anchor="t"/>
          <a:lstStyle/>
          <a:p>
            <a:pPr indent="0" marL="0">
              <a:buNone/>
            </a:pPr>
            <a:r>
              <a:rPr lang="en-US" sz="1400" dirty="0">
                <a:solidFill>
                  <a:schemeClr val="bg2"/>
                </a:solidFill>
              </a:rPr>
              <a:t>loop-detector sensors on LA County freeways</a:t>
            </a:r>
            <a:endParaRPr lang="en-US" sz="1400" dirty="0"/>
          </a:p>
        </p:txBody>
      </p:sp>
      <p:sp>
        <p:nvSpPr>
          <p:cNvPr id="6" name="card"/>
          <p:cNvSpPr/>
          <p:nvPr/>
        </p:nvSpPr>
        <p:spPr>
          <a:xfrm>
            <a:off x="3383280" y="1463040"/>
            <a:ext cx="2606040" cy="2194560"/>
          </a:xfrm>
          <a:prstGeom prst="roundRect">
            <a:avLst>
              <a:gd name="adj" fmla="val 50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7" name="Text 5"/>
          <p:cNvSpPr txBox="1"/>
          <p:nvPr/>
        </p:nvSpPr>
        <p:spPr>
          <a:xfrm>
            <a:off x="3657600" y="1691640"/>
            <a:ext cx="2057400" cy="1097280"/>
          </a:xfrm>
          <a:prstGeom prst="rect">
            <a:avLst/>
          </a:prstGeom>
          <a:noFill/>
          <a:ln/>
        </p:spPr>
        <p:txBody>
          <a:bodyPr wrap="square" lIns="0" tIns="0" rIns="0" bIns="0" rtlCol="0" anchor="ctr"/>
          <a:lstStyle/>
          <a:p>
            <a:pPr indent="0" marL="0">
              <a:buNone/>
            </a:pPr>
            <a:r>
              <a:rPr lang="en-US" sz="4600" b="1" dirty="0">
                <a:solidFill>
                  <a:schemeClr val="accent3"/>
                </a:solidFill>
                <a:latin typeface="Arial" pitchFamily="34" charset="0"/>
                <a:ea typeface="Arial" pitchFamily="34" charset="-122"/>
                <a:cs typeface="Arial" pitchFamily="34" charset="-120"/>
              </a:rPr>
              <a:t>34,272</a:t>
            </a:r>
            <a:endParaRPr lang="en-US" sz="4600" dirty="0"/>
          </a:p>
        </p:txBody>
      </p:sp>
      <p:sp>
        <p:nvSpPr>
          <p:cNvPr id="8" name="Text 6"/>
          <p:cNvSpPr txBox="1"/>
          <p:nvPr/>
        </p:nvSpPr>
        <p:spPr>
          <a:xfrm>
            <a:off x="3657600" y="2788920"/>
            <a:ext cx="2057400" cy="777240"/>
          </a:xfrm>
          <a:prstGeom prst="rect">
            <a:avLst/>
          </a:prstGeom>
          <a:noFill/>
          <a:ln/>
        </p:spPr>
        <p:txBody>
          <a:bodyPr wrap="square" lIns="0" tIns="0" rIns="0" bIns="0" rtlCol="0" anchor="t"/>
          <a:lstStyle/>
          <a:p>
            <a:pPr indent="0" marL="0">
              <a:buNone/>
            </a:pPr>
            <a:r>
              <a:rPr lang="en-US" sz="1400" dirty="0">
                <a:solidFill>
                  <a:schemeClr val="bg2"/>
                </a:solidFill>
              </a:rPr>
              <a:t>5-minute timestamps · Mar 1 – Jun 27, 2012 (119 days)</a:t>
            </a:r>
            <a:endParaRPr lang="en-US" sz="1400" dirty="0"/>
          </a:p>
        </p:txBody>
      </p:sp>
      <p:sp>
        <p:nvSpPr>
          <p:cNvPr id="9" name="card"/>
          <p:cNvSpPr/>
          <p:nvPr/>
        </p:nvSpPr>
        <p:spPr>
          <a:xfrm>
            <a:off x="6217920" y="1463040"/>
            <a:ext cx="2606040" cy="2194560"/>
          </a:xfrm>
          <a:prstGeom prst="roundRect">
            <a:avLst>
              <a:gd name="adj" fmla="val 50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0" name="Text 8"/>
          <p:cNvSpPr txBox="1"/>
          <p:nvPr/>
        </p:nvSpPr>
        <p:spPr>
          <a:xfrm>
            <a:off x="6492240" y="1691640"/>
            <a:ext cx="2057400" cy="1097280"/>
          </a:xfrm>
          <a:prstGeom prst="rect">
            <a:avLst/>
          </a:prstGeom>
          <a:noFill/>
          <a:ln/>
        </p:spPr>
        <p:txBody>
          <a:bodyPr wrap="square" lIns="0" tIns="0" rIns="0" bIns="0" rtlCol="0" anchor="ctr"/>
          <a:lstStyle/>
          <a:p>
            <a:pPr indent="0" marL="0">
              <a:buNone/>
            </a:pPr>
            <a:r>
              <a:rPr lang="en-US" sz="4600" b="1" dirty="0">
                <a:solidFill>
                  <a:schemeClr val="accent1"/>
                </a:solidFill>
                <a:latin typeface="Arial" pitchFamily="34" charset="0"/>
                <a:ea typeface="Arial" pitchFamily="34" charset="-122"/>
                <a:cs typeface="Arial" pitchFamily="34" charset="-120"/>
              </a:rPr>
              <a:t>8.1%</a:t>
            </a:r>
            <a:endParaRPr lang="en-US" sz="4600" dirty="0"/>
          </a:p>
        </p:txBody>
      </p:sp>
      <p:sp>
        <p:nvSpPr>
          <p:cNvPr id="11" name="Text 9"/>
          <p:cNvSpPr txBox="1"/>
          <p:nvPr/>
        </p:nvSpPr>
        <p:spPr>
          <a:xfrm>
            <a:off x="6492240" y="2788920"/>
            <a:ext cx="2057400" cy="777240"/>
          </a:xfrm>
          <a:prstGeom prst="rect">
            <a:avLst/>
          </a:prstGeom>
          <a:noFill/>
          <a:ln/>
        </p:spPr>
        <p:txBody>
          <a:bodyPr wrap="square" lIns="0" tIns="0" rIns="0" bIns="0" rtlCol="0" anchor="t"/>
          <a:lstStyle/>
          <a:p>
            <a:pPr indent="0" marL="0">
              <a:buNone/>
            </a:pPr>
            <a:r>
              <a:rPr lang="en-US" sz="1400" dirty="0">
                <a:solidFill>
                  <a:schemeClr val="bg2"/>
                </a:solidFill>
              </a:rPr>
              <a:t>of readings are 0 mph — sensor outages, not stopped cars</a:t>
            </a:r>
            <a:endParaRPr lang="en-US" sz="1400" dirty="0"/>
          </a:p>
        </p:txBody>
      </p:sp>
      <p:sp>
        <p:nvSpPr>
          <p:cNvPr id="12" name="card"/>
          <p:cNvSpPr/>
          <p:nvPr/>
        </p:nvSpPr>
        <p:spPr>
          <a:xfrm>
            <a:off x="9052560" y="1463040"/>
            <a:ext cx="2606040" cy="2194560"/>
          </a:xfrm>
          <a:prstGeom prst="roundRect">
            <a:avLst>
              <a:gd name="adj" fmla="val 50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3" name="Text 11"/>
          <p:cNvSpPr txBox="1"/>
          <p:nvPr/>
        </p:nvSpPr>
        <p:spPr>
          <a:xfrm>
            <a:off x="9326880" y="1691640"/>
            <a:ext cx="2057400" cy="1097280"/>
          </a:xfrm>
          <a:prstGeom prst="rect">
            <a:avLst/>
          </a:prstGeom>
          <a:noFill/>
          <a:ln/>
        </p:spPr>
        <p:txBody>
          <a:bodyPr wrap="square" lIns="0" tIns="0" rIns="0" bIns="0" rtlCol="0" anchor="ctr"/>
          <a:lstStyle/>
          <a:p>
            <a:pPr indent="0" marL="0">
              <a:buNone/>
            </a:pPr>
            <a:r>
              <a:rPr lang="en-US" sz="4600" b="1" dirty="0">
                <a:solidFill>
                  <a:schemeClr val="accent4"/>
                </a:solidFill>
                <a:latin typeface="Arial" pitchFamily="34" charset="0"/>
                <a:ea typeface="Arial" pitchFamily="34" charset="-122"/>
                <a:cs typeface="Arial" pitchFamily="34" charset="-120"/>
              </a:rPr>
              <a:t>1,515</a:t>
            </a:r>
            <a:endParaRPr lang="en-US" sz="4600" dirty="0"/>
          </a:p>
        </p:txBody>
      </p:sp>
      <p:sp>
        <p:nvSpPr>
          <p:cNvPr id="14" name="Text 12"/>
          <p:cNvSpPr txBox="1"/>
          <p:nvPr/>
        </p:nvSpPr>
        <p:spPr>
          <a:xfrm>
            <a:off x="9326880" y="2788920"/>
            <a:ext cx="2057400" cy="777240"/>
          </a:xfrm>
          <a:prstGeom prst="rect">
            <a:avLst/>
          </a:prstGeom>
          <a:noFill/>
          <a:ln/>
        </p:spPr>
        <p:txBody>
          <a:bodyPr wrap="square" lIns="0" tIns="0" rIns="0" bIns="0" rtlCol="0" anchor="t"/>
          <a:lstStyle/>
          <a:p>
            <a:pPr indent="0" marL="0">
              <a:buNone/>
            </a:pPr>
            <a:r>
              <a:rPr lang="en-US" sz="1400" dirty="0">
                <a:solidFill>
                  <a:schemeClr val="bg2"/>
                </a:solidFill>
              </a:rPr>
              <a:t>directed road links in the sensor graph</a:t>
            </a:r>
            <a:endParaRPr lang="en-US" sz="1400" dirty="0"/>
          </a:p>
        </p:txBody>
      </p:sp>
      <p:sp>
        <p:nvSpPr>
          <p:cNvPr id="15" name="card"/>
          <p:cNvSpPr/>
          <p:nvPr/>
        </p:nvSpPr>
        <p:spPr>
          <a:xfrm>
            <a:off x="548640" y="3931920"/>
            <a:ext cx="11064240" cy="2240280"/>
          </a:xfrm>
          <a:prstGeom prst="roundRect">
            <a:avLst>
              <a:gd name="adj" fmla="val 4898"/>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6" name="Text 14"/>
          <p:cNvSpPr txBox="1"/>
          <p:nvPr/>
        </p:nvSpPr>
        <p:spPr>
          <a:xfrm>
            <a:off x="868680" y="4160520"/>
            <a:ext cx="10058400" cy="320040"/>
          </a:xfrm>
          <a:prstGeom prst="rect">
            <a:avLst/>
          </a:prstGeom>
          <a:noFill/>
          <a:ln/>
        </p:spPr>
        <p:txBody>
          <a:bodyPr wrap="square" lIns="0" tIns="0" rIns="0" bIns="0" rtlCol="0" anchor="t"/>
          <a:lstStyle/>
          <a:p>
            <a:pPr indent="0" marL="0">
              <a:buNone/>
            </a:pPr>
            <a:r>
              <a:rPr lang="en-US" sz="1400" b="1" spc="300" kern="0" dirty="0">
                <a:solidFill>
                  <a:schemeClr val="accent2"/>
                </a:solidFill>
              </a:rPr>
              <a:t>WHAT THAT MEANS FOR MODELLING</a:t>
            </a:r>
            <a:endParaRPr lang="en-US" sz="1400" dirty="0"/>
          </a:p>
        </p:txBody>
      </p:sp>
      <p:sp>
        <p:nvSpPr>
          <p:cNvPr id="17" name="Text 15"/>
          <p:cNvSpPr txBox="1"/>
          <p:nvPr/>
        </p:nvSpPr>
        <p:spPr>
          <a:xfrm>
            <a:off x="868680" y="4572000"/>
            <a:ext cx="10424160" cy="15544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bg1"/>
                </a:solidFill>
              </a:rPr>
              <a:t>Speed only (mph) — no flow, no occupancy; maximum observed speed 70 mph</a:t>
            </a:r>
            <a:endParaRPr lang="en-US" sz="1600" dirty="0"/>
          </a:p>
          <a:p>
            <a:pPr marL="228600" indent="-228600">
              <a:spcAft>
                <a:spcPts val="800"/>
              </a:spcAft>
              <a:buSzPct val="100000"/>
              <a:buChar char="•"/>
            </a:pPr>
            <a:r>
              <a:rPr lang="en-US" sz="1600" dirty="0">
                <a:solidFill>
                  <a:schemeClr val="bg1"/>
                </a:solidFill>
              </a:rPr>
              <a:t>Zeros are masked in every loss and metric and never used as targets</a:t>
            </a:r>
            <a:endParaRPr lang="en-US" sz="1600" dirty="0"/>
          </a:p>
          <a:p>
            <a:pPr marL="228600" indent="-228600">
              <a:spcAft>
                <a:spcPts val="800"/>
              </a:spcAft>
              <a:buSzPct val="100000"/>
              <a:buChar char="•"/>
            </a:pPr>
            <a:r>
              <a:rPr lang="en-US" sz="1600" dirty="0">
                <a:solidFill>
                  <a:schemeClr val="bg1"/>
                </a:solidFill>
              </a:rPr>
              <a:t>Source: DCRNN benchmark (Li et al., ICLR 2018); files verified by SHA-256 on download</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Silence is not a traffic jam</a:t>
            </a:r>
            <a:endParaRPr lang="en-US" sz="3600" dirty="0"/>
          </a:p>
        </p:txBody>
      </p:sp>
      <p:sp>
        <p:nvSpPr>
          <p:cNvPr id="3" name="figure frame"/>
          <p:cNvSpPr/>
          <p:nvPr/>
        </p:nvSpPr>
        <p:spPr>
          <a:xfrm>
            <a:off x="548640" y="1417320"/>
            <a:ext cx="7589520" cy="2971800"/>
          </a:xfrm>
          <a:prstGeom prst="roundRect">
            <a:avLst>
              <a:gd name="adj" fmla="val 3077"/>
            </a:avLst>
          </a:prstGeom>
          <a:solidFill>
            <a:schemeClr val="bg1"/>
          </a:solidFill>
          <a:ln w="12700">
            <a:solidFill>
              <a:schemeClr val="bg1">
                <a:alpha val="0"/>
              </a:schemeClr>
            </a:solidFill>
            <a:prstDash val="solid"/>
          </a:ln>
          <a:effectLst>
            <a:outerShdw sx="100000" sy="100000" kx="0" ky="0" algn="bl" rotWithShape="0" blurRad="177800" dist="38100" dir="5400000">
              <a:srgbClr val="000000">
                <a:alpha val="45000"/>
              </a:srgbClr>
            </a:outerShdw>
          </a:effectLst>
        </p:spPr>
      </p:sp>
      <p:pic>
        <p:nvPicPr>
          <p:cNvPr id="4" name="Image 0" descr="eda 01 missingness">    </p:cNvPr>
          <p:cNvPicPr>
            <a:picLocks noChangeAspect="1"/>
          </p:cNvPicPr>
          <p:nvPr/>
        </p:nvPicPr>
        <p:blipFill>
          <a:blip r:embed="rId1"/>
          <a:stretch>
            <a:fillRect/>
          </a:stretch>
        </p:blipFill>
        <p:spPr>
          <a:xfrm>
            <a:off x="673608" y="1527048"/>
            <a:ext cx="7339584" cy="2752344"/>
          </a:xfrm>
          <a:prstGeom prst="rect">
            <a:avLst/>
          </a:prstGeom>
        </p:spPr>
      </p:pic>
      <p:sp>
        <p:nvSpPr>
          <p:cNvPr id="5" name="card"/>
          <p:cNvSpPr/>
          <p:nvPr/>
        </p:nvSpPr>
        <p:spPr>
          <a:xfrm>
            <a:off x="8412480" y="1417320"/>
            <a:ext cx="3200400" cy="1417320"/>
          </a:xfrm>
          <a:prstGeom prst="roundRect">
            <a:avLst>
              <a:gd name="adj" fmla="val 7742"/>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6" name="Text 3"/>
          <p:cNvSpPr txBox="1"/>
          <p:nvPr/>
        </p:nvSpPr>
        <p:spPr>
          <a:xfrm>
            <a:off x="8686800" y="1645920"/>
            <a:ext cx="2651760" cy="70866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2,148</a:t>
            </a:r>
            <a:endParaRPr lang="en-US" sz="3600" dirty="0"/>
          </a:p>
        </p:txBody>
      </p:sp>
      <p:sp>
        <p:nvSpPr>
          <p:cNvPr id="7" name="Text 4"/>
          <p:cNvSpPr txBox="1"/>
          <p:nvPr/>
        </p:nvSpPr>
        <p:spPr>
          <a:xfrm>
            <a:off x="8686800" y="2354580"/>
            <a:ext cx="2651760" cy="388620"/>
          </a:xfrm>
          <a:prstGeom prst="rect">
            <a:avLst/>
          </a:prstGeom>
          <a:noFill/>
          <a:ln/>
        </p:spPr>
        <p:txBody>
          <a:bodyPr wrap="square" lIns="0" tIns="0" rIns="0" bIns="0" rtlCol="0" anchor="t"/>
          <a:lstStyle/>
          <a:p>
            <a:pPr indent="0" marL="0">
              <a:buNone/>
            </a:pPr>
            <a:r>
              <a:rPr lang="en-US" sz="1400" dirty="0">
                <a:solidFill>
                  <a:schemeClr val="bg2"/>
                </a:solidFill>
              </a:rPr>
              <a:t>timestamps where ≥ 90% of sensors are silent</a:t>
            </a:r>
            <a:endParaRPr lang="en-US" sz="1400" dirty="0"/>
          </a:p>
        </p:txBody>
      </p:sp>
      <p:sp>
        <p:nvSpPr>
          <p:cNvPr id="8" name="card"/>
          <p:cNvSpPr/>
          <p:nvPr/>
        </p:nvSpPr>
        <p:spPr>
          <a:xfrm>
            <a:off x="8412480" y="2971800"/>
            <a:ext cx="3200400" cy="1417320"/>
          </a:xfrm>
          <a:prstGeom prst="roundRect">
            <a:avLst>
              <a:gd name="adj" fmla="val 7742"/>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9" name="Text 6"/>
          <p:cNvSpPr txBox="1"/>
          <p:nvPr/>
        </p:nvSpPr>
        <p:spPr>
          <a:xfrm>
            <a:off x="8686800" y="3200400"/>
            <a:ext cx="2651760" cy="708660"/>
          </a:xfrm>
          <a:prstGeom prst="rect">
            <a:avLst/>
          </a:prstGeom>
          <a:noFill/>
          <a:ln/>
        </p:spPr>
        <p:txBody>
          <a:bodyPr wrap="square" lIns="0" tIns="0" rIns="0" bIns="0" rtlCol="0" anchor="ctr"/>
          <a:lstStyle/>
          <a:p>
            <a:pPr indent="0" marL="0">
              <a:buNone/>
            </a:pPr>
            <a:r>
              <a:rPr lang="en-US" sz="3600" b="1" dirty="0">
                <a:solidFill>
                  <a:schemeClr val="accent2"/>
                </a:solidFill>
                <a:latin typeface="Arial" pitchFamily="34" charset="0"/>
                <a:ea typeface="Arial" pitchFamily="34" charset="-122"/>
                <a:cs typeface="Arial" pitchFamily="34" charset="-120"/>
              </a:rPr>
              <a:t>12.1%</a:t>
            </a:r>
            <a:endParaRPr lang="en-US" sz="3600" dirty="0"/>
          </a:p>
        </p:txBody>
      </p:sp>
      <p:sp>
        <p:nvSpPr>
          <p:cNvPr id="10" name="Text 7"/>
          <p:cNvSpPr txBox="1"/>
          <p:nvPr/>
        </p:nvSpPr>
        <p:spPr>
          <a:xfrm>
            <a:off x="8686800" y="3909060"/>
            <a:ext cx="2651760" cy="388620"/>
          </a:xfrm>
          <a:prstGeom prst="rect">
            <a:avLst/>
          </a:prstGeom>
          <a:noFill/>
          <a:ln/>
        </p:spPr>
        <p:txBody>
          <a:bodyPr wrap="square" lIns="0" tIns="0" rIns="0" bIns="0" rtlCol="0" anchor="t"/>
          <a:lstStyle/>
          <a:p>
            <a:pPr indent="0" marL="0">
              <a:buNone/>
            </a:pPr>
            <a:r>
              <a:rPr lang="en-US" sz="1400" dirty="0">
                <a:solidFill>
                  <a:schemeClr val="bg2"/>
                </a:solidFill>
              </a:rPr>
              <a:t>missing in the test period vs 7.1% in training</a:t>
            </a:r>
            <a:endParaRPr lang="en-US" sz="1400" dirty="0"/>
          </a:p>
        </p:txBody>
      </p:sp>
      <p:sp>
        <p:nvSpPr>
          <p:cNvPr id="11" name="card"/>
          <p:cNvSpPr/>
          <p:nvPr/>
        </p:nvSpPr>
        <p:spPr>
          <a:xfrm>
            <a:off x="548640" y="4617720"/>
            <a:ext cx="11064240" cy="1554480"/>
          </a:xfrm>
          <a:prstGeom prst="roundRect">
            <a:avLst>
              <a:gd name="adj" fmla="val 7059"/>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2" name="Text 9"/>
          <p:cNvSpPr txBox="1"/>
          <p:nvPr/>
        </p:nvSpPr>
        <p:spPr>
          <a:xfrm>
            <a:off x="868680" y="4846320"/>
            <a:ext cx="10515600" cy="128016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bg1"/>
                </a:solidFill>
              </a:rPr>
              <a:t>Inputs: forward-fill up to 30 minutes (past only), then the training-period average for that sensor and time of day, plus an is_missing flag</a:t>
            </a:r>
            <a:endParaRPr lang="en-US" sz="1500" dirty="0"/>
          </a:p>
          <a:p>
            <a:pPr marL="228600" indent="-228600">
              <a:spcAft>
                <a:spcPts val="800"/>
              </a:spcAft>
              <a:buSzPct val="100000"/>
              <a:buChar char="•"/>
            </a:pPr>
            <a:r>
              <a:rPr lang="en-US" sz="1500" dirty="0">
                <a:solidFill>
                  <a:schemeClr val="bg1"/>
                </a:solidFill>
              </a:rPr>
              <a:t>Targets: never imputed — a model is only scored where the sensor actually reported</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The city breathes twice a day</a:t>
            </a:r>
            <a:endParaRPr lang="en-US" sz="3600" dirty="0"/>
          </a:p>
        </p:txBody>
      </p:sp>
      <p:sp>
        <p:nvSpPr>
          <p:cNvPr id="3" name="figure frame"/>
          <p:cNvSpPr/>
          <p:nvPr/>
        </p:nvSpPr>
        <p:spPr>
          <a:xfrm>
            <a:off x="548640" y="1417320"/>
            <a:ext cx="6949440" cy="4754880"/>
          </a:xfrm>
          <a:prstGeom prst="roundRect">
            <a:avLst>
              <a:gd name="adj" fmla="val 1923"/>
            </a:avLst>
          </a:prstGeom>
          <a:solidFill>
            <a:schemeClr val="bg1"/>
          </a:solidFill>
          <a:ln w="12700">
            <a:solidFill>
              <a:schemeClr val="bg1">
                <a:alpha val="0"/>
              </a:schemeClr>
            </a:solidFill>
            <a:prstDash val="solid"/>
          </a:ln>
          <a:effectLst>
            <a:outerShdw sx="100000" sy="100000" kx="0" ky="0" algn="bl" rotWithShape="0" blurRad="177800" dist="38100" dir="5400000">
              <a:srgbClr val="000000">
                <a:alpha val="45000"/>
              </a:srgbClr>
            </a:outerShdw>
          </a:effectLst>
        </p:spPr>
      </p:sp>
      <p:pic>
        <p:nvPicPr>
          <p:cNvPr id="4" name="Image 0" descr="eda 02 daily profile">    </p:cNvPr>
          <p:cNvPicPr>
            <a:picLocks noChangeAspect="1"/>
          </p:cNvPicPr>
          <p:nvPr/>
        </p:nvPicPr>
        <p:blipFill>
          <a:blip r:embed="rId1"/>
          <a:stretch>
            <a:fillRect/>
          </a:stretch>
        </p:blipFill>
        <p:spPr>
          <a:xfrm>
            <a:off x="658368" y="2112264"/>
            <a:ext cx="6729984" cy="3364992"/>
          </a:xfrm>
          <a:prstGeom prst="rect">
            <a:avLst/>
          </a:prstGeom>
        </p:spPr>
      </p:pic>
      <p:sp>
        <p:nvSpPr>
          <p:cNvPr id="5" name="card"/>
          <p:cNvSpPr/>
          <p:nvPr/>
        </p:nvSpPr>
        <p:spPr>
          <a:xfrm>
            <a:off x="7772400" y="1417320"/>
            <a:ext cx="3840480" cy="1463040"/>
          </a:xfrm>
          <a:prstGeom prst="roundRect">
            <a:avLst>
              <a:gd name="adj" fmla="val 75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6" name="Text 3"/>
          <p:cNvSpPr txBox="1"/>
          <p:nvPr/>
        </p:nvSpPr>
        <p:spPr>
          <a:xfrm>
            <a:off x="8046720" y="1645920"/>
            <a:ext cx="3291840" cy="731520"/>
          </a:xfrm>
          <a:prstGeom prst="rect">
            <a:avLst/>
          </a:prstGeom>
          <a:noFill/>
          <a:ln/>
        </p:spPr>
        <p:txBody>
          <a:bodyPr wrap="square" lIns="0" tIns="0" rIns="0" bIns="0" rtlCol="0" anchor="ctr"/>
          <a:lstStyle/>
          <a:p>
            <a:pPr indent="0" marL="0">
              <a:buNone/>
            </a:pPr>
            <a:r>
              <a:rPr lang="en-US" sz="3800" b="1" dirty="0">
                <a:solidFill>
                  <a:schemeClr val="accent1"/>
                </a:solidFill>
                <a:latin typeface="Arial" pitchFamily="34" charset="0"/>
                <a:ea typeface="Arial" pitchFamily="34" charset="-122"/>
                <a:cs typeface="Arial" pitchFamily="34" charset="-120"/>
              </a:rPr>
              <a:t>45.3 mph</a:t>
            </a:r>
            <a:endParaRPr lang="en-US" sz="3800" dirty="0"/>
          </a:p>
        </p:txBody>
      </p:sp>
      <p:sp>
        <p:nvSpPr>
          <p:cNvPr id="7" name="Text 4"/>
          <p:cNvSpPr txBox="1"/>
          <p:nvPr/>
        </p:nvSpPr>
        <p:spPr>
          <a:xfrm>
            <a:off x="8046720" y="2377440"/>
            <a:ext cx="3291840" cy="411480"/>
          </a:xfrm>
          <a:prstGeom prst="rect">
            <a:avLst/>
          </a:prstGeom>
          <a:noFill/>
          <a:ln/>
        </p:spPr>
        <p:txBody>
          <a:bodyPr wrap="square" lIns="0" tIns="0" rIns="0" bIns="0" rtlCol="0" anchor="t"/>
          <a:lstStyle/>
          <a:p>
            <a:pPr indent="0" marL="0">
              <a:buNone/>
            </a:pPr>
            <a:r>
              <a:rPr lang="en-US" sz="1400" dirty="0">
                <a:solidFill>
                  <a:schemeClr val="bg2"/>
                </a:solidFill>
              </a:rPr>
              <a:t>weekday low, around 17:30</a:t>
            </a:r>
            <a:endParaRPr lang="en-US" sz="1400" dirty="0"/>
          </a:p>
        </p:txBody>
      </p:sp>
      <p:sp>
        <p:nvSpPr>
          <p:cNvPr id="8" name="card"/>
          <p:cNvSpPr/>
          <p:nvPr/>
        </p:nvSpPr>
        <p:spPr>
          <a:xfrm>
            <a:off x="7772400" y="2999232"/>
            <a:ext cx="3840480" cy="1463040"/>
          </a:xfrm>
          <a:prstGeom prst="roundRect">
            <a:avLst>
              <a:gd name="adj" fmla="val 75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9" name="Text 6"/>
          <p:cNvSpPr txBox="1"/>
          <p:nvPr/>
        </p:nvSpPr>
        <p:spPr>
          <a:xfrm>
            <a:off x="8046720" y="3227832"/>
            <a:ext cx="3291840" cy="731520"/>
          </a:xfrm>
          <a:prstGeom prst="rect">
            <a:avLst/>
          </a:prstGeom>
          <a:noFill/>
          <a:ln/>
        </p:spPr>
        <p:txBody>
          <a:bodyPr wrap="square" lIns="0" tIns="0" rIns="0" bIns="0" rtlCol="0" anchor="ctr"/>
          <a:lstStyle/>
          <a:p>
            <a:pPr indent="0" marL="0">
              <a:buNone/>
            </a:pPr>
            <a:r>
              <a:rPr lang="en-US" sz="3800" b="1" dirty="0">
                <a:solidFill>
                  <a:schemeClr val="accent3"/>
                </a:solidFill>
                <a:latin typeface="Arial" pitchFamily="34" charset="0"/>
                <a:ea typeface="Arial" pitchFamily="34" charset="-122"/>
                <a:cs typeface="Arial" pitchFamily="34" charset="-120"/>
              </a:rPr>
              <a:t>56.8 mph</a:t>
            </a:r>
            <a:endParaRPr lang="en-US" sz="3800" dirty="0"/>
          </a:p>
        </p:txBody>
      </p:sp>
      <p:sp>
        <p:nvSpPr>
          <p:cNvPr id="10" name="Text 7"/>
          <p:cNvSpPr txBox="1"/>
          <p:nvPr/>
        </p:nvSpPr>
        <p:spPr>
          <a:xfrm>
            <a:off x="8046720" y="3959352"/>
            <a:ext cx="3291840" cy="411480"/>
          </a:xfrm>
          <a:prstGeom prst="rect">
            <a:avLst/>
          </a:prstGeom>
          <a:noFill/>
          <a:ln/>
        </p:spPr>
        <p:txBody>
          <a:bodyPr wrap="square" lIns="0" tIns="0" rIns="0" bIns="0" rtlCol="0" anchor="t"/>
          <a:lstStyle/>
          <a:p>
            <a:pPr indent="0" marL="0">
              <a:buNone/>
            </a:pPr>
            <a:r>
              <a:rPr lang="en-US" sz="1400" dirty="0">
                <a:solidFill>
                  <a:schemeClr val="bg2"/>
                </a:solidFill>
              </a:rPr>
              <a:t>weekend low — rush hours vanish</a:t>
            </a:r>
            <a:endParaRPr lang="en-US" sz="1400" dirty="0"/>
          </a:p>
        </p:txBody>
      </p:sp>
      <p:sp>
        <p:nvSpPr>
          <p:cNvPr id="11" name="card"/>
          <p:cNvSpPr/>
          <p:nvPr/>
        </p:nvSpPr>
        <p:spPr>
          <a:xfrm>
            <a:off x="7772400" y="4709160"/>
            <a:ext cx="3840480" cy="1463040"/>
          </a:xfrm>
          <a:prstGeom prst="roundRect">
            <a:avLst>
              <a:gd name="adj" fmla="val 75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2" name="Text 9"/>
          <p:cNvSpPr txBox="1"/>
          <p:nvPr/>
        </p:nvSpPr>
        <p:spPr>
          <a:xfrm>
            <a:off x="8046720" y="4937760"/>
            <a:ext cx="3291840" cy="731520"/>
          </a:xfrm>
          <a:prstGeom prst="rect">
            <a:avLst/>
          </a:prstGeom>
          <a:noFill/>
          <a:ln/>
        </p:spPr>
        <p:txBody>
          <a:bodyPr wrap="square" lIns="0" tIns="0" rIns="0" bIns="0" rtlCol="0" anchor="ctr"/>
          <a:lstStyle/>
          <a:p>
            <a:pPr indent="0" marL="0">
              <a:buNone/>
            </a:pPr>
            <a:r>
              <a:rPr lang="en-US" sz="3400" b="1" dirty="0">
                <a:solidFill>
                  <a:schemeClr val="accent2"/>
                </a:solidFill>
                <a:latin typeface="Arial" pitchFamily="34" charset="0"/>
                <a:ea typeface="Arial" pitchFamily="34" charset="-122"/>
                <a:cs typeface="Arial" pitchFamily="34" charset="-120"/>
              </a:rPr>
              <a:t>42.5–65.7</a:t>
            </a:r>
            <a:endParaRPr lang="en-US" sz="3400" dirty="0"/>
          </a:p>
        </p:txBody>
      </p:sp>
      <p:sp>
        <p:nvSpPr>
          <p:cNvPr id="13" name="Text 10"/>
          <p:cNvSpPr txBox="1"/>
          <p:nvPr/>
        </p:nvSpPr>
        <p:spPr>
          <a:xfrm>
            <a:off x="8046720" y="5669280"/>
            <a:ext cx="3291840" cy="411480"/>
          </a:xfrm>
          <a:prstGeom prst="rect">
            <a:avLst/>
          </a:prstGeom>
          <a:noFill/>
          <a:ln/>
        </p:spPr>
        <p:txBody>
          <a:bodyPr wrap="square" lIns="0" tIns="0" rIns="0" bIns="0" rtlCol="0" anchor="t"/>
          <a:lstStyle/>
          <a:p>
            <a:pPr indent="0" marL="0">
              <a:buNone/>
            </a:pPr>
            <a:r>
              <a:rPr lang="en-US" sz="1400" dirty="0">
                <a:solidFill>
                  <a:schemeClr val="bg2"/>
                </a:solidFill>
              </a:rPr>
              <a:t>mph range of weekly time-slot averages</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Turning roads into a graph</a:t>
            </a:r>
            <a:endParaRPr lang="en-US" sz="3600" dirty="0"/>
          </a:p>
        </p:txBody>
      </p:sp>
      <p:sp>
        <p:nvSpPr>
          <p:cNvPr id="3" name="card"/>
          <p:cNvSpPr/>
          <p:nvPr/>
        </p:nvSpPr>
        <p:spPr>
          <a:xfrm>
            <a:off x="548640" y="1417320"/>
            <a:ext cx="5212080" cy="4754880"/>
          </a:xfrm>
          <a:prstGeom prst="roundRect">
            <a:avLst>
              <a:gd name="adj" fmla="val 2308"/>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4" name="Text 2"/>
          <p:cNvSpPr txBox="1"/>
          <p:nvPr/>
        </p:nvSpPr>
        <p:spPr>
          <a:xfrm>
            <a:off x="868680" y="1691640"/>
            <a:ext cx="4663440" cy="320040"/>
          </a:xfrm>
          <a:prstGeom prst="rect">
            <a:avLst/>
          </a:prstGeom>
          <a:noFill/>
          <a:ln/>
        </p:spPr>
        <p:txBody>
          <a:bodyPr wrap="square" lIns="0" tIns="0" rIns="0" bIns="0" rtlCol="0" anchor="t"/>
          <a:lstStyle/>
          <a:p>
            <a:pPr indent="0" marL="0">
              <a:buNone/>
            </a:pPr>
            <a:r>
              <a:rPr lang="en-US" sz="1400" b="1" spc="300" kern="0" dirty="0">
                <a:solidFill>
                  <a:schemeClr val="accent2"/>
                </a:solidFill>
              </a:rPr>
              <a:t>THRESHOLDED GAUSSIAN KERNEL</a:t>
            </a:r>
            <a:endParaRPr lang="en-US" sz="1400" dirty="0"/>
          </a:p>
        </p:txBody>
      </p:sp>
      <p:sp>
        <p:nvSpPr>
          <p:cNvPr id="5" name="Shape 3"/>
          <p:cNvSpPr/>
          <p:nvPr/>
        </p:nvSpPr>
        <p:spPr>
          <a:xfrm>
            <a:off x="868680" y="2148840"/>
            <a:ext cx="4572000" cy="868680"/>
          </a:xfrm>
          <a:prstGeom prst="roundRect">
            <a:avLst>
              <a:gd name="adj" fmla="val 8421"/>
            </a:avLst>
          </a:prstGeom>
          <a:solidFill>
            <a:srgbClr val="0A0F1E">
              <a:alpha val="80000"/>
            </a:srgbClr>
          </a:solidFill>
          <a:ln w="9525">
            <a:solidFill>
              <a:schemeClr val="accent5"/>
            </a:solidFill>
            <a:prstDash val="solid"/>
          </a:ln>
        </p:spPr>
      </p:sp>
      <p:sp>
        <p:nvSpPr>
          <p:cNvPr id="6" name="Text 4"/>
          <p:cNvSpPr txBox="1"/>
          <p:nvPr/>
        </p:nvSpPr>
        <p:spPr>
          <a:xfrm>
            <a:off x="868680" y="2148840"/>
            <a:ext cx="4572000" cy="868680"/>
          </a:xfrm>
          <a:prstGeom prst="rect">
            <a:avLst/>
          </a:prstGeom>
          <a:noFill/>
          <a:ln/>
        </p:spPr>
        <p:txBody>
          <a:bodyPr wrap="square" lIns="0" tIns="0" rIns="0" bIns="0" rtlCol="0" anchor="ctr"/>
          <a:lstStyle/>
          <a:p>
            <a:pPr algn="ctr" indent="0" marL="0">
              <a:buNone/>
            </a:pPr>
            <a:r>
              <a:rPr lang="en-US" sz="2000" dirty="0">
                <a:solidFill>
                  <a:schemeClr val="bg1"/>
                </a:solidFill>
                <a:latin typeface="Cambria" pitchFamily="34" charset="0"/>
                <a:ea typeface="Cambria" pitchFamily="34" charset="-122"/>
                <a:cs typeface="Cambria" pitchFamily="34" charset="-120"/>
              </a:rPr>
              <a:t>Wᵢⱼ = exp(−(dᵢⱼ / σ)²)   if ≥ κ, else 0</a:t>
            </a:r>
            <a:endParaRPr lang="en-US" sz="2000" dirty="0"/>
          </a:p>
        </p:txBody>
      </p:sp>
      <p:sp>
        <p:nvSpPr>
          <p:cNvPr id="7" name="Text 5"/>
          <p:cNvSpPr txBox="1"/>
          <p:nvPr/>
        </p:nvSpPr>
        <p:spPr>
          <a:xfrm>
            <a:off x="868680" y="3246120"/>
            <a:ext cx="4663440" cy="27432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bg1"/>
                </a:solidFill>
              </a:rPr>
              <a:t>dᵢⱼ = directed road distance (metres)</a:t>
            </a:r>
            <a:endParaRPr lang="en-US" sz="1600" dirty="0"/>
          </a:p>
          <a:p>
            <a:pPr marL="228600" indent="-228600">
              <a:spcAft>
                <a:spcPts val="800"/>
              </a:spcAft>
              <a:buSzPct val="100000"/>
              <a:buChar char="•"/>
            </a:pPr>
            <a:r>
              <a:rPr lang="en-US" sz="1600" dirty="0">
                <a:solidFill>
                  <a:schemeClr val="bg1"/>
                </a:solidFill>
              </a:rPr>
              <a:t>σ = 2,584 m (spread of all distances), κ = 0.1</a:t>
            </a:r>
            <a:endParaRPr lang="en-US" sz="1600" dirty="0"/>
          </a:p>
          <a:p>
            <a:pPr marL="228600" indent="-228600">
              <a:spcAft>
                <a:spcPts val="800"/>
              </a:spcAft>
              <a:buSzPct val="100000"/>
              <a:buChar char="•"/>
            </a:pPr>
            <a:r>
              <a:rPr lang="en-US" sz="1600" dirty="0">
                <a:solidFill>
                  <a:schemeClr val="bg1"/>
                </a:solidFill>
              </a:rPr>
              <a:t>Rebuilt matrix equals the published one to 1.0 × 10⁻⁷</a:t>
            </a:r>
            <a:endParaRPr lang="en-US" sz="1600" dirty="0"/>
          </a:p>
          <a:p>
            <a:pPr marL="228600" indent="-228600">
              <a:spcAft>
                <a:spcPts val="800"/>
              </a:spcAft>
              <a:buSzPct val="100000"/>
              <a:buChar char="•"/>
            </a:pPr>
            <a:r>
              <a:rPr lang="en-US" sz="1600" dirty="0">
                <a:solidFill>
                  <a:schemeClr val="bg1"/>
                </a:solidFill>
              </a:rPr>
              <a:t>Phase 2 will use it in both directions, W + Wᵀ</a:t>
            </a:r>
            <a:endParaRPr lang="en-US" sz="1600" dirty="0"/>
          </a:p>
        </p:txBody>
      </p:sp>
      <p:sp>
        <p:nvSpPr>
          <p:cNvPr id="8" name="figure frame"/>
          <p:cNvSpPr/>
          <p:nvPr/>
        </p:nvSpPr>
        <p:spPr>
          <a:xfrm>
            <a:off x="6035040" y="1417320"/>
            <a:ext cx="5577840" cy="3154680"/>
          </a:xfrm>
          <a:prstGeom prst="roundRect">
            <a:avLst>
              <a:gd name="adj" fmla="val 2899"/>
            </a:avLst>
          </a:prstGeom>
          <a:solidFill>
            <a:schemeClr val="bg1"/>
          </a:solidFill>
          <a:ln w="12700">
            <a:solidFill>
              <a:schemeClr val="bg1">
                <a:alpha val="0"/>
              </a:schemeClr>
            </a:solidFill>
            <a:prstDash val="solid"/>
          </a:ln>
          <a:effectLst>
            <a:outerShdw sx="100000" sy="100000" kx="0" ky="0" algn="bl" rotWithShape="0" blurRad="177800" dist="38100" dir="5400000">
              <a:srgbClr val="000000">
                <a:alpha val="45000"/>
              </a:srgbClr>
            </a:outerShdw>
          </a:effectLst>
        </p:spPr>
      </p:sp>
      <p:pic>
        <p:nvPicPr>
          <p:cNvPr id="9" name="Image 0" descr="eda 06 corr vs hops">    </p:cNvPr>
          <p:cNvPicPr>
            <a:picLocks noChangeAspect="1"/>
          </p:cNvPicPr>
          <p:nvPr/>
        </p:nvPicPr>
        <p:blipFill>
          <a:blip r:embed="rId1"/>
          <a:stretch>
            <a:fillRect/>
          </a:stretch>
        </p:blipFill>
        <p:spPr>
          <a:xfrm>
            <a:off x="6214872" y="1527048"/>
            <a:ext cx="5218176" cy="2935224"/>
          </a:xfrm>
          <a:prstGeom prst="rect">
            <a:avLst/>
          </a:prstGeom>
        </p:spPr>
      </p:pic>
      <p:sp>
        <p:nvSpPr>
          <p:cNvPr id="10" name="card"/>
          <p:cNvSpPr/>
          <p:nvPr/>
        </p:nvSpPr>
        <p:spPr>
          <a:xfrm>
            <a:off x="6035040" y="4754880"/>
            <a:ext cx="5577840" cy="1417320"/>
          </a:xfrm>
          <a:prstGeom prst="roundRect">
            <a:avLst>
              <a:gd name="adj" fmla="val 7742"/>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1" name="Text 8"/>
          <p:cNvSpPr txBox="1"/>
          <p:nvPr/>
        </p:nvSpPr>
        <p:spPr>
          <a:xfrm>
            <a:off x="6309360" y="4937760"/>
            <a:ext cx="5029200" cy="1097280"/>
          </a:xfrm>
          <a:prstGeom prst="rect">
            <a:avLst/>
          </a:prstGeom>
          <a:noFill/>
          <a:ln/>
        </p:spPr>
        <p:txBody>
          <a:bodyPr wrap="square" lIns="0" tIns="0" rIns="0" bIns="0" rtlCol="0" anchor="ctr"/>
          <a:lstStyle/>
          <a:p>
            <a:pPr indent="0" marL="0">
              <a:buNone/>
            </a:pPr>
            <a:r>
              <a:rPr lang="en-US" sz="1600" dirty="0">
                <a:solidFill>
                  <a:schemeClr val="bg2"/>
                </a:solidFill>
              </a:rPr>
              <a:t>Neighbours really are related: </a:t>
            </a:r>
            <a:pPr indent="0" marL="0">
              <a:buNone/>
            </a:pPr>
            <a:r>
              <a:rPr lang="en-US" sz="1600" b="1" dirty="0">
                <a:solidFill>
                  <a:schemeClr val="bg1"/>
                </a:solidFill>
              </a:rPr>
              <a:t>median correlation 0.45 at 1 hop → 0.25 at 2 hops → 0.14 at 8 hops</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Does congestion really travel upstream?</a:t>
            </a:r>
            <a:endParaRPr lang="en-US" sz="3600" dirty="0"/>
          </a:p>
        </p:txBody>
      </p:sp>
      <p:sp>
        <p:nvSpPr>
          <p:cNvPr id="3" name="figure frame"/>
          <p:cNvSpPr/>
          <p:nvPr/>
        </p:nvSpPr>
        <p:spPr>
          <a:xfrm>
            <a:off x="548640" y="1417320"/>
            <a:ext cx="6309360" cy="3611880"/>
          </a:xfrm>
          <a:prstGeom prst="roundRect">
            <a:avLst>
              <a:gd name="adj" fmla="val 2532"/>
            </a:avLst>
          </a:prstGeom>
          <a:solidFill>
            <a:schemeClr val="bg1"/>
          </a:solidFill>
          <a:ln w="12700">
            <a:solidFill>
              <a:schemeClr val="bg1">
                <a:alpha val="0"/>
              </a:schemeClr>
            </a:solidFill>
            <a:prstDash val="solid"/>
          </a:ln>
          <a:effectLst>
            <a:outerShdw sx="100000" sy="100000" kx="0" ky="0" algn="bl" rotWithShape="0" blurRad="177800" dist="38100" dir="5400000">
              <a:srgbClr val="000000">
                <a:alpha val="45000"/>
              </a:srgbClr>
            </a:outerShdw>
          </a:effectLst>
        </p:spPr>
      </p:sp>
      <p:pic>
        <p:nvPicPr>
          <p:cNvPr id="4" name="Image 0" descr="eda 07b peak lag hist">    </p:cNvPr>
          <p:cNvPicPr>
            <a:picLocks noChangeAspect="1"/>
          </p:cNvPicPr>
          <p:nvPr/>
        </p:nvPicPr>
        <p:blipFill>
          <a:blip r:embed="rId1"/>
          <a:stretch>
            <a:fillRect/>
          </a:stretch>
        </p:blipFill>
        <p:spPr>
          <a:xfrm>
            <a:off x="734949" y="1527048"/>
            <a:ext cx="5936742" cy="3392424"/>
          </a:xfrm>
          <a:prstGeom prst="rect">
            <a:avLst/>
          </a:prstGeom>
        </p:spPr>
      </p:pic>
      <p:sp>
        <p:nvSpPr>
          <p:cNvPr id="5" name="card"/>
          <p:cNvSpPr/>
          <p:nvPr/>
        </p:nvSpPr>
        <p:spPr>
          <a:xfrm>
            <a:off x="7132320" y="1417320"/>
            <a:ext cx="2148840" cy="1737360"/>
          </a:xfrm>
          <a:prstGeom prst="roundRect">
            <a:avLst>
              <a:gd name="adj" fmla="val 6316"/>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6" name="Text 3"/>
          <p:cNvSpPr txBox="1"/>
          <p:nvPr/>
        </p:nvSpPr>
        <p:spPr>
          <a:xfrm>
            <a:off x="7406640" y="1645920"/>
            <a:ext cx="1600200" cy="868680"/>
          </a:xfrm>
          <a:prstGeom prst="rect">
            <a:avLst/>
          </a:prstGeom>
          <a:noFill/>
          <a:ln/>
        </p:spPr>
        <p:txBody>
          <a:bodyPr wrap="square" lIns="0" tIns="0" rIns="0" bIns="0" rtlCol="0" anchor="ctr"/>
          <a:lstStyle/>
          <a:p>
            <a:pPr indent="0" marL="0">
              <a:buNone/>
            </a:pPr>
            <a:r>
              <a:rPr lang="en-US" sz="3600" b="1" dirty="0">
                <a:solidFill>
                  <a:schemeClr val="accent3"/>
                </a:solidFill>
                <a:latin typeface="Arial" pitchFamily="34" charset="0"/>
                <a:ea typeface="Arial" pitchFamily="34" charset="-122"/>
                <a:cs typeface="Arial" pitchFamily="34" charset="-120"/>
              </a:rPr>
              <a:t>50%</a:t>
            </a:r>
            <a:endParaRPr lang="en-US" sz="3600" dirty="0"/>
          </a:p>
        </p:txBody>
      </p:sp>
      <p:sp>
        <p:nvSpPr>
          <p:cNvPr id="7" name="Text 4"/>
          <p:cNvSpPr txBox="1"/>
          <p:nvPr/>
        </p:nvSpPr>
        <p:spPr>
          <a:xfrm>
            <a:off x="7406640" y="2514600"/>
            <a:ext cx="1600200" cy="548640"/>
          </a:xfrm>
          <a:prstGeom prst="rect">
            <a:avLst/>
          </a:prstGeom>
          <a:noFill/>
          <a:ln/>
        </p:spPr>
        <p:txBody>
          <a:bodyPr wrap="square" lIns="0" tIns="0" rIns="0" bIns="0" rtlCol="0" anchor="t"/>
          <a:lstStyle/>
          <a:p>
            <a:pPr indent="0" marL="0">
              <a:buNone/>
            </a:pPr>
            <a:r>
              <a:rPr lang="en-US" sz="1400" dirty="0">
                <a:solidFill>
                  <a:schemeClr val="bg2"/>
                </a:solidFill>
              </a:rPr>
              <a:t>of pairs: upstream reacts later</a:t>
            </a:r>
            <a:endParaRPr lang="en-US" sz="1400" dirty="0"/>
          </a:p>
        </p:txBody>
      </p:sp>
      <p:sp>
        <p:nvSpPr>
          <p:cNvPr id="8" name="card"/>
          <p:cNvSpPr/>
          <p:nvPr/>
        </p:nvSpPr>
        <p:spPr>
          <a:xfrm>
            <a:off x="9464040" y="1417320"/>
            <a:ext cx="2148840" cy="1737360"/>
          </a:xfrm>
          <a:prstGeom prst="roundRect">
            <a:avLst>
              <a:gd name="adj" fmla="val 6316"/>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9" name="Text 6"/>
          <p:cNvSpPr txBox="1"/>
          <p:nvPr/>
        </p:nvSpPr>
        <p:spPr>
          <a:xfrm>
            <a:off x="9738360" y="1645920"/>
            <a:ext cx="1600200" cy="86868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38%</a:t>
            </a:r>
            <a:endParaRPr lang="en-US" sz="3600" dirty="0"/>
          </a:p>
        </p:txBody>
      </p:sp>
      <p:sp>
        <p:nvSpPr>
          <p:cNvPr id="10" name="Text 7"/>
          <p:cNvSpPr txBox="1"/>
          <p:nvPr/>
        </p:nvSpPr>
        <p:spPr>
          <a:xfrm>
            <a:off x="9738360" y="2514600"/>
            <a:ext cx="1600200" cy="548640"/>
          </a:xfrm>
          <a:prstGeom prst="rect">
            <a:avLst/>
          </a:prstGeom>
          <a:noFill/>
          <a:ln/>
        </p:spPr>
        <p:txBody>
          <a:bodyPr wrap="square" lIns="0" tIns="0" rIns="0" bIns="0" rtlCol="0" anchor="t"/>
          <a:lstStyle/>
          <a:p>
            <a:pPr indent="0" marL="0">
              <a:buNone/>
            </a:pPr>
            <a:r>
              <a:rPr lang="en-US" sz="1400" dirty="0">
                <a:solidFill>
                  <a:schemeClr val="bg2"/>
                </a:solidFill>
              </a:rPr>
              <a:t>of pairs: the opposite</a:t>
            </a:r>
            <a:endParaRPr lang="en-US" sz="1400" dirty="0"/>
          </a:p>
        </p:txBody>
      </p:sp>
      <p:sp>
        <p:nvSpPr>
          <p:cNvPr id="11" name="card"/>
          <p:cNvSpPr/>
          <p:nvPr/>
        </p:nvSpPr>
        <p:spPr>
          <a:xfrm>
            <a:off x="7132320" y="3337560"/>
            <a:ext cx="4480560" cy="1691640"/>
          </a:xfrm>
          <a:prstGeom prst="roundRect">
            <a:avLst>
              <a:gd name="adj" fmla="val 6486"/>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2" name="Text 9"/>
          <p:cNvSpPr txBox="1"/>
          <p:nvPr/>
        </p:nvSpPr>
        <p:spPr>
          <a:xfrm>
            <a:off x="7406640" y="3520440"/>
            <a:ext cx="3931920" cy="1371600"/>
          </a:xfrm>
          <a:prstGeom prst="rect">
            <a:avLst/>
          </a:prstGeom>
          <a:noFill/>
          <a:ln/>
        </p:spPr>
        <p:txBody>
          <a:bodyPr wrap="square" lIns="0" tIns="0" rIns="0" bIns="0" rtlCol="0" anchor="t"/>
          <a:lstStyle/>
          <a:p>
            <a:pPr indent="0" marL="0">
              <a:buNone/>
            </a:pPr>
            <a:r>
              <a:rPr lang="en-US" sz="1500" dirty="0">
                <a:solidFill>
                  <a:schemeClr val="bg2"/>
                </a:solidFill>
              </a:rPr>
              <a:t>Peak hours, all 1,228 adjacent sensor pairs, lag measured in 5-minute steps.</a:t>
            </a:r>
            <a:endParaRPr lang="en-US" sz="1500" dirty="0"/>
          </a:p>
        </p:txBody>
      </p:sp>
      <p:sp>
        <p:nvSpPr>
          <p:cNvPr id="13" name="card"/>
          <p:cNvSpPr/>
          <p:nvPr/>
        </p:nvSpPr>
        <p:spPr>
          <a:xfrm>
            <a:off x="548640" y="5257800"/>
            <a:ext cx="11064240" cy="914400"/>
          </a:xfrm>
          <a:prstGeom prst="roundRect">
            <a:avLst>
              <a:gd name="adj" fmla="val 12000"/>
            </a:avLst>
          </a:prstGeom>
          <a:solidFill>
            <a:srgbClr val="3A1E28"/>
          </a:solidFill>
          <a:ln w="12700">
            <a:solidFill>
              <a:srgbClr val="3A1E28">
                <a:alpha val="0"/>
              </a:srgbClr>
            </a:solidFill>
            <a:prstDash val="solid"/>
          </a:ln>
          <a:effectLst>
            <a:outerShdw sx="100000" sy="100000" kx="0" ky="0" algn="bl" rotWithShape="0" blurRad="177800" dist="38100" dir="5400000">
              <a:srgbClr val="000000">
                <a:alpha val="45000"/>
              </a:srgbClr>
            </a:outerShdw>
          </a:effectLst>
        </p:spPr>
      </p:sp>
      <p:sp>
        <p:nvSpPr>
          <p:cNvPr id="14" name="Text 11"/>
          <p:cNvSpPr txBox="1"/>
          <p:nvPr/>
        </p:nvSpPr>
        <p:spPr>
          <a:xfrm>
            <a:off x="868680" y="5257800"/>
            <a:ext cx="10515600" cy="914400"/>
          </a:xfrm>
          <a:prstGeom prst="rect">
            <a:avLst/>
          </a:prstGeom>
          <a:noFill/>
          <a:ln/>
        </p:spPr>
        <p:txBody>
          <a:bodyPr wrap="square" lIns="0" tIns="0" rIns="0" bIns="0" rtlCol="0" anchor="ctr"/>
          <a:lstStyle/>
          <a:p>
            <a:pPr indent="0" marL="0">
              <a:buNone/>
            </a:pPr>
            <a:r>
              <a:rPr lang="en-US" sz="1600" b="1" dirty="0">
                <a:solidFill>
                  <a:schemeClr val="accent2"/>
                </a:solidFill>
              </a:rPr>
              <a:t>Honest reading: </a:t>
            </a:r>
            <a:pPr indent="0" marL="0">
              <a:buNone/>
            </a:pPr>
            <a:r>
              <a:rPr lang="en-US" sz="1600" dirty="0">
                <a:solidFill>
                  <a:schemeClr val="bg1"/>
                </a:solidFill>
              </a:rPr>
              <a:t>spatial dependence is clear, directional propagation is only modestly supported. So the graph's benefit must be tested, not assumed.</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7315200" cy="457200"/>
          </a:xfrm>
          <a:prstGeom prst="rect">
            <a:avLst/>
          </a:prstGeom>
          <a:noFill/>
          <a:ln/>
        </p:spPr>
        <p:txBody>
          <a:bodyPr wrap="square" lIns="0" tIns="0" rIns="0" bIns="0" rtlCol="0"/>
          <a:lstStyle/>
          <a:p>
            <a:pPr algn="l" indent="0" marL="0">
              <a:buNone/>
            </a:pPr>
            <a:r>
              <a:rPr lang="en-US" sz="1600" b="1" spc="400" kern="0" dirty="0">
                <a:solidFill>
                  <a:schemeClr val="accent2"/>
                </a:solidFill>
              </a:rPr>
              <a:t>CHAPTER 02</a:t>
            </a:r>
            <a:endParaRPr lang="en-US" sz="1600" dirty="0"/>
          </a:p>
        </p:txBody>
      </p:sp>
      <p:sp>
        <p:nvSpPr>
          <p:cNvPr id="3" name="Text 0"/>
          <p:cNvSpPr/>
          <p:nvPr>
            <p:ph idx="101" type="title" hasCustomPrompt="1"/>
          </p:nvPr>
        </p:nvSpPr>
        <p:spPr>
          <a:xfrm>
            <a:off x="731520" y="2194560"/>
            <a:ext cx="10698480" cy="1280160"/>
          </a:xfrm>
          <a:prstGeom prst="rect">
            <a:avLst/>
          </a:prstGeom>
          <a:noFill/>
          <a:ln/>
        </p:spPr>
        <p:txBody>
          <a:bodyPr wrap="square" lIns="0" tIns="0" rIns="0" bIns="0" rtlCol="0" anchor="t"/>
          <a:lstStyle/>
          <a:p>
            <a:pPr algn="l" indent="0" marL="0">
              <a:buNone/>
            </a:pPr>
            <a:r>
              <a:rPr lang="en-US" sz="5000" b="1" dirty="0">
                <a:solidFill>
                  <a:schemeClr val="bg1"/>
                </a:solidFill>
              </a:rPr>
              <a:t>A fair fight</a:t>
            </a:r>
            <a:endParaRPr lang="en-US" sz="5000" dirty="0"/>
          </a:p>
        </p:txBody>
      </p:sp>
      <p:sp>
        <p:nvSpPr>
          <p:cNvPr id="4" name="Text 0"/>
          <p:cNvSpPr/>
          <p:nvPr>
            <p:ph idx="102" type="body" hasCustomPrompt="1"/>
          </p:nvPr>
        </p:nvSpPr>
        <p:spPr>
          <a:xfrm>
            <a:off x="731520" y="3520440"/>
            <a:ext cx="9601200" cy="1097280"/>
          </a:xfrm>
          <a:prstGeom prst="rect">
            <a:avLst/>
          </a:prstGeom>
          <a:noFill/>
          <a:ln/>
        </p:spPr>
        <p:txBody>
          <a:bodyPr wrap="square" lIns="0" tIns="0" rIns="0" bIns="0" rtlCol="0" anchor="t"/>
          <a:lstStyle/>
          <a:p>
            <a:pPr algn="l" indent="0" marL="0">
              <a:buNone/>
            </a:pPr>
            <a:r>
              <a:rPr lang="en-US" sz="2200" dirty="0">
                <a:solidFill>
                  <a:schemeClr val="bg2"/>
                </a:solidFill>
              </a:rPr>
              <a:t>No peeking into the future, the same test for every model, and statistics that respect time.</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No peeking into the future</a:t>
            </a:r>
            <a:endParaRPr lang="en-US" sz="3600" dirty="0"/>
          </a:p>
        </p:txBody>
      </p:sp>
      <p:sp>
        <p:nvSpPr>
          <p:cNvPr id="3" name="Shape 1"/>
          <p:cNvSpPr/>
          <p:nvPr/>
        </p:nvSpPr>
        <p:spPr>
          <a:xfrm>
            <a:off x="548640" y="1508760"/>
            <a:ext cx="7689975" cy="777240"/>
          </a:xfrm>
          <a:prstGeom prst="roundRect">
            <a:avLst>
              <a:gd name="adj" fmla="val 9412"/>
            </a:avLst>
          </a:prstGeom>
          <a:solidFill>
            <a:schemeClr val="accent3"/>
          </a:solidFill>
          <a:ln w="12700">
            <a:solidFill>
              <a:schemeClr val="accent3">
                <a:alpha val="0"/>
              </a:schemeClr>
            </a:solidFill>
            <a:prstDash val="solid"/>
          </a:ln>
        </p:spPr>
      </p:sp>
      <p:sp>
        <p:nvSpPr>
          <p:cNvPr id="4" name="Text 2"/>
          <p:cNvSpPr txBox="1"/>
          <p:nvPr/>
        </p:nvSpPr>
        <p:spPr>
          <a:xfrm>
            <a:off x="685800" y="1508760"/>
            <a:ext cx="7415655" cy="777240"/>
          </a:xfrm>
          <a:prstGeom prst="rect">
            <a:avLst/>
          </a:prstGeom>
          <a:noFill/>
          <a:ln/>
        </p:spPr>
        <p:txBody>
          <a:bodyPr wrap="square" lIns="0" tIns="0" rIns="0" bIns="0" rtlCol="0" anchor="ctr"/>
          <a:lstStyle/>
          <a:p>
            <a:pPr indent="0" marL="0">
              <a:buNone/>
            </a:pPr>
            <a:r>
              <a:rPr lang="en-US" sz="1600" b="1" dirty="0">
                <a:solidFill>
                  <a:srgbClr val="0A0F1E"/>
                </a:solidFill>
              </a:rPr>
              <a:t>TRAIN</a:t>
            </a:r>
            <a:endParaRPr lang="en-US" sz="1600" dirty="0"/>
          </a:p>
        </p:txBody>
      </p:sp>
      <p:sp>
        <p:nvSpPr>
          <p:cNvPr id="5" name="Text 3"/>
          <p:cNvSpPr txBox="1"/>
          <p:nvPr/>
        </p:nvSpPr>
        <p:spPr>
          <a:xfrm>
            <a:off x="548640" y="2377440"/>
            <a:ext cx="7689975" cy="868680"/>
          </a:xfrm>
          <a:prstGeom prst="rect">
            <a:avLst/>
          </a:prstGeom>
          <a:noFill/>
          <a:ln/>
        </p:spPr>
        <p:txBody>
          <a:bodyPr wrap="square" lIns="0" tIns="0" rIns="0" bIns="0" rtlCol="0" anchor="t"/>
          <a:lstStyle/>
          <a:p>
            <a:pPr indent="0" marL="0">
              <a:buNone/>
            </a:pPr>
            <a:r>
              <a:rPr lang="en-US" sz="1300" b="1" dirty="0">
                <a:solidFill>
                  <a:schemeClr val="bg1"/>
                </a:solidFill>
              </a:rPr>
              <a:t>Mar 1 –</a:t>
            </a:r>
            <a:endParaRPr lang="en-US" sz="1300" dirty="0"/>
          </a:p>
          <a:p>
            <a:pPr indent="0" marL="0">
              <a:buNone/>
            </a:pPr>
            <a:r>
              <a:rPr lang="en-US" sz="1300" b="1" dirty="0">
                <a:solidFill>
                  <a:schemeClr val="bg1"/>
                </a:solidFill>
              </a:rPr>
              <a:t>May 23</a:t>
            </a:r>
            <a:endParaRPr lang="en-US" sz="1300" dirty="0"/>
          </a:p>
          <a:p>
            <a:pPr indent="0" marL="0">
              <a:buNone/>
            </a:pPr>
            <a:r>
              <a:rPr lang="en-US" sz="1300" dirty="0">
                <a:solidFill>
                  <a:schemeClr val="bg2"/>
                </a:solidFill>
              </a:rPr>
              <a:t>23,967 windows</a:t>
            </a:r>
            <a:endParaRPr lang="en-US" sz="1300" dirty="0"/>
          </a:p>
        </p:txBody>
      </p:sp>
      <p:sp>
        <p:nvSpPr>
          <p:cNvPr id="6" name="Shape 4"/>
          <p:cNvSpPr/>
          <p:nvPr/>
        </p:nvSpPr>
        <p:spPr>
          <a:xfrm>
            <a:off x="8293479" y="1508760"/>
            <a:ext cx="1051495" cy="777240"/>
          </a:xfrm>
          <a:prstGeom prst="roundRect">
            <a:avLst>
              <a:gd name="adj" fmla="val 9412"/>
            </a:avLst>
          </a:prstGeom>
          <a:solidFill>
            <a:schemeClr val="accent2"/>
          </a:solidFill>
          <a:ln w="12700">
            <a:solidFill>
              <a:schemeClr val="accent2">
                <a:alpha val="0"/>
              </a:schemeClr>
            </a:solidFill>
            <a:prstDash val="solid"/>
          </a:ln>
        </p:spPr>
      </p:sp>
      <p:sp>
        <p:nvSpPr>
          <p:cNvPr id="7" name="Text 5"/>
          <p:cNvSpPr txBox="1"/>
          <p:nvPr/>
        </p:nvSpPr>
        <p:spPr>
          <a:xfrm>
            <a:off x="8430639" y="1508760"/>
            <a:ext cx="777175" cy="777240"/>
          </a:xfrm>
          <a:prstGeom prst="rect">
            <a:avLst/>
          </a:prstGeom>
          <a:noFill/>
          <a:ln/>
        </p:spPr>
        <p:txBody>
          <a:bodyPr wrap="square" lIns="0" tIns="0" rIns="0" bIns="0" rtlCol="0" anchor="ctr"/>
          <a:lstStyle/>
          <a:p>
            <a:pPr indent="0" marL="0">
              <a:buNone/>
            </a:pPr>
            <a:r>
              <a:rPr lang="en-US" sz="1600" b="1" dirty="0">
                <a:solidFill>
                  <a:srgbClr val="0A0F1E"/>
                </a:solidFill>
              </a:rPr>
              <a:t>VAL</a:t>
            </a:r>
            <a:endParaRPr lang="en-US" sz="1600" dirty="0"/>
          </a:p>
        </p:txBody>
      </p:sp>
      <p:sp>
        <p:nvSpPr>
          <p:cNvPr id="8" name="Text 6"/>
          <p:cNvSpPr txBox="1"/>
          <p:nvPr/>
        </p:nvSpPr>
        <p:spPr>
          <a:xfrm>
            <a:off x="8293479" y="2377440"/>
            <a:ext cx="1051495" cy="868680"/>
          </a:xfrm>
          <a:prstGeom prst="rect">
            <a:avLst/>
          </a:prstGeom>
          <a:noFill/>
          <a:ln/>
        </p:spPr>
        <p:txBody>
          <a:bodyPr wrap="square" lIns="0" tIns="0" rIns="0" bIns="0" rtlCol="0" anchor="t"/>
          <a:lstStyle/>
          <a:p>
            <a:pPr indent="0" marL="0">
              <a:buNone/>
            </a:pPr>
            <a:r>
              <a:rPr lang="en-US" sz="1300" b="1" dirty="0">
                <a:solidFill>
                  <a:schemeClr val="bg1"/>
                </a:solidFill>
              </a:rPr>
              <a:t>May 23 –</a:t>
            </a:r>
            <a:endParaRPr lang="en-US" sz="1300" dirty="0"/>
          </a:p>
          <a:p>
            <a:pPr indent="0" marL="0">
              <a:buNone/>
            </a:pPr>
            <a:r>
              <a:rPr lang="en-US" sz="1300" b="1" dirty="0">
                <a:solidFill>
                  <a:schemeClr val="bg1"/>
                </a:solidFill>
              </a:rPr>
              <a:t>Jun 4</a:t>
            </a:r>
            <a:endParaRPr lang="en-US" sz="1300" dirty="0"/>
          </a:p>
          <a:p>
            <a:pPr indent="0" marL="0">
              <a:buNone/>
            </a:pPr>
            <a:r>
              <a:rPr lang="en-US" sz="1300" dirty="0">
                <a:solidFill>
                  <a:schemeClr val="bg2"/>
                </a:solidFill>
              </a:rPr>
              <a:t>3,404</a:t>
            </a:r>
            <a:endParaRPr lang="en-US" sz="1300" dirty="0"/>
          </a:p>
        </p:txBody>
      </p:sp>
      <p:sp>
        <p:nvSpPr>
          <p:cNvPr id="9" name="Shape 7"/>
          <p:cNvSpPr/>
          <p:nvPr/>
        </p:nvSpPr>
        <p:spPr>
          <a:xfrm>
            <a:off x="9399838" y="1508760"/>
            <a:ext cx="2158178" cy="777240"/>
          </a:xfrm>
          <a:prstGeom prst="roundRect">
            <a:avLst>
              <a:gd name="adj" fmla="val 9412"/>
            </a:avLst>
          </a:prstGeom>
          <a:solidFill>
            <a:schemeClr val="accent1"/>
          </a:solidFill>
          <a:ln w="12700">
            <a:solidFill>
              <a:schemeClr val="accent1">
                <a:alpha val="0"/>
              </a:schemeClr>
            </a:solidFill>
            <a:prstDash val="solid"/>
          </a:ln>
        </p:spPr>
      </p:sp>
      <p:sp>
        <p:nvSpPr>
          <p:cNvPr id="10" name="Text 8"/>
          <p:cNvSpPr txBox="1"/>
          <p:nvPr/>
        </p:nvSpPr>
        <p:spPr>
          <a:xfrm>
            <a:off x="9536998" y="1508760"/>
            <a:ext cx="1883858" cy="777240"/>
          </a:xfrm>
          <a:prstGeom prst="rect">
            <a:avLst/>
          </a:prstGeom>
          <a:noFill/>
          <a:ln/>
        </p:spPr>
        <p:txBody>
          <a:bodyPr wrap="square" lIns="0" tIns="0" rIns="0" bIns="0" rtlCol="0" anchor="ctr"/>
          <a:lstStyle/>
          <a:p>
            <a:pPr indent="0" marL="0">
              <a:buNone/>
            </a:pPr>
            <a:r>
              <a:rPr lang="en-US" sz="1600" b="1" dirty="0">
                <a:solidFill>
                  <a:srgbClr val="0A0F1E"/>
                </a:solidFill>
              </a:rPr>
              <a:t>TEST</a:t>
            </a:r>
            <a:endParaRPr lang="en-US" sz="1600" dirty="0"/>
          </a:p>
        </p:txBody>
      </p:sp>
      <p:sp>
        <p:nvSpPr>
          <p:cNvPr id="11" name="Text 9"/>
          <p:cNvSpPr txBox="1"/>
          <p:nvPr/>
        </p:nvSpPr>
        <p:spPr>
          <a:xfrm>
            <a:off x="9399838" y="2377440"/>
            <a:ext cx="2158178" cy="868680"/>
          </a:xfrm>
          <a:prstGeom prst="rect">
            <a:avLst/>
          </a:prstGeom>
          <a:noFill/>
          <a:ln/>
        </p:spPr>
        <p:txBody>
          <a:bodyPr wrap="square" lIns="0" tIns="0" rIns="0" bIns="0" rtlCol="0" anchor="t"/>
          <a:lstStyle/>
          <a:p>
            <a:pPr indent="0" marL="0">
              <a:buNone/>
            </a:pPr>
            <a:r>
              <a:rPr lang="en-US" sz="1300" b="1" dirty="0">
                <a:solidFill>
                  <a:schemeClr val="bg1"/>
                </a:solidFill>
              </a:rPr>
              <a:t>Jun 4 –</a:t>
            </a:r>
            <a:endParaRPr lang="en-US" sz="1300" dirty="0"/>
          </a:p>
          <a:p>
            <a:pPr indent="0" marL="0">
              <a:buNone/>
            </a:pPr>
            <a:r>
              <a:rPr lang="en-US" sz="1300" b="1" dirty="0">
                <a:solidFill>
                  <a:schemeClr val="bg1"/>
                </a:solidFill>
              </a:rPr>
              <a:t>Jun 27</a:t>
            </a:r>
            <a:endParaRPr lang="en-US" sz="1300" dirty="0"/>
          </a:p>
          <a:p>
            <a:pPr indent="0" marL="0">
              <a:buNone/>
            </a:pPr>
            <a:r>
              <a:rPr lang="en-US" sz="1300" dirty="0">
                <a:solidFill>
                  <a:schemeClr val="bg2"/>
                </a:solidFill>
              </a:rPr>
              <a:t>6,832</a:t>
            </a:r>
            <a:endParaRPr lang="en-US" sz="1300" dirty="0"/>
          </a:p>
        </p:txBody>
      </p:sp>
      <p:sp>
        <p:nvSpPr>
          <p:cNvPr id="12" name="card"/>
          <p:cNvSpPr/>
          <p:nvPr/>
        </p:nvSpPr>
        <p:spPr>
          <a:xfrm>
            <a:off x="548640" y="3337560"/>
            <a:ext cx="3520440" cy="2834640"/>
          </a:xfrm>
          <a:prstGeom prst="roundRect">
            <a:avLst>
              <a:gd name="adj" fmla="val 3871"/>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3" name="Text 11"/>
          <p:cNvSpPr txBox="1"/>
          <p:nvPr/>
        </p:nvSpPr>
        <p:spPr>
          <a:xfrm>
            <a:off x="822960" y="3611880"/>
            <a:ext cx="297180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CHRONOLOGICAL</a:t>
            </a:r>
            <a:endParaRPr lang="en-US" sz="1400" dirty="0"/>
          </a:p>
        </p:txBody>
      </p:sp>
      <p:sp>
        <p:nvSpPr>
          <p:cNvPr id="14" name="Text 12"/>
          <p:cNvSpPr txBox="1"/>
          <p:nvPr/>
        </p:nvSpPr>
        <p:spPr>
          <a:xfrm>
            <a:off x="822960" y="4069080"/>
            <a:ext cx="2971800" cy="1920240"/>
          </a:xfrm>
          <a:prstGeom prst="rect">
            <a:avLst/>
          </a:prstGeom>
          <a:noFill/>
          <a:ln/>
        </p:spPr>
        <p:txBody>
          <a:bodyPr wrap="square" lIns="0" tIns="0" rIns="0" bIns="0" rtlCol="0" anchor="t"/>
          <a:lstStyle/>
          <a:p>
            <a:pPr indent="0" marL="0">
              <a:buNone/>
            </a:pPr>
            <a:r>
              <a:rPr lang="en-US" sz="1600" dirty="0">
                <a:solidFill>
                  <a:schemeClr val="bg1"/>
                </a:solidFill>
              </a:rPr>
              <a:t>Split by time 70/10/20. Windows are built inside each split, so no input or target crosses a boundary (unit-tested).</a:t>
            </a:r>
            <a:endParaRPr lang="en-US" sz="1600" dirty="0"/>
          </a:p>
        </p:txBody>
      </p:sp>
      <p:sp>
        <p:nvSpPr>
          <p:cNvPr id="15" name="card"/>
          <p:cNvSpPr/>
          <p:nvPr/>
        </p:nvSpPr>
        <p:spPr>
          <a:xfrm>
            <a:off x="4320540" y="3337560"/>
            <a:ext cx="3520440" cy="2834640"/>
          </a:xfrm>
          <a:prstGeom prst="roundRect">
            <a:avLst>
              <a:gd name="adj" fmla="val 3871"/>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6" name="Text 14"/>
          <p:cNvSpPr txBox="1"/>
          <p:nvPr/>
        </p:nvSpPr>
        <p:spPr>
          <a:xfrm>
            <a:off x="4594860" y="3611880"/>
            <a:ext cx="297180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TRAIN-ONLY STATISTICS</a:t>
            </a:r>
            <a:endParaRPr lang="en-US" sz="1400" dirty="0"/>
          </a:p>
        </p:txBody>
      </p:sp>
      <p:sp>
        <p:nvSpPr>
          <p:cNvPr id="17" name="Text 15"/>
          <p:cNvSpPr txBox="1"/>
          <p:nvPr/>
        </p:nvSpPr>
        <p:spPr>
          <a:xfrm>
            <a:off x="4594860" y="4069080"/>
            <a:ext cx="2971800" cy="1920240"/>
          </a:xfrm>
          <a:prstGeom prst="rect">
            <a:avLst/>
          </a:prstGeom>
          <a:noFill/>
          <a:ln/>
        </p:spPr>
        <p:txBody>
          <a:bodyPr wrap="square" lIns="0" tIns="0" rIns="0" bIns="0" rtlCol="0" anchor="t"/>
          <a:lstStyle/>
          <a:p>
            <a:pPr indent="0" marL="0">
              <a:buNone/>
            </a:pPr>
            <a:r>
              <a:rPr lang="en-US" sz="1600" dirty="0">
                <a:solidFill>
                  <a:schemeClr val="bg1"/>
                </a:solidFill>
              </a:rPr>
              <a:t>Scaler 58.58 ± 12.82 mph, imputation means and the history table all come from training time only.</a:t>
            </a:r>
            <a:endParaRPr lang="en-US" sz="1600" dirty="0"/>
          </a:p>
        </p:txBody>
      </p:sp>
      <p:sp>
        <p:nvSpPr>
          <p:cNvPr id="18" name="card"/>
          <p:cNvSpPr/>
          <p:nvPr/>
        </p:nvSpPr>
        <p:spPr>
          <a:xfrm>
            <a:off x="8092440" y="3337560"/>
            <a:ext cx="3520440" cy="2834640"/>
          </a:xfrm>
          <a:prstGeom prst="roundRect">
            <a:avLst>
              <a:gd name="adj" fmla="val 3871"/>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9" name="Text 17"/>
          <p:cNvSpPr txBox="1"/>
          <p:nvPr/>
        </p:nvSpPr>
        <p:spPr>
          <a:xfrm>
            <a:off x="8366760" y="3611880"/>
            <a:ext cx="297180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MASKED METRICS</a:t>
            </a:r>
            <a:endParaRPr lang="en-US" sz="1400" dirty="0"/>
          </a:p>
        </p:txBody>
      </p:sp>
      <p:sp>
        <p:nvSpPr>
          <p:cNvPr id="20" name="Text 18"/>
          <p:cNvSpPr txBox="1"/>
          <p:nvPr/>
        </p:nvSpPr>
        <p:spPr>
          <a:xfrm>
            <a:off x="8366760" y="4069080"/>
            <a:ext cx="2971800" cy="1920240"/>
          </a:xfrm>
          <a:prstGeom prst="rect">
            <a:avLst/>
          </a:prstGeom>
          <a:noFill/>
          <a:ln/>
        </p:spPr>
        <p:txBody>
          <a:bodyPr wrap="square" lIns="0" tIns="0" rIns="0" bIns="0" rtlCol="0" anchor="t"/>
          <a:lstStyle/>
          <a:p>
            <a:pPr indent="0" marL="0">
              <a:buNone/>
            </a:pPr>
            <a:r>
              <a:rPr lang="en-US" sz="1600" dirty="0">
                <a:solidFill>
                  <a:schemeClr val="bg1"/>
                </a:solidFill>
              </a:rPr>
              <a:t>MAE, RMSE, MAPE in mph on observed targets; sliced by horizon, peak / off-peak / weekend, congested / free-flow.</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Statistics that respect time</a:t>
            </a:r>
            <a:endParaRPr lang="en-US" sz="3600" dirty="0"/>
          </a:p>
        </p:txBody>
      </p:sp>
      <p:sp>
        <p:nvSpPr>
          <p:cNvPr id="3" name="card"/>
          <p:cNvSpPr/>
          <p:nvPr/>
        </p:nvSpPr>
        <p:spPr>
          <a:xfrm>
            <a:off x="548640" y="1417320"/>
            <a:ext cx="5394960" cy="4754880"/>
          </a:xfrm>
          <a:prstGeom prst="roundRect">
            <a:avLst>
              <a:gd name="adj" fmla="val 2308"/>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4" name="Text 2"/>
          <p:cNvSpPr txBox="1"/>
          <p:nvPr/>
        </p:nvSpPr>
        <p:spPr>
          <a:xfrm>
            <a:off x="868680" y="1691640"/>
            <a:ext cx="4846320" cy="320040"/>
          </a:xfrm>
          <a:prstGeom prst="rect">
            <a:avLst/>
          </a:prstGeom>
          <a:noFill/>
          <a:ln/>
        </p:spPr>
        <p:txBody>
          <a:bodyPr wrap="square" lIns="0" tIns="0" rIns="0" bIns="0" rtlCol="0" anchor="t"/>
          <a:lstStyle/>
          <a:p>
            <a:pPr indent="0" marL="0">
              <a:buNone/>
            </a:pPr>
            <a:r>
              <a:rPr lang="en-US" sz="1400" b="1" spc="300" kern="0" dirty="0">
                <a:solidFill>
                  <a:schemeClr val="accent2"/>
                </a:solidFill>
              </a:rPr>
              <a:t>DIEBOLD–MARIANO TEST</a:t>
            </a:r>
            <a:endParaRPr lang="en-US" sz="1400" dirty="0"/>
          </a:p>
        </p:txBody>
      </p:sp>
      <p:sp>
        <p:nvSpPr>
          <p:cNvPr id="5" name="Text 3"/>
          <p:cNvSpPr txBox="1"/>
          <p:nvPr/>
        </p:nvSpPr>
        <p:spPr>
          <a:xfrm>
            <a:off x="868680" y="2148840"/>
            <a:ext cx="4846320" cy="219456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bg1"/>
                </a:solidFill>
              </a:rPr>
              <a:t>Compares two models' error series hour by hour</a:t>
            </a:r>
            <a:endParaRPr lang="en-US" sz="1600" dirty="0"/>
          </a:p>
          <a:p>
            <a:pPr marL="228600" indent="-228600">
              <a:spcAft>
                <a:spcPts val="800"/>
              </a:spcAft>
              <a:buSzPct val="100000"/>
              <a:buChar char="•"/>
            </a:pPr>
            <a:r>
              <a:rPr lang="en-US" sz="1600" dirty="0">
                <a:solidFill>
                  <a:schemeClr val="bg1"/>
                </a:solidFill>
              </a:rPr>
              <a:t>Errors are autocorrelated, so the variance uses a Newey–West (HAC) estimate</a:t>
            </a:r>
            <a:endParaRPr lang="en-US" sz="1600" dirty="0"/>
          </a:p>
          <a:p>
            <a:pPr marL="228600" indent="-228600">
              <a:spcAft>
                <a:spcPts val="800"/>
              </a:spcAft>
              <a:buSzPct val="100000"/>
              <a:buChar char="•"/>
            </a:pPr>
            <a:r>
              <a:rPr lang="en-US" sz="1600" dirty="0">
                <a:solidFill>
                  <a:schemeClr val="bg1"/>
                </a:solidFill>
              </a:rPr>
              <a:t>Small-sample correction; for 3-seed models we report the worst p-value</a:t>
            </a:r>
            <a:endParaRPr lang="en-US" sz="1600" dirty="0"/>
          </a:p>
        </p:txBody>
      </p:sp>
      <p:sp>
        <p:nvSpPr>
          <p:cNvPr id="6" name="Text 4"/>
          <p:cNvSpPr txBox="1"/>
          <p:nvPr/>
        </p:nvSpPr>
        <p:spPr>
          <a:xfrm>
            <a:off x="868680" y="4251960"/>
            <a:ext cx="4846320" cy="320040"/>
          </a:xfrm>
          <a:prstGeom prst="rect">
            <a:avLst/>
          </a:prstGeom>
          <a:noFill/>
          <a:ln/>
        </p:spPr>
        <p:txBody>
          <a:bodyPr wrap="square" lIns="0" tIns="0" rIns="0" bIns="0" rtlCol="0" anchor="t"/>
          <a:lstStyle/>
          <a:p>
            <a:pPr indent="0" marL="0">
              <a:buNone/>
            </a:pPr>
            <a:r>
              <a:rPr lang="en-US" sz="1400" b="1" spc="300" kern="0" dirty="0">
                <a:solidFill>
                  <a:schemeClr val="accent3"/>
                </a:solidFill>
              </a:rPr>
              <a:t>DAY-BLOCK BOOTSTRAP</a:t>
            </a:r>
            <a:endParaRPr lang="en-US" sz="1400" dirty="0"/>
          </a:p>
        </p:txBody>
      </p:sp>
      <p:sp>
        <p:nvSpPr>
          <p:cNvPr id="7" name="Text 5"/>
          <p:cNvSpPr txBox="1"/>
          <p:nvPr/>
        </p:nvSpPr>
        <p:spPr>
          <a:xfrm>
            <a:off x="868680" y="4663440"/>
            <a:ext cx="4846320" cy="1280160"/>
          </a:xfrm>
          <a:prstGeom prst="rect">
            <a:avLst/>
          </a:prstGeom>
          <a:noFill/>
          <a:ln/>
        </p:spPr>
        <p:txBody>
          <a:bodyPr wrap="square" lIns="0" tIns="0" rIns="0" bIns="0" rtlCol="0" anchor="t"/>
          <a:lstStyle/>
          <a:p>
            <a:pPr indent="0" marL="0">
              <a:buNone/>
            </a:pPr>
            <a:r>
              <a:rPr lang="en-US" sz="1600" dirty="0">
                <a:solidFill>
                  <a:schemeClr val="bg1"/>
                </a:solidFill>
              </a:rPr>
              <a:t>Resample whole days (1,000×) for 95% intervals; paired for model differences.</a:t>
            </a:r>
            <a:endParaRPr lang="en-US" sz="1600" dirty="0"/>
          </a:p>
        </p:txBody>
      </p:sp>
      <p:graphicFrame>
        <p:nvGraphicFramePr>
          <p:cNvPr id="8" name="Chart 0" descr=""/>
          <p:cNvGraphicFramePr/>
          <p:nvPr/>
        </p:nvGraphicFramePr>
        <p:xfrm>
          <a:off x="6217920" y="1417320"/>
          <a:ext cx="5394960" cy="393192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309360" y="5486400"/>
            <a:ext cx="5303520" cy="685800"/>
          </a:xfrm>
          <a:prstGeom prst="rect">
            <a:avLst/>
          </a:prstGeom>
          <a:noFill/>
          <a:ln/>
        </p:spPr>
        <p:txBody>
          <a:bodyPr wrap="square" lIns="0" tIns="0" rIns="0" bIns="0" rtlCol="0" anchor="t"/>
          <a:lstStyle/>
          <a:p>
            <a:pPr indent="0" marL="0">
              <a:buNone/>
            </a:pPr>
            <a:r>
              <a:rPr lang="en-US" sz="1400" dirty="0">
                <a:solidFill>
                  <a:schemeClr val="bg2"/>
                </a:solidFill>
              </a:rPr>
              <a:t>Historical average 4.19 mph vs 4.16 in the DCRNN paper — an external check of our pipeline.</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7315200" cy="457200"/>
          </a:xfrm>
          <a:prstGeom prst="rect">
            <a:avLst/>
          </a:prstGeom>
          <a:noFill/>
          <a:ln/>
        </p:spPr>
        <p:txBody>
          <a:bodyPr wrap="square" lIns="0" tIns="0" rIns="0" bIns="0" rtlCol="0"/>
          <a:lstStyle/>
          <a:p>
            <a:pPr algn="l" indent="0" marL="0">
              <a:buNone/>
            </a:pPr>
            <a:r>
              <a:rPr lang="en-US" sz="1600" b="1" spc="400" kern="0" dirty="0">
                <a:solidFill>
                  <a:schemeClr val="accent2"/>
                </a:solidFill>
              </a:rPr>
              <a:t>CHAPTER 03</a:t>
            </a:r>
            <a:endParaRPr lang="en-US" sz="1600" dirty="0"/>
          </a:p>
        </p:txBody>
      </p:sp>
      <p:sp>
        <p:nvSpPr>
          <p:cNvPr id="3" name="Text 0"/>
          <p:cNvSpPr/>
          <p:nvPr>
            <p:ph idx="101" type="title" hasCustomPrompt="1"/>
          </p:nvPr>
        </p:nvSpPr>
        <p:spPr>
          <a:xfrm>
            <a:off x="731520" y="2194560"/>
            <a:ext cx="10698480" cy="1280160"/>
          </a:xfrm>
          <a:prstGeom prst="rect">
            <a:avLst/>
          </a:prstGeom>
          <a:noFill/>
          <a:ln/>
        </p:spPr>
        <p:txBody>
          <a:bodyPr wrap="square" lIns="0" tIns="0" rIns="0" bIns="0" rtlCol="0" anchor="t"/>
          <a:lstStyle/>
          <a:p>
            <a:pPr algn="l" indent="0" marL="0">
              <a:buNone/>
            </a:pPr>
            <a:r>
              <a:rPr lang="en-US" sz="5000" b="1" dirty="0">
                <a:solidFill>
                  <a:schemeClr val="bg1"/>
                </a:solidFill>
              </a:rPr>
              <a:t>Trees that read the clock</a:t>
            </a:r>
            <a:endParaRPr lang="en-US" sz="5000" dirty="0"/>
          </a:p>
        </p:txBody>
      </p:sp>
      <p:sp>
        <p:nvSpPr>
          <p:cNvPr id="4" name="Text 0"/>
          <p:cNvSpPr/>
          <p:nvPr>
            <p:ph idx="102" type="body" hasCustomPrompt="1"/>
          </p:nvPr>
        </p:nvSpPr>
        <p:spPr>
          <a:xfrm>
            <a:off x="731520" y="3520440"/>
            <a:ext cx="9601200" cy="1097280"/>
          </a:xfrm>
          <a:prstGeom prst="rect">
            <a:avLst/>
          </a:prstGeom>
          <a:noFill/>
          <a:ln/>
        </p:spPr>
        <p:txBody>
          <a:bodyPr wrap="square" lIns="0" tIns="0" rIns="0" bIns="0" rtlCol="0" anchor="t"/>
          <a:lstStyle/>
          <a:p>
            <a:pPr algn="l" indent="0" marL="0">
              <a:buNone/>
            </a:pPr>
            <a:r>
              <a:rPr lang="en-US" sz="2200" dirty="0">
                <a:solidFill>
                  <a:schemeClr val="bg2"/>
                </a:solidFill>
              </a:rPr>
              <a:t>Gradient-boosted trees with 45–59 hand-made features: how far does per-segment learning go?</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Four tree models, one recipe</a:t>
            </a:r>
            <a:endParaRPr lang="en-US" sz="3600" dirty="0"/>
          </a:p>
        </p:txBody>
      </p:sp>
      <p:sp>
        <p:nvSpPr>
          <p:cNvPr id="3" name="card"/>
          <p:cNvSpPr/>
          <p:nvPr/>
        </p:nvSpPr>
        <p:spPr>
          <a:xfrm>
            <a:off x="548640" y="1417320"/>
            <a:ext cx="4572000" cy="4754880"/>
          </a:xfrm>
          <a:prstGeom prst="roundRect">
            <a:avLst>
              <a:gd name="adj" fmla="val 24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4" name="Text 2"/>
          <p:cNvSpPr txBox="1"/>
          <p:nvPr/>
        </p:nvSpPr>
        <p:spPr>
          <a:xfrm>
            <a:off x="868680" y="1691640"/>
            <a:ext cx="4023360" cy="320040"/>
          </a:xfrm>
          <a:prstGeom prst="rect">
            <a:avLst/>
          </a:prstGeom>
          <a:noFill/>
          <a:ln/>
        </p:spPr>
        <p:txBody>
          <a:bodyPr wrap="square" lIns="0" tIns="0" rIns="0" bIns="0" rtlCol="0" anchor="t"/>
          <a:lstStyle/>
          <a:p>
            <a:pPr indent="0" marL="0">
              <a:buNone/>
            </a:pPr>
            <a:r>
              <a:rPr lang="en-US" sz="1400" b="1" spc="300" kern="0" dirty="0">
                <a:solidFill>
                  <a:schemeClr val="accent2"/>
                </a:solidFill>
              </a:rPr>
              <a:t>FEATURE RECIPE</a:t>
            </a:r>
            <a:endParaRPr lang="en-US" sz="1400" dirty="0"/>
          </a:p>
        </p:txBody>
      </p:sp>
      <p:sp>
        <p:nvSpPr>
          <p:cNvPr id="5" name="Text 3"/>
          <p:cNvSpPr txBox="1"/>
          <p:nvPr/>
        </p:nvSpPr>
        <p:spPr>
          <a:xfrm>
            <a:off x="868680" y="2148840"/>
            <a:ext cx="4023360" cy="38404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bg1"/>
                </a:solidFill>
              </a:rPr>
              <a:t>12 lags + rolling mean / std / min / max</a:t>
            </a:r>
            <a:endParaRPr lang="en-US" sz="1500" dirty="0"/>
          </a:p>
          <a:p>
            <a:pPr marL="228600" indent="-228600">
              <a:spcAft>
                <a:spcPts val="800"/>
              </a:spcAft>
              <a:buSzPct val="100000"/>
              <a:buChar char="•"/>
            </a:pPr>
            <a:r>
              <a:rPr lang="en-US" sz="1500" dirty="0">
                <a:solidFill>
                  <a:schemeClr val="bg1"/>
                </a:solidFill>
              </a:rPr>
              <a:t>Missing flags, cyclic time-of-day and day-of-week</a:t>
            </a:r>
            <a:endParaRPr lang="en-US" sz="1500" dirty="0"/>
          </a:p>
          <a:p>
            <a:pPr marL="228600" indent="-228600">
              <a:spcAft>
                <a:spcPts val="800"/>
              </a:spcAft>
              <a:buSzPct val="100000"/>
              <a:buChar char="•"/>
            </a:pPr>
            <a:r>
              <a:rPr lang="en-US" sz="1500" dirty="0">
                <a:solidFill>
                  <a:schemeClr val="bg1"/>
                </a:solidFill>
              </a:rPr>
              <a:t>Pooled: + sensor id, location, degree (50)</a:t>
            </a:r>
            <a:endParaRPr lang="en-US" sz="1500" dirty="0"/>
          </a:p>
          <a:p>
            <a:pPr marL="228600" indent="-228600">
              <a:spcAft>
                <a:spcPts val="800"/>
              </a:spcAft>
              <a:buSzPct val="100000"/>
              <a:buChar char="•"/>
            </a:pPr>
            <a:r>
              <a:rPr lang="en-US" sz="1500" dirty="0">
                <a:solidFill>
                  <a:schemeClr val="bg1"/>
                </a:solidFill>
              </a:rPr>
              <a:t>Spatial: + upstream / downstream neighbour speeds (59)</a:t>
            </a:r>
            <a:endParaRPr lang="en-US" sz="1500" dirty="0"/>
          </a:p>
          <a:p>
            <a:pPr marL="228600" indent="-228600">
              <a:spcAft>
                <a:spcPts val="800"/>
              </a:spcAft>
              <a:buSzPct val="100000"/>
              <a:buChar char="•"/>
            </a:pPr>
            <a:r>
              <a:rPr lang="en-US" sz="1500" dirty="0">
                <a:solidFill>
                  <a:schemeClr val="bg1"/>
                </a:solidFill>
              </a:rPr>
              <a:t>Optuna, 15 trials, validation only — absolute-error loss won</a:t>
            </a:r>
            <a:endParaRPr lang="en-US" sz="1500" dirty="0"/>
          </a:p>
        </p:txBody>
      </p:sp>
      <p:graphicFrame>
        <p:nvGraphicFramePr>
          <p:cNvPr id="6" name="Chart 0" descr=""/>
          <p:cNvGraphicFramePr/>
          <p:nvPr/>
        </p:nvGraphicFramePr>
        <p:xfrm>
          <a:off x="5394960" y="1417320"/>
          <a:ext cx="6217920" cy="4754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The Phase 1 scoreboard</a:t>
            </a:r>
            <a:endParaRPr lang="en-US" sz="3600" dirty="0"/>
          </a:p>
        </p:txBody>
      </p:sp>
      <p:graphicFrame>
        <p:nvGraphicFramePr>
          <p:cNvPr id="3" name="Chart 0" descr=""/>
          <p:cNvGraphicFramePr/>
          <p:nvPr/>
        </p:nvGraphicFramePr>
        <p:xfrm>
          <a:off x="548640" y="1417320"/>
          <a:ext cx="7223760" cy="475488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8046720" y="1417320"/>
            <a:ext cx="3566160" cy="1444752"/>
          </a:xfrm>
          <a:prstGeom prst="roundRect">
            <a:avLst>
              <a:gd name="adj" fmla="val 7595"/>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5" name="Text 2"/>
          <p:cNvSpPr txBox="1"/>
          <p:nvPr/>
        </p:nvSpPr>
        <p:spPr>
          <a:xfrm>
            <a:off x="8321040" y="1600200"/>
            <a:ext cx="128016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15 MIN</a:t>
            </a:r>
            <a:endParaRPr lang="en-US" sz="1400" dirty="0"/>
          </a:p>
        </p:txBody>
      </p:sp>
      <p:sp>
        <p:nvSpPr>
          <p:cNvPr id="6" name="Text 3"/>
          <p:cNvSpPr txBox="1"/>
          <p:nvPr/>
        </p:nvSpPr>
        <p:spPr>
          <a:xfrm>
            <a:off x="8321040" y="1920240"/>
            <a:ext cx="3108960" cy="640080"/>
          </a:xfrm>
          <a:prstGeom prst="rect">
            <a:avLst/>
          </a:prstGeom>
          <a:noFill/>
          <a:ln/>
        </p:spPr>
        <p:txBody>
          <a:bodyPr wrap="square" lIns="0" tIns="0" rIns="0" bIns="0" rtlCol="0" anchor="t"/>
          <a:lstStyle/>
          <a:p>
            <a:pPr indent="0" marL="0">
              <a:buNone/>
            </a:pPr>
            <a:r>
              <a:rPr lang="en-US" sz="3400" b="1" dirty="0">
                <a:solidFill>
                  <a:schemeClr val="bg1"/>
                </a:solidFill>
                <a:latin typeface="Arial" pitchFamily="34" charset="0"/>
                <a:ea typeface="Arial" pitchFamily="34" charset="-122"/>
                <a:cs typeface="Arial" pitchFamily="34" charset="-120"/>
              </a:rPr>
              <a:t>2.82 mph</a:t>
            </a:r>
            <a:endParaRPr lang="en-US" sz="3400" dirty="0"/>
          </a:p>
        </p:txBody>
      </p:sp>
      <p:sp>
        <p:nvSpPr>
          <p:cNvPr id="7" name="Text 4"/>
          <p:cNvSpPr txBox="1"/>
          <p:nvPr/>
        </p:nvSpPr>
        <p:spPr>
          <a:xfrm>
            <a:off x="8321040" y="2468880"/>
            <a:ext cx="3108960" cy="320040"/>
          </a:xfrm>
          <a:prstGeom prst="rect">
            <a:avLst/>
          </a:prstGeom>
          <a:noFill/>
          <a:ln/>
        </p:spPr>
        <p:txBody>
          <a:bodyPr wrap="square" lIns="0" tIns="0" rIns="0" bIns="0" rtlCol="0" anchor="t"/>
          <a:lstStyle/>
          <a:p>
            <a:pPr indent="0" marL="0">
              <a:buNone/>
            </a:pPr>
            <a:r>
              <a:rPr lang="en-US" sz="1300" dirty="0">
                <a:solidFill>
                  <a:schemeClr val="bg2"/>
                </a:solidFill>
              </a:rPr>
              <a:t>best tree · persistence 3.49</a:t>
            </a:r>
            <a:endParaRPr lang="en-US" sz="1300" dirty="0"/>
          </a:p>
        </p:txBody>
      </p:sp>
      <p:sp>
        <p:nvSpPr>
          <p:cNvPr id="8" name="card"/>
          <p:cNvSpPr/>
          <p:nvPr/>
        </p:nvSpPr>
        <p:spPr>
          <a:xfrm>
            <a:off x="8046720" y="3044952"/>
            <a:ext cx="3566160" cy="1444752"/>
          </a:xfrm>
          <a:prstGeom prst="roundRect">
            <a:avLst>
              <a:gd name="adj" fmla="val 7595"/>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9" name="Text 6"/>
          <p:cNvSpPr txBox="1"/>
          <p:nvPr/>
        </p:nvSpPr>
        <p:spPr>
          <a:xfrm>
            <a:off x="8321040" y="3227832"/>
            <a:ext cx="128016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30 MIN</a:t>
            </a:r>
            <a:endParaRPr lang="en-US" sz="1400" dirty="0"/>
          </a:p>
        </p:txBody>
      </p:sp>
      <p:sp>
        <p:nvSpPr>
          <p:cNvPr id="10" name="Text 7"/>
          <p:cNvSpPr txBox="1"/>
          <p:nvPr/>
        </p:nvSpPr>
        <p:spPr>
          <a:xfrm>
            <a:off x="8321040" y="3547872"/>
            <a:ext cx="3108960" cy="640080"/>
          </a:xfrm>
          <a:prstGeom prst="rect">
            <a:avLst/>
          </a:prstGeom>
          <a:noFill/>
          <a:ln/>
        </p:spPr>
        <p:txBody>
          <a:bodyPr wrap="square" lIns="0" tIns="0" rIns="0" bIns="0" rtlCol="0" anchor="t"/>
          <a:lstStyle/>
          <a:p>
            <a:pPr indent="0" marL="0">
              <a:buNone/>
            </a:pPr>
            <a:r>
              <a:rPr lang="en-US" sz="3400" b="1" dirty="0">
                <a:solidFill>
                  <a:schemeClr val="bg1"/>
                </a:solidFill>
                <a:latin typeface="Arial" pitchFamily="34" charset="0"/>
                <a:ea typeface="Arial" pitchFamily="34" charset="-122"/>
                <a:cs typeface="Arial" pitchFamily="34" charset="-120"/>
              </a:rPr>
              <a:t>3.26 mph</a:t>
            </a:r>
            <a:endParaRPr lang="en-US" sz="3400" dirty="0"/>
          </a:p>
        </p:txBody>
      </p:sp>
      <p:sp>
        <p:nvSpPr>
          <p:cNvPr id="11" name="Text 8"/>
          <p:cNvSpPr txBox="1"/>
          <p:nvPr/>
        </p:nvSpPr>
        <p:spPr>
          <a:xfrm>
            <a:off x="8321040" y="4096512"/>
            <a:ext cx="3108960" cy="320040"/>
          </a:xfrm>
          <a:prstGeom prst="rect">
            <a:avLst/>
          </a:prstGeom>
          <a:noFill/>
          <a:ln/>
        </p:spPr>
        <p:txBody>
          <a:bodyPr wrap="square" lIns="0" tIns="0" rIns="0" bIns="0" rtlCol="0" anchor="t"/>
          <a:lstStyle/>
          <a:p>
            <a:pPr indent="0" marL="0">
              <a:buNone/>
            </a:pPr>
            <a:r>
              <a:rPr lang="en-US" sz="1300" dirty="0">
                <a:solidFill>
                  <a:schemeClr val="bg2"/>
                </a:solidFill>
              </a:rPr>
              <a:t>best tree · persistence 4.20</a:t>
            </a:r>
            <a:endParaRPr lang="en-US" sz="1300" dirty="0"/>
          </a:p>
        </p:txBody>
      </p:sp>
      <p:sp>
        <p:nvSpPr>
          <p:cNvPr id="12" name="card"/>
          <p:cNvSpPr/>
          <p:nvPr/>
        </p:nvSpPr>
        <p:spPr>
          <a:xfrm>
            <a:off x="8046720" y="4672584"/>
            <a:ext cx="3566160" cy="1444752"/>
          </a:xfrm>
          <a:prstGeom prst="roundRect">
            <a:avLst>
              <a:gd name="adj" fmla="val 7595"/>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3" name="Text 10"/>
          <p:cNvSpPr txBox="1"/>
          <p:nvPr/>
        </p:nvSpPr>
        <p:spPr>
          <a:xfrm>
            <a:off x="8321040" y="4855464"/>
            <a:ext cx="128016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60 MIN</a:t>
            </a:r>
            <a:endParaRPr lang="en-US" sz="1400" dirty="0"/>
          </a:p>
        </p:txBody>
      </p:sp>
      <p:sp>
        <p:nvSpPr>
          <p:cNvPr id="14" name="Text 11"/>
          <p:cNvSpPr txBox="1"/>
          <p:nvPr/>
        </p:nvSpPr>
        <p:spPr>
          <a:xfrm>
            <a:off x="8321040" y="5175504"/>
            <a:ext cx="3108960" cy="640080"/>
          </a:xfrm>
          <a:prstGeom prst="rect">
            <a:avLst/>
          </a:prstGeom>
          <a:noFill/>
          <a:ln/>
        </p:spPr>
        <p:txBody>
          <a:bodyPr wrap="square" lIns="0" tIns="0" rIns="0" bIns="0" rtlCol="0" anchor="t"/>
          <a:lstStyle/>
          <a:p>
            <a:pPr indent="0" marL="0">
              <a:buNone/>
            </a:pPr>
            <a:r>
              <a:rPr lang="en-US" sz="3400" b="1" dirty="0">
                <a:solidFill>
                  <a:schemeClr val="bg1"/>
                </a:solidFill>
                <a:latin typeface="Arial" pitchFamily="34" charset="0"/>
                <a:ea typeface="Arial" pitchFamily="34" charset="-122"/>
                <a:cs typeface="Arial" pitchFamily="34" charset="-120"/>
              </a:rPr>
              <a:t>3.68 mph</a:t>
            </a:r>
            <a:endParaRPr lang="en-US" sz="3400" dirty="0"/>
          </a:p>
        </p:txBody>
      </p:sp>
      <p:sp>
        <p:nvSpPr>
          <p:cNvPr id="15" name="Text 12"/>
          <p:cNvSpPr txBox="1"/>
          <p:nvPr/>
        </p:nvSpPr>
        <p:spPr>
          <a:xfrm>
            <a:off x="8321040" y="5724144"/>
            <a:ext cx="3108960" cy="320040"/>
          </a:xfrm>
          <a:prstGeom prst="rect">
            <a:avLst/>
          </a:prstGeom>
          <a:noFill/>
          <a:ln/>
        </p:spPr>
        <p:txBody>
          <a:bodyPr wrap="square" lIns="0" tIns="0" rIns="0" bIns="0" rtlCol="0" anchor="t"/>
          <a:lstStyle/>
          <a:p>
            <a:pPr indent="0" marL="0">
              <a:buNone/>
            </a:pPr>
            <a:r>
              <a:rPr lang="en-US" sz="1300" dirty="0">
                <a:solidFill>
                  <a:schemeClr val="bg2"/>
                </a:solidFill>
              </a:rPr>
              <a:t>best tree · persistence 5.37</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Do neighbours help the trees?</a:t>
            </a:r>
            <a:endParaRPr lang="en-US" sz="3600" dirty="0"/>
          </a:p>
        </p:txBody>
      </p:sp>
      <p:graphicFrame>
        <p:nvGraphicFramePr>
          <p:cNvPr id="3" name="Chart 0" descr=""/>
          <p:cNvGraphicFramePr/>
          <p:nvPr/>
        </p:nvGraphicFramePr>
        <p:xfrm>
          <a:off x="548640" y="141732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7772400" y="1417320"/>
            <a:ext cx="3840480" cy="1828800"/>
          </a:xfrm>
          <a:prstGeom prst="roundRect">
            <a:avLst>
              <a:gd name="adj" fmla="val 60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5" name="Text 2"/>
          <p:cNvSpPr txBox="1"/>
          <p:nvPr/>
        </p:nvSpPr>
        <p:spPr>
          <a:xfrm>
            <a:off x="8046720" y="1645920"/>
            <a:ext cx="3291840" cy="91440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+0.56 mph</a:t>
            </a:r>
            <a:endParaRPr lang="en-US" sz="4000" dirty="0"/>
          </a:p>
        </p:txBody>
      </p:sp>
      <p:sp>
        <p:nvSpPr>
          <p:cNvPr id="6" name="Text 3"/>
          <p:cNvSpPr txBox="1"/>
          <p:nvPr/>
        </p:nvSpPr>
        <p:spPr>
          <a:xfrm>
            <a:off x="8046720" y="2560320"/>
            <a:ext cx="3291840" cy="594360"/>
          </a:xfrm>
          <a:prstGeom prst="rect">
            <a:avLst/>
          </a:prstGeom>
          <a:noFill/>
          <a:ln/>
        </p:spPr>
        <p:txBody>
          <a:bodyPr wrap="square" lIns="0" tIns="0" rIns="0" bIns="0" rtlCol="0" anchor="t"/>
          <a:lstStyle/>
          <a:p>
            <a:pPr indent="0" marL="0">
              <a:buNone/>
            </a:pPr>
            <a:r>
              <a:rPr lang="en-US" sz="1400" dirty="0">
                <a:solidFill>
                  <a:schemeClr val="bg2"/>
                </a:solidFill>
              </a:rPr>
              <a:t>gain in congestion at 30 min — 3–4× the overall gain</a:t>
            </a:r>
            <a:endParaRPr lang="en-US" sz="1400" dirty="0"/>
          </a:p>
        </p:txBody>
      </p:sp>
      <p:sp>
        <p:nvSpPr>
          <p:cNvPr id="7" name="card"/>
          <p:cNvSpPr/>
          <p:nvPr/>
        </p:nvSpPr>
        <p:spPr>
          <a:xfrm>
            <a:off x="7772400" y="3429000"/>
            <a:ext cx="3840480" cy="2743200"/>
          </a:xfrm>
          <a:prstGeom prst="roundRect">
            <a:avLst>
              <a:gd name="adj" fmla="val 40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8" name="Text 5"/>
          <p:cNvSpPr txBox="1"/>
          <p:nvPr/>
        </p:nvSpPr>
        <p:spPr>
          <a:xfrm>
            <a:off x="8046720" y="3657600"/>
            <a:ext cx="3383280" cy="23774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bg1"/>
                </a:solidFill>
              </a:rPr>
              <a:t>Significant in almost every slice (DM test, paired bootstrap)</a:t>
            </a:r>
            <a:endParaRPr lang="en-US" sz="1500" dirty="0"/>
          </a:p>
          <a:p>
            <a:pPr marL="228600" indent="-228600">
              <a:spcAft>
                <a:spcPts val="800"/>
              </a:spcAft>
              <a:buSzPct val="100000"/>
              <a:buChar char="•"/>
            </a:pPr>
            <a:r>
              <a:rPr lang="en-US" sz="1500" dirty="0">
                <a:solidFill>
                  <a:schemeClr val="bg1"/>
                </a:solidFill>
              </a:rPr>
              <a:t>Biggest at peaks and in jams — as the hypothesis predicts</a:t>
            </a:r>
            <a:endParaRPr lang="en-US" sz="1500" dirty="0"/>
          </a:p>
          <a:p>
            <a:pPr marL="228600" indent="-228600">
              <a:spcAft>
                <a:spcPts val="800"/>
              </a:spcAft>
              <a:buSzPct val="100000"/>
              <a:buChar char="•"/>
            </a:pPr>
            <a:r>
              <a:rPr lang="en-US" sz="1500" b="1" dirty="0">
                <a:solidFill>
                  <a:schemeClr val="accent2"/>
                </a:solidFill>
              </a:rPr>
              <a:t>But the gain does not grow with horizon</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What the trees actually look at</a:t>
            </a:r>
            <a:endParaRPr lang="en-US" sz="3600" dirty="0"/>
          </a:p>
        </p:txBody>
      </p:sp>
      <p:sp>
        <p:nvSpPr>
          <p:cNvPr id="3" name="figure frame"/>
          <p:cNvSpPr/>
          <p:nvPr/>
        </p:nvSpPr>
        <p:spPr>
          <a:xfrm>
            <a:off x="548640" y="1417320"/>
            <a:ext cx="5074920" cy="4754880"/>
          </a:xfrm>
          <a:prstGeom prst="roundRect">
            <a:avLst>
              <a:gd name="adj" fmla="val 1923"/>
            </a:avLst>
          </a:prstGeom>
          <a:solidFill>
            <a:schemeClr val="bg1"/>
          </a:solidFill>
          <a:ln w="12700">
            <a:solidFill>
              <a:schemeClr val="bg1">
                <a:alpha val="0"/>
              </a:schemeClr>
            </a:solidFill>
            <a:prstDash val="solid"/>
          </a:ln>
          <a:effectLst>
            <a:outerShdw sx="100000" sy="100000" kx="0" ky="0" algn="bl" rotWithShape="0" blurRad="177800" dist="38100" dir="5400000">
              <a:srgbClr val="000000">
                <a:alpha val="45000"/>
              </a:srgbClr>
            </a:outerShdw>
          </a:effectLst>
        </p:spPr>
      </p:sp>
      <p:pic>
        <p:nvPicPr>
          <p:cNvPr id="4" name="Image 0" descr="ml shap xgb spatial h12">    </p:cNvPr>
          <p:cNvPicPr>
            <a:picLocks noChangeAspect="1"/>
          </p:cNvPicPr>
          <p:nvPr/>
        </p:nvPicPr>
        <p:blipFill>
          <a:blip r:embed="rId1"/>
          <a:stretch>
            <a:fillRect/>
          </a:stretch>
        </p:blipFill>
        <p:spPr>
          <a:xfrm>
            <a:off x="667207" y="1527048"/>
            <a:ext cx="4837786" cy="4535424"/>
          </a:xfrm>
          <a:prstGeom prst="rect">
            <a:avLst/>
          </a:prstGeom>
        </p:spPr>
      </p:pic>
      <p:sp>
        <p:nvSpPr>
          <p:cNvPr id="5" name="card"/>
          <p:cNvSpPr/>
          <p:nvPr/>
        </p:nvSpPr>
        <p:spPr>
          <a:xfrm>
            <a:off x="5897880" y="1417320"/>
            <a:ext cx="5715000" cy="4754880"/>
          </a:xfrm>
          <a:prstGeom prst="roundRect">
            <a:avLst>
              <a:gd name="adj" fmla="val 2308"/>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6" name="Text 3"/>
          <p:cNvSpPr txBox="1"/>
          <p:nvPr/>
        </p:nvSpPr>
        <p:spPr>
          <a:xfrm>
            <a:off x="6217920" y="1691640"/>
            <a:ext cx="5120640" cy="320040"/>
          </a:xfrm>
          <a:prstGeom prst="rect">
            <a:avLst/>
          </a:prstGeom>
          <a:noFill/>
          <a:ln/>
        </p:spPr>
        <p:txBody>
          <a:bodyPr wrap="square" lIns="0" tIns="0" rIns="0" bIns="0" rtlCol="0" anchor="t"/>
          <a:lstStyle/>
          <a:p>
            <a:pPr indent="0" marL="0">
              <a:buNone/>
            </a:pPr>
            <a:r>
              <a:rPr lang="en-US" sz="1400" b="1" spc="300" kern="0" dirty="0">
                <a:solidFill>
                  <a:schemeClr val="accent2"/>
                </a:solidFill>
              </a:rPr>
              <a:t>TREESHAP, 5,000 TEST ROWS</a:t>
            </a:r>
            <a:endParaRPr lang="en-US" sz="1400" dirty="0"/>
          </a:p>
        </p:txBody>
      </p:sp>
      <p:sp>
        <p:nvSpPr>
          <p:cNvPr id="7" name="Text 4"/>
          <p:cNvSpPr txBox="1"/>
          <p:nvPr/>
        </p:nvSpPr>
        <p:spPr>
          <a:xfrm>
            <a:off x="6217920" y="2148840"/>
            <a:ext cx="5120640" cy="38404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bg1"/>
                </a:solidFill>
              </a:rPr>
              <a:t>15 min: the last half-hour average and the latest speed dominate</a:t>
            </a:r>
            <a:endParaRPr lang="en-US" sz="1600" dirty="0"/>
          </a:p>
          <a:p>
            <a:pPr marL="228600" indent="-228600">
              <a:spcAft>
                <a:spcPts val="800"/>
              </a:spcAft>
              <a:buSzPct val="100000"/>
              <a:buChar char="•"/>
            </a:pPr>
            <a:r>
              <a:rPr lang="en-US" sz="1600" dirty="0">
                <a:solidFill>
                  <a:schemeClr val="bg1"/>
                </a:solidFill>
              </a:rPr>
              <a:t>60 min: sensor identity and time of day take over</a:t>
            </a:r>
            <a:endParaRPr lang="en-US" sz="1600" dirty="0"/>
          </a:p>
          <a:p>
            <a:pPr marL="228600" indent="-228600">
              <a:spcAft>
                <a:spcPts val="800"/>
              </a:spcAft>
              <a:buSzPct val="100000"/>
              <a:buChar char="•"/>
            </a:pPr>
            <a:r>
              <a:rPr lang="en-US" sz="1600" dirty="0">
                <a:solidFill>
                  <a:schemeClr val="bg1"/>
                </a:solidFill>
              </a:rPr>
              <a:t>Neighbour speeds appear in the top features, but never dominate</a:t>
            </a:r>
            <a:endParaRPr lang="en-US" sz="1600" dirty="0"/>
          </a:p>
          <a:p>
            <a:pPr marL="228600" indent="-228600">
              <a:spcAft>
                <a:spcPts val="800"/>
              </a:spcAft>
              <a:buSzPct val="100000"/>
              <a:buChar char="•"/>
            </a:pPr>
            <a:r>
              <a:rPr lang="en-US" sz="1600" dirty="0">
                <a:solidFill>
                  <a:schemeClr val="bg1"/>
                </a:solidFill>
              </a:rPr>
              <a:t>Same-time-yesterday lag adds nothing (2.879 vs 2.880 mph)</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What Phase 1 taught us</a:t>
            </a:r>
            <a:endParaRPr lang="en-US" sz="3600" dirty="0"/>
          </a:p>
        </p:txBody>
      </p:sp>
      <p:sp>
        <p:nvSpPr>
          <p:cNvPr id="3" name="card"/>
          <p:cNvSpPr/>
          <p:nvPr/>
        </p:nvSpPr>
        <p:spPr>
          <a:xfrm>
            <a:off x="548640" y="1371600"/>
            <a:ext cx="11064240" cy="850392"/>
          </a:xfrm>
          <a:prstGeom prst="roundRect">
            <a:avLst>
              <a:gd name="adj" fmla="val 12903"/>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4" name="Shape 2"/>
          <p:cNvSpPr/>
          <p:nvPr/>
        </p:nvSpPr>
        <p:spPr>
          <a:xfrm>
            <a:off x="777240" y="1499616"/>
            <a:ext cx="594360" cy="594360"/>
          </a:xfrm>
          <a:prstGeom prst="ellipse">
            <a:avLst/>
          </a:prstGeom>
          <a:solidFill>
            <a:schemeClr val="accent2"/>
          </a:solidFill>
          <a:ln w="12700">
            <a:solidFill>
              <a:schemeClr val="accent2">
                <a:alpha val="0"/>
              </a:schemeClr>
            </a:solidFill>
            <a:prstDash val="solid"/>
          </a:ln>
        </p:spPr>
      </p:sp>
      <p:sp>
        <p:nvSpPr>
          <p:cNvPr id="5" name="Text 3"/>
          <p:cNvSpPr txBox="1"/>
          <p:nvPr/>
        </p:nvSpPr>
        <p:spPr>
          <a:xfrm>
            <a:off x="777240" y="1499616"/>
            <a:ext cx="594360" cy="594360"/>
          </a:xfrm>
          <a:prstGeom prst="rect">
            <a:avLst/>
          </a:prstGeom>
          <a:noFill/>
          <a:ln/>
        </p:spPr>
        <p:txBody>
          <a:bodyPr wrap="square" lIns="0" tIns="0" rIns="0" bIns="0" rtlCol="0" anchor="ctr"/>
          <a:lstStyle/>
          <a:p>
            <a:pPr algn="ctr" indent="0" marL="0">
              <a:buNone/>
            </a:pPr>
            <a:r>
              <a:rPr lang="en-US" sz="1500" b="1" dirty="0">
                <a:solidFill>
                  <a:srgbClr val="0A0F1E"/>
                </a:solidFill>
              </a:rPr>
              <a:t>01</a:t>
            </a:r>
            <a:endParaRPr lang="en-US" sz="1500" dirty="0"/>
          </a:p>
        </p:txBody>
      </p:sp>
      <p:sp>
        <p:nvSpPr>
          <p:cNvPr id="6" name="Text 4"/>
          <p:cNvSpPr txBox="1"/>
          <p:nvPr/>
        </p:nvSpPr>
        <p:spPr>
          <a:xfrm>
            <a:off x="1645920" y="1463040"/>
            <a:ext cx="4023360" cy="667512"/>
          </a:xfrm>
          <a:prstGeom prst="rect">
            <a:avLst/>
          </a:prstGeom>
          <a:noFill/>
          <a:ln/>
        </p:spPr>
        <p:txBody>
          <a:bodyPr wrap="square" lIns="0" tIns="0" rIns="0" bIns="0" rtlCol="0" anchor="ctr"/>
          <a:lstStyle/>
          <a:p>
            <a:pPr indent="0" marL="0">
              <a:buNone/>
            </a:pPr>
            <a:r>
              <a:rPr lang="en-US" sz="1800" b="1" dirty="0">
                <a:solidFill>
                  <a:schemeClr val="bg1"/>
                </a:solidFill>
              </a:rPr>
              <a:t>Leak-free or it doesn't count</a:t>
            </a:r>
            <a:endParaRPr lang="en-US" sz="1800" dirty="0"/>
          </a:p>
        </p:txBody>
      </p:sp>
      <p:sp>
        <p:nvSpPr>
          <p:cNvPr id="7" name="Text 5"/>
          <p:cNvSpPr txBox="1"/>
          <p:nvPr/>
        </p:nvSpPr>
        <p:spPr>
          <a:xfrm>
            <a:off x="5760720" y="1463040"/>
            <a:ext cx="5669280" cy="667512"/>
          </a:xfrm>
          <a:prstGeom prst="rect">
            <a:avLst/>
          </a:prstGeom>
          <a:noFill/>
          <a:ln/>
        </p:spPr>
        <p:txBody>
          <a:bodyPr wrap="square" lIns="0" tIns="0" rIns="0" bIns="0" rtlCol="0" anchor="ctr"/>
          <a:lstStyle/>
          <a:p>
            <a:pPr indent="0" marL="0">
              <a:buNone/>
            </a:pPr>
            <a:r>
              <a:rPr lang="en-US" sz="1500" dirty="0">
                <a:solidFill>
                  <a:schemeClr val="bg2"/>
                </a:solidFill>
              </a:rPr>
              <a:t>Chronological splits, train-only statistics and masked metrics — the leakage alarm never fired.</a:t>
            </a:r>
            <a:endParaRPr lang="en-US" sz="1500" dirty="0"/>
          </a:p>
        </p:txBody>
      </p:sp>
      <p:sp>
        <p:nvSpPr>
          <p:cNvPr id="8" name="card"/>
          <p:cNvSpPr/>
          <p:nvPr/>
        </p:nvSpPr>
        <p:spPr>
          <a:xfrm>
            <a:off x="548640" y="2350008"/>
            <a:ext cx="11064240" cy="850392"/>
          </a:xfrm>
          <a:prstGeom prst="roundRect">
            <a:avLst>
              <a:gd name="adj" fmla="val 12903"/>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9" name="Shape 7"/>
          <p:cNvSpPr/>
          <p:nvPr/>
        </p:nvSpPr>
        <p:spPr>
          <a:xfrm>
            <a:off x="777240" y="2478024"/>
            <a:ext cx="594360" cy="594360"/>
          </a:xfrm>
          <a:prstGeom prst="ellipse">
            <a:avLst/>
          </a:prstGeom>
          <a:solidFill>
            <a:schemeClr val="accent3"/>
          </a:solidFill>
          <a:ln w="12700">
            <a:solidFill>
              <a:schemeClr val="accent3">
                <a:alpha val="0"/>
              </a:schemeClr>
            </a:solidFill>
            <a:prstDash val="solid"/>
          </a:ln>
        </p:spPr>
      </p:sp>
      <p:sp>
        <p:nvSpPr>
          <p:cNvPr id="10" name="Text 8"/>
          <p:cNvSpPr txBox="1"/>
          <p:nvPr/>
        </p:nvSpPr>
        <p:spPr>
          <a:xfrm>
            <a:off x="777240" y="2478024"/>
            <a:ext cx="594360" cy="594360"/>
          </a:xfrm>
          <a:prstGeom prst="rect">
            <a:avLst/>
          </a:prstGeom>
          <a:noFill/>
          <a:ln/>
        </p:spPr>
        <p:txBody>
          <a:bodyPr wrap="square" lIns="0" tIns="0" rIns="0" bIns="0" rtlCol="0" anchor="ctr"/>
          <a:lstStyle/>
          <a:p>
            <a:pPr algn="ctr" indent="0" marL="0">
              <a:buNone/>
            </a:pPr>
            <a:r>
              <a:rPr lang="en-US" sz="1500" b="1" dirty="0">
                <a:solidFill>
                  <a:srgbClr val="0A0F1E"/>
                </a:solidFill>
              </a:rPr>
              <a:t>02</a:t>
            </a:r>
            <a:endParaRPr lang="en-US" sz="1500" dirty="0"/>
          </a:p>
        </p:txBody>
      </p:sp>
      <p:sp>
        <p:nvSpPr>
          <p:cNvPr id="11" name="Text 9"/>
          <p:cNvSpPr txBox="1"/>
          <p:nvPr/>
        </p:nvSpPr>
        <p:spPr>
          <a:xfrm>
            <a:off x="1645920" y="2441448"/>
            <a:ext cx="4023360" cy="667512"/>
          </a:xfrm>
          <a:prstGeom prst="rect">
            <a:avLst/>
          </a:prstGeom>
          <a:noFill/>
          <a:ln/>
        </p:spPr>
        <p:txBody>
          <a:bodyPr wrap="square" lIns="0" tIns="0" rIns="0" bIns="0" rtlCol="0" anchor="ctr"/>
          <a:lstStyle/>
          <a:p>
            <a:pPr indent="0" marL="0">
              <a:buNone/>
            </a:pPr>
            <a:r>
              <a:rPr lang="en-US" sz="1800" b="1" dirty="0">
                <a:solidFill>
                  <a:schemeClr val="bg1"/>
                </a:solidFill>
              </a:rPr>
              <a:t>Trees are a strong baseline</a:t>
            </a:r>
            <a:endParaRPr lang="en-US" sz="1800" dirty="0"/>
          </a:p>
        </p:txBody>
      </p:sp>
      <p:sp>
        <p:nvSpPr>
          <p:cNvPr id="12" name="Text 10"/>
          <p:cNvSpPr txBox="1"/>
          <p:nvPr/>
        </p:nvSpPr>
        <p:spPr>
          <a:xfrm>
            <a:off x="5760720" y="2441448"/>
            <a:ext cx="5669280" cy="667512"/>
          </a:xfrm>
          <a:prstGeom prst="rect">
            <a:avLst/>
          </a:prstGeom>
          <a:noFill/>
          <a:ln/>
        </p:spPr>
        <p:txBody>
          <a:bodyPr wrap="square" lIns="0" tIns="0" rIns="0" bIns="0" rtlCol="0" anchor="ctr"/>
          <a:lstStyle/>
          <a:p>
            <a:pPr indent="0" marL="0">
              <a:buNone/>
            </a:pPr>
            <a:r>
              <a:rPr lang="en-US" sz="1500" dirty="0">
                <a:solidFill>
                  <a:schemeClr val="bg2"/>
                </a:solidFill>
              </a:rPr>
              <a:t>Every tree beats persistence; best 2.82 · 3.26 · 3.68 mph at 15/30/60 min.</a:t>
            </a:r>
            <a:endParaRPr lang="en-US" sz="1500" dirty="0"/>
          </a:p>
        </p:txBody>
      </p:sp>
      <p:sp>
        <p:nvSpPr>
          <p:cNvPr id="13" name="card"/>
          <p:cNvSpPr/>
          <p:nvPr/>
        </p:nvSpPr>
        <p:spPr>
          <a:xfrm>
            <a:off x="548640" y="3328416"/>
            <a:ext cx="11064240" cy="850392"/>
          </a:xfrm>
          <a:prstGeom prst="roundRect">
            <a:avLst>
              <a:gd name="adj" fmla="val 12903"/>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4" name="Shape 12"/>
          <p:cNvSpPr/>
          <p:nvPr/>
        </p:nvSpPr>
        <p:spPr>
          <a:xfrm>
            <a:off x="777240" y="3456432"/>
            <a:ext cx="594360" cy="594360"/>
          </a:xfrm>
          <a:prstGeom prst="ellipse">
            <a:avLst/>
          </a:prstGeom>
          <a:solidFill>
            <a:schemeClr val="accent1"/>
          </a:solidFill>
          <a:ln w="12700">
            <a:solidFill>
              <a:schemeClr val="accent1">
                <a:alpha val="0"/>
              </a:schemeClr>
            </a:solidFill>
            <a:prstDash val="solid"/>
          </a:ln>
        </p:spPr>
      </p:sp>
      <p:sp>
        <p:nvSpPr>
          <p:cNvPr id="15" name="Text 13"/>
          <p:cNvSpPr txBox="1"/>
          <p:nvPr/>
        </p:nvSpPr>
        <p:spPr>
          <a:xfrm>
            <a:off x="777240" y="3456432"/>
            <a:ext cx="594360" cy="594360"/>
          </a:xfrm>
          <a:prstGeom prst="rect">
            <a:avLst/>
          </a:prstGeom>
          <a:noFill/>
          <a:ln/>
        </p:spPr>
        <p:txBody>
          <a:bodyPr wrap="square" lIns="0" tIns="0" rIns="0" bIns="0" rtlCol="0" anchor="ctr"/>
          <a:lstStyle/>
          <a:p>
            <a:pPr algn="ctr" indent="0" marL="0">
              <a:buNone/>
            </a:pPr>
            <a:r>
              <a:rPr lang="en-US" sz="1500" b="1" dirty="0">
                <a:solidFill>
                  <a:srgbClr val="0A0F1E"/>
                </a:solidFill>
              </a:rPr>
              <a:t>03</a:t>
            </a:r>
            <a:endParaRPr lang="en-US" sz="1500" dirty="0"/>
          </a:p>
        </p:txBody>
      </p:sp>
      <p:sp>
        <p:nvSpPr>
          <p:cNvPr id="16" name="Text 14"/>
          <p:cNvSpPr txBox="1"/>
          <p:nvPr/>
        </p:nvSpPr>
        <p:spPr>
          <a:xfrm>
            <a:off x="1645920" y="3419856"/>
            <a:ext cx="4023360" cy="667512"/>
          </a:xfrm>
          <a:prstGeom prst="rect">
            <a:avLst/>
          </a:prstGeom>
          <a:noFill/>
          <a:ln/>
        </p:spPr>
        <p:txBody>
          <a:bodyPr wrap="square" lIns="0" tIns="0" rIns="0" bIns="0" rtlCol="0" anchor="ctr"/>
          <a:lstStyle/>
          <a:p>
            <a:pPr indent="0" marL="0">
              <a:buNone/>
            </a:pPr>
            <a:r>
              <a:rPr lang="en-US" sz="1800" b="1" dirty="0">
                <a:solidFill>
                  <a:schemeClr val="bg1"/>
                </a:solidFill>
              </a:rPr>
              <a:t>Neighbours help where it hurts</a:t>
            </a:r>
            <a:endParaRPr lang="en-US" sz="1800" dirty="0"/>
          </a:p>
        </p:txBody>
      </p:sp>
      <p:sp>
        <p:nvSpPr>
          <p:cNvPr id="17" name="Text 15"/>
          <p:cNvSpPr txBox="1"/>
          <p:nvPr/>
        </p:nvSpPr>
        <p:spPr>
          <a:xfrm>
            <a:off x="5760720" y="3419856"/>
            <a:ext cx="5669280" cy="667512"/>
          </a:xfrm>
          <a:prstGeom prst="rect">
            <a:avLst/>
          </a:prstGeom>
          <a:noFill/>
          <a:ln/>
        </p:spPr>
        <p:txBody>
          <a:bodyPr wrap="square" lIns="0" tIns="0" rIns="0" bIns="0" rtlCol="0" anchor="ctr"/>
          <a:lstStyle/>
          <a:p>
            <a:pPr indent="0" marL="0">
              <a:buNone/>
            </a:pPr>
            <a:r>
              <a:rPr lang="en-US" sz="1500" dirty="0">
                <a:solidFill>
                  <a:schemeClr val="bg2"/>
                </a:solidFill>
              </a:rPr>
              <a:t>Neighbour features pay off at peaks and in jams — not more at longer horizons.</a:t>
            </a:r>
            <a:endParaRPr lang="en-US" sz="1500" dirty="0"/>
          </a:p>
        </p:txBody>
      </p:sp>
      <p:sp>
        <p:nvSpPr>
          <p:cNvPr id="18" name="card"/>
          <p:cNvSpPr/>
          <p:nvPr/>
        </p:nvSpPr>
        <p:spPr>
          <a:xfrm>
            <a:off x="548640" y="4306824"/>
            <a:ext cx="11064240" cy="850392"/>
          </a:xfrm>
          <a:prstGeom prst="roundRect">
            <a:avLst>
              <a:gd name="adj" fmla="val 12903"/>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9" name="Shape 17"/>
          <p:cNvSpPr/>
          <p:nvPr/>
        </p:nvSpPr>
        <p:spPr>
          <a:xfrm>
            <a:off x="777240" y="4434840"/>
            <a:ext cx="594360" cy="594360"/>
          </a:xfrm>
          <a:prstGeom prst="ellipse">
            <a:avLst/>
          </a:prstGeom>
          <a:solidFill>
            <a:schemeClr val="accent4"/>
          </a:solidFill>
          <a:ln w="12700">
            <a:solidFill>
              <a:schemeClr val="accent4">
                <a:alpha val="0"/>
              </a:schemeClr>
            </a:solidFill>
            <a:prstDash val="solid"/>
          </a:ln>
        </p:spPr>
      </p:sp>
      <p:sp>
        <p:nvSpPr>
          <p:cNvPr id="20" name="Text 18"/>
          <p:cNvSpPr txBox="1"/>
          <p:nvPr/>
        </p:nvSpPr>
        <p:spPr>
          <a:xfrm>
            <a:off x="777240" y="4434840"/>
            <a:ext cx="594360" cy="594360"/>
          </a:xfrm>
          <a:prstGeom prst="rect">
            <a:avLst/>
          </a:prstGeom>
          <a:noFill/>
          <a:ln/>
        </p:spPr>
        <p:txBody>
          <a:bodyPr wrap="square" lIns="0" tIns="0" rIns="0" bIns="0" rtlCol="0" anchor="ctr"/>
          <a:lstStyle/>
          <a:p>
            <a:pPr algn="ctr" indent="0" marL="0">
              <a:buNone/>
            </a:pPr>
            <a:r>
              <a:rPr lang="en-US" sz="1500" b="1" dirty="0">
                <a:solidFill>
                  <a:srgbClr val="0A0F1E"/>
                </a:solidFill>
              </a:rPr>
              <a:t>04</a:t>
            </a:r>
            <a:endParaRPr lang="en-US" sz="1500" dirty="0"/>
          </a:p>
        </p:txBody>
      </p:sp>
      <p:sp>
        <p:nvSpPr>
          <p:cNvPr id="21" name="Text 19"/>
          <p:cNvSpPr txBox="1"/>
          <p:nvPr/>
        </p:nvSpPr>
        <p:spPr>
          <a:xfrm>
            <a:off x="1645920" y="4398264"/>
            <a:ext cx="4023360" cy="667512"/>
          </a:xfrm>
          <a:prstGeom prst="rect">
            <a:avLst/>
          </a:prstGeom>
          <a:noFill/>
          <a:ln/>
        </p:spPr>
        <p:txBody>
          <a:bodyPr wrap="square" lIns="0" tIns="0" rIns="0" bIns="0" rtlCol="0" anchor="ctr"/>
          <a:lstStyle/>
          <a:p>
            <a:pPr indent="0" marL="0">
              <a:buNone/>
            </a:pPr>
            <a:r>
              <a:rPr lang="en-US" sz="1800" b="1" dirty="0">
                <a:solidFill>
                  <a:schemeClr val="bg1"/>
                </a:solidFill>
              </a:rPr>
              <a:t>Time and identity dominate</a:t>
            </a:r>
            <a:endParaRPr lang="en-US" sz="1800" dirty="0"/>
          </a:p>
        </p:txBody>
      </p:sp>
      <p:sp>
        <p:nvSpPr>
          <p:cNvPr id="22" name="Text 20"/>
          <p:cNvSpPr txBox="1"/>
          <p:nvPr/>
        </p:nvSpPr>
        <p:spPr>
          <a:xfrm>
            <a:off x="5760720" y="4398264"/>
            <a:ext cx="5669280" cy="667512"/>
          </a:xfrm>
          <a:prstGeom prst="rect">
            <a:avLst/>
          </a:prstGeom>
          <a:noFill/>
          <a:ln/>
        </p:spPr>
        <p:txBody>
          <a:bodyPr wrap="square" lIns="0" tIns="0" rIns="0" bIns="0" rtlCol="0" anchor="ctr"/>
          <a:lstStyle/>
          <a:p>
            <a:pPr indent="0" marL="0">
              <a:buNone/>
            </a:pPr>
            <a:r>
              <a:rPr lang="en-US" sz="1500" dirty="0">
                <a:solidFill>
                  <a:schemeClr val="bg2"/>
                </a:solidFill>
              </a:rPr>
              <a:t>At an hour ahead the trees mostly use the sensor and the clock; neighbours are a supporting actor.</a:t>
            </a:r>
            <a:endParaRPr lang="en-US" sz="1500" dirty="0"/>
          </a:p>
        </p:txBody>
      </p:sp>
      <p:sp>
        <p:nvSpPr>
          <p:cNvPr id="23" name="card"/>
          <p:cNvSpPr/>
          <p:nvPr/>
        </p:nvSpPr>
        <p:spPr>
          <a:xfrm>
            <a:off x="548640" y="5285232"/>
            <a:ext cx="11064240" cy="850392"/>
          </a:xfrm>
          <a:prstGeom prst="roundRect">
            <a:avLst>
              <a:gd name="adj" fmla="val 12903"/>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24" name="Shape 22"/>
          <p:cNvSpPr/>
          <p:nvPr/>
        </p:nvSpPr>
        <p:spPr>
          <a:xfrm>
            <a:off x="777240" y="5413248"/>
            <a:ext cx="594360" cy="594360"/>
          </a:xfrm>
          <a:prstGeom prst="ellipse">
            <a:avLst/>
          </a:prstGeom>
          <a:solidFill>
            <a:schemeClr val="accent5"/>
          </a:solidFill>
          <a:ln w="12700">
            <a:solidFill>
              <a:schemeClr val="accent5">
                <a:alpha val="0"/>
              </a:schemeClr>
            </a:solidFill>
            <a:prstDash val="solid"/>
          </a:ln>
        </p:spPr>
      </p:sp>
      <p:sp>
        <p:nvSpPr>
          <p:cNvPr id="25" name="Text 23"/>
          <p:cNvSpPr txBox="1"/>
          <p:nvPr/>
        </p:nvSpPr>
        <p:spPr>
          <a:xfrm>
            <a:off x="777240" y="5413248"/>
            <a:ext cx="594360" cy="594360"/>
          </a:xfrm>
          <a:prstGeom prst="rect">
            <a:avLst/>
          </a:prstGeom>
          <a:noFill/>
          <a:ln/>
        </p:spPr>
        <p:txBody>
          <a:bodyPr wrap="square" lIns="0" tIns="0" rIns="0" bIns="0" rtlCol="0" anchor="ctr"/>
          <a:lstStyle/>
          <a:p>
            <a:pPr algn="ctr" indent="0" marL="0">
              <a:buNone/>
            </a:pPr>
            <a:r>
              <a:rPr lang="en-US" sz="1500" b="1" dirty="0">
                <a:solidFill>
                  <a:srgbClr val="0A0F1E"/>
                </a:solidFill>
              </a:rPr>
              <a:t>05</a:t>
            </a:r>
            <a:endParaRPr lang="en-US" sz="1500" dirty="0"/>
          </a:p>
        </p:txBody>
      </p:sp>
      <p:sp>
        <p:nvSpPr>
          <p:cNvPr id="26" name="Text 24"/>
          <p:cNvSpPr txBox="1"/>
          <p:nvPr/>
        </p:nvSpPr>
        <p:spPr>
          <a:xfrm>
            <a:off x="1645920" y="5376672"/>
            <a:ext cx="4023360" cy="667512"/>
          </a:xfrm>
          <a:prstGeom prst="rect">
            <a:avLst/>
          </a:prstGeom>
          <a:noFill/>
          <a:ln/>
        </p:spPr>
        <p:txBody>
          <a:bodyPr wrap="square" lIns="0" tIns="0" rIns="0" bIns="0" rtlCol="0" anchor="ctr"/>
          <a:lstStyle/>
          <a:p>
            <a:pPr indent="0" marL="0">
              <a:buNone/>
            </a:pPr>
            <a:r>
              <a:rPr lang="en-US" sz="1800" b="1" dirty="0">
                <a:solidFill>
                  <a:schemeClr val="bg1"/>
                </a:solidFill>
              </a:rPr>
              <a:t>Evidence for the graph is modest</a:t>
            </a:r>
            <a:endParaRPr lang="en-US" sz="1800" dirty="0"/>
          </a:p>
        </p:txBody>
      </p:sp>
      <p:sp>
        <p:nvSpPr>
          <p:cNvPr id="27" name="Text 25"/>
          <p:cNvSpPr txBox="1"/>
          <p:nvPr/>
        </p:nvSpPr>
        <p:spPr>
          <a:xfrm>
            <a:off x="5760720" y="5376672"/>
            <a:ext cx="5669280" cy="667512"/>
          </a:xfrm>
          <a:prstGeom prst="rect">
            <a:avLst/>
          </a:prstGeom>
          <a:noFill/>
          <a:ln/>
        </p:spPr>
        <p:txBody>
          <a:bodyPr wrap="square" lIns="0" tIns="0" rIns="0" bIns="0" rtlCol="0" anchor="ctr"/>
          <a:lstStyle/>
          <a:p>
            <a:pPr indent="0" marL="0">
              <a:buNone/>
            </a:pPr>
            <a:r>
              <a:rPr lang="en-US" sz="1500" dirty="0">
                <a:solidFill>
                  <a:schemeClr val="bg2"/>
                </a:solidFill>
              </a:rPr>
              <a:t>Spatial dependence is clear; upstream propagation is only weakly asymmetric (50% vs 38%).</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Limits, and what Phase 2 tests</a:t>
            </a:r>
            <a:endParaRPr lang="en-US" sz="3600" dirty="0"/>
          </a:p>
        </p:txBody>
      </p:sp>
      <p:sp>
        <p:nvSpPr>
          <p:cNvPr id="3" name="card"/>
          <p:cNvSpPr/>
          <p:nvPr/>
        </p:nvSpPr>
        <p:spPr>
          <a:xfrm>
            <a:off x="548640" y="1417320"/>
            <a:ext cx="5394960" cy="4754880"/>
          </a:xfrm>
          <a:prstGeom prst="roundRect">
            <a:avLst>
              <a:gd name="adj" fmla="val 2308"/>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4" name="Text 2"/>
          <p:cNvSpPr txBox="1"/>
          <p:nvPr/>
        </p:nvSpPr>
        <p:spPr>
          <a:xfrm>
            <a:off x="868680" y="1691640"/>
            <a:ext cx="4846320" cy="320040"/>
          </a:xfrm>
          <a:prstGeom prst="rect">
            <a:avLst/>
          </a:prstGeom>
          <a:noFill/>
          <a:ln/>
        </p:spPr>
        <p:txBody>
          <a:bodyPr wrap="square" lIns="0" tIns="0" rIns="0" bIns="0" rtlCol="0" anchor="t"/>
          <a:lstStyle/>
          <a:p>
            <a:pPr indent="0" marL="0">
              <a:buNone/>
            </a:pPr>
            <a:r>
              <a:rPr lang="en-US" sz="1400" b="1" spc="300" kern="0" dirty="0">
                <a:solidFill>
                  <a:schemeClr val="accent1"/>
                </a:solidFill>
              </a:rPr>
              <a:t>LIMITATIONS</a:t>
            </a:r>
            <a:endParaRPr lang="en-US" sz="1400" dirty="0"/>
          </a:p>
        </p:txBody>
      </p:sp>
      <p:sp>
        <p:nvSpPr>
          <p:cNvPr id="5" name="Text 3"/>
          <p:cNvSpPr txBox="1"/>
          <p:nvPr/>
        </p:nvSpPr>
        <p:spPr>
          <a:xfrm>
            <a:off x="868680" y="2240280"/>
            <a:ext cx="4846320" cy="384048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chemeClr val="bg1"/>
                </a:solidFill>
              </a:rPr>
              <a:t>One city, one season (Mar–Jun 2012), speed only</a:t>
            </a:r>
            <a:endParaRPr lang="en-US" sz="2000" dirty="0"/>
          </a:p>
          <a:p>
            <a:pPr marL="228600" indent="-228600">
              <a:spcAft>
                <a:spcPts val="800"/>
              </a:spcAft>
              <a:buSzPct val="100000"/>
              <a:buChar char="•"/>
            </a:pPr>
            <a:r>
              <a:rPr lang="en-US" sz="2000" dirty="0">
                <a:solidFill>
                  <a:schemeClr val="bg1"/>
                </a:solidFill>
              </a:rPr>
              <a:t>Laptop budgets: 15 tuning trials, pooled models on 25% of rows, 400-tree cap always reached</a:t>
            </a:r>
            <a:endParaRPr lang="en-US" sz="2000" dirty="0"/>
          </a:p>
          <a:p>
            <a:pPr marL="228600" indent="-228600">
              <a:spcAft>
                <a:spcPts val="800"/>
              </a:spcAft>
              <a:buSzPct val="100000"/>
              <a:buChar char="•"/>
            </a:pPr>
            <a:r>
              <a:rPr lang="en-US" sz="2000" dirty="0">
                <a:solidFill>
                  <a:schemeClr val="bg1"/>
                </a:solidFill>
              </a:rPr>
              <a:t>Hand-made neighbour features, fixed distance graph</a:t>
            </a:r>
            <a:endParaRPr lang="en-US" sz="2000" dirty="0"/>
          </a:p>
          <a:p>
            <a:pPr marL="228600" indent="-228600">
              <a:spcAft>
                <a:spcPts val="800"/>
              </a:spcAft>
              <a:buSzPct val="100000"/>
              <a:buChar char="•"/>
            </a:pPr>
            <a:r>
              <a:rPr lang="en-US" sz="2000" dirty="0">
                <a:solidFill>
                  <a:schemeClr val="bg1"/>
                </a:solidFill>
              </a:rPr>
              <a:t>Test period has more sensor outages than training</a:t>
            </a:r>
            <a:endParaRPr lang="en-US" sz="2000" dirty="0"/>
          </a:p>
        </p:txBody>
      </p:sp>
      <p:sp>
        <p:nvSpPr>
          <p:cNvPr id="6" name="card"/>
          <p:cNvSpPr/>
          <p:nvPr/>
        </p:nvSpPr>
        <p:spPr>
          <a:xfrm>
            <a:off x="6217920" y="1417320"/>
            <a:ext cx="5394960" cy="4754880"/>
          </a:xfrm>
          <a:prstGeom prst="roundRect">
            <a:avLst>
              <a:gd name="adj" fmla="val 2308"/>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7" name="Text 5"/>
          <p:cNvSpPr txBox="1"/>
          <p:nvPr/>
        </p:nvSpPr>
        <p:spPr>
          <a:xfrm>
            <a:off x="6537960" y="1691640"/>
            <a:ext cx="4846320" cy="320040"/>
          </a:xfrm>
          <a:prstGeom prst="rect">
            <a:avLst/>
          </a:prstGeom>
          <a:noFill/>
          <a:ln/>
        </p:spPr>
        <p:txBody>
          <a:bodyPr wrap="square" lIns="0" tIns="0" rIns="0" bIns="0" rtlCol="0" anchor="t"/>
          <a:lstStyle/>
          <a:p>
            <a:pPr indent="0" marL="0">
              <a:buNone/>
            </a:pPr>
            <a:r>
              <a:rPr lang="en-US" sz="1400" b="1" spc="300" kern="0" dirty="0">
                <a:solidFill>
                  <a:schemeClr val="accent3"/>
                </a:solidFill>
              </a:rPr>
              <a:t>PHASE 2</a:t>
            </a:r>
            <a:endParaRPr lang="en-US" sz="1400" dirty="0"/>
          </a:p>
        </p:txBody>
      </p:sp>
      <p:sp>
        <p:nvSpPr>
          <p:cNvPr id="8" name="Text 6"/>
          <p:cNvSpPr txBox="1"/>
          <p:nvPr/>
        </p:nvSpPr>
        <p:spPr>
          <a:xfrm>
            <a:off x="6537960" y="2240280"/>
            <a:ext cx="4846320" cy="384048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chemeClr val="bg1"/>
                </a:solidFill>
              </a:rPr>
              <a:t>Learn the neighbour weighting: graph attention (STGAT)</a:t>
            </a:r>
            <a:endParaRPr lang="en-US" sz="2000" dirty="0"/>
          </a:p>
          <a:p>
            <a:pPr marL="228600" indent="-228600">
              <a:spcAft>
                <a:spcPts val="800"/>
              </a:spcAft>
              <a:buSzPct val="100000"/>
              <a:buChar char="•"/>
            </a:pPr>
            <a:r>
              <a:rPr lang="en-US" sz="2000" dirty="0">
                <a:solidFill>
                  <a:schemeClr val="bg1"/>
                </a:solidFill>
              </a:rPr>
              <a:t>A no-graph twin to isolate the graph's effect</a:t>
            </a:r>
            <a:endParaRPr lang="en-US" sz="2000" dirty="0"/>
          </a:p>
          <a:p>
            <a:pPr marL="228600" indent="-228600">
              <a:spcAft>
                <a:spcPts val="800"/>
              </a:spcAft>
              <a:buSzPct val="100000"/>
              <a:buChar char="•"/>
            </a:pPr>
            <a:r>
              <a:rPr lang="en-US" sz="2000" dirty="0">
                <a:solidFill>
                  <a:schemeClr val="bg1"/>
                </a:solidFill>
              </a:rPr>
              <a:t>A leakage-safe hybrid of trees and graph</a:t>
            </a:r>
            <a:endParaRPr lang="en-US" sz="2000" dirty="0"/>
          </a:p>
          <a:p>
            <a:pPr marL="228600" indent="-228600">
              <a:spcAft>
                <a:spcPts val="800"/>
              </a:spcAft>
              <a:buSzPct val="100000"/>
              <a:buChar char="•"/>
            </a:pPr>
            <a:r>
              <a:rPr lang="en-US" sz="2000" dirty="0">
                <a:solidFill>
                  <a:schemeClr val="bg1"/>
                </a:solidFill>
              </a:rPr>
              <a:t>Ablations, maps and a ramp-metering simulation</a:t>
            </a:r>
            <a:endParaRPr lang="en-US" sz="2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731520" y="914400"/>
            <a:ext cx="10698480" cy="1371600"/>
          </a:xfrm>
          <a:prstGeom prst="rect">
            <a:avLst/>
          </a:prstGeom>
          <a:noFill/>
          <a:ln/>
        </p:spPr>
        <p:txBody>
          <a:bodyPr wrap="square" lIns="0" tIns="0" rIns="0" bIns="0" rtlCol="0" anchor="b"/>
          <a:lstStyle/>
          <a:p>
            <a:pPr algn="l" indent="0" marL="0">
              <a:buNone/>
            </a:pPr>
            <a:r>
              <a:rPr lang="en-US" sz="6600" b="1" dirty="0">
                <a:solidFill>
                  <a:schemeClr val="bg1"/>
                </a:solidFill>
              </a:rPr>
              <a:t>Thank you</a:t>
            </a:r>
            <a:endParaRPr lang="en-US" sz="6600" dirty="0"/>
          </a:p>
        </p:txBody>
      </p:sp>
      <p:sp>
        <p:nvSpPr>
          <p:cNvPr id="3" name="Text 0"/>
          <p:cNvSpPr/>
          <p:nvPr>
            <p:ph idx="101" type="body" hasCustomPrompt="1"/>
          </p:nvPr>
        </p:nvSpPr>
        <p:spPr>
          <a:xfrm>
            <a:off x="731520" y="2377440"/>
            <a:ext cx="9601200" cy="822960"/>
          </a:xfrm>
          <a:prstGeom prst="rect">
            <a:avLst/>
          </a:prstGeom>
          <a:noFill/>
          <a:ln/>
        </p:spPr>
        <p:txBody>
          <a:bodyPr wrap="square" lIns="0" tIns="0" rIns="0" bIns="0" rtlCol="0" anchor="t"/>
          <a:lstStyle/>
          <a:p>
            <a:pPr algn="l" indent="0" marL="0">
              <a:buNone/>
            </a:pPr>
            <a:r>
              <a:rPr lang="en-US" sz="2600" dirty="0">
                <a:solidFill>
                  <a:schemeClr val="bg2"/>
                </a:solidFill>
              </a:rPr>
              <a:t>Questions welcome — every number is in the repository.</a:t>
            </a:r>
            <a:endParaRPr lang="en-US" sz="2600" dirty="0"/>
          </a:p>
        </p:txBody>
      </p:sp>
      <p:sp>
        <p:nvSpPr>
          <p:cNvPr id="4" name="Text 2"/>
          <p:cNvSpPr txBox="1"/>
          <p:nvPr/>
        </p:nvSpPr>
        <p:spPr>
          <a:xfrm>
            <a:off x="731520" y="3017520"/>
            <a:ext cx="10058400" cy="1280160"/>
          </a:xfrm>
          <a:prstGeom prst="rect">
            <a:avLst/>
          </a:prstGeom>
          <a:noFill/>
          <a:ln/>
        </p:spPr>
        <p:txBody>
          <a:bodyPr wrap="square" lIns="0" tIns="0" rIns="0" bIns="0" rtlCol="0" anchor="t"/>
          <a:lstStyle/>
          <a:p>
            <a:pPr indent="0" marL="0">
              <a:buNone/>
            </a:pPr>
            <a:r>
              <a:rPr lang="en-US" sz="1800" b="1" spc="300" kern="0" dirty="0">
                <a:solidFill>
                  <a:schemeClr val="accent2"/>
                </a:solidFill>
              </a:rPr>
              <a:t>TEAM T042</a:t>
            </a:r>
            <a:endParaRPr lang="en-US" sz="1800" dirty="0"/>
          </a:p>
          <a:p>
            <a:pPr indent="0" marL="0">
              <a:buNone/>
            </a:pPr>
            <a:r>
              <a:rPr lang="en-US" sz="1800" dirty="0">
                <a:solidFill>
                  <a:schemeClr val="bg1"/>
                </a:solidFill>
              </a:rPr>
              <a:t>Pranav Singh · Kunal · Himanshu · Kanchan · Vaibhav</a:t>
            </a:r>
            <a:endParaRPr lang="en-US" sz="1800" dirty="0"/>
          </a:p>
          <a:p>
            <a:pPr indent="0" marL="0">
              <a:buNone/>
            </a:pPr>
            <a:r>
              <a:rPr lang="en-US" sz="1800" dirty="0">
                <a:solidFill>
                  <a:schemeClr val="bg2"/>
                </a:solidFill>
              </a:rPr>
              <a:t>github.com/Pranav-Singh-Devloper/traffic-oracle</a:t>
            </a:r>
            <a:endParaRPr lang="en-US" sz="1800" dirty="0"/>
          </a:p>
          <a:p>
            <a:pPr indent="0" marL="0">
              <a:buNone/>
            </a:pPr>
            <a:r>
              <a:rPr lang="en-US" sz="1800" b="1" dirty="0">
                <a:solidFill>
                  <a:schemeClr val="accent3"/>
                </a:solidFill>
              </a:rPr>
              <a:t>Live demo: traffic-oracle.streamlit.app</a:t>
            </a:r>
            <a:endParaRPr lang="en-US" sz="1800" dirty="0"/>
          </a:p>
        </p:txBody>
      </p:sp>
    </p:spTree>
  </p:cSld>
  <p:clrMapOvr>
    <a:masterClrMapping/>
  </p:clrMapOvr>
</p:sld>
</file>

<file path=ppt/theme/theme1.xml><?xml version="1.0" encoding="utf-8"?>
<a:theme xmlns:a="http://schemas.openxmlformats.org/drawingml/2006/main" name="Traffic Oracle Night">
  <a:themeElements>
    <a:clrScheme name="Traffic Oracle Night">
      <a:dk1>
        <a:srgbClr val="0A0F1E"/>
      </a:dk1>
      <a:lt1>
        <a:srgbClr val="FFFFFF"/>
      </a:lt1>
      <a:dk2>
        <a:srgbClr val="151C35"/>
      </a:dk2>
      <a:lt2>
        <a:srgbClr val="AEB8D0"/>
      </a:lt2>
      <a:accent1>
        <a:srgbClr val="FF5A4E"/>
      </a:accent1>
      <a:accent2>
        <a:srgbClr val="FFB547"/>
      </a:accent2>
      <a:accent3>
        <a:srgbClr val="3DD6C4"/>
      </a:accent3>
      <a:accent4>
        <a:srgbClr val="8C9BFF"/>
      </a:accent4>
      <a:accent5>
        <a:srgbClr val="6B7794"/>
      </a:accent5>
      <a:accent6>
        <a:srgbClr val="5BD68A"/>
      </a:accent6>
      <a:hlink>
        <a:srgbClr val="FFB547"/>
      </a:hlink>
      <a:folHlink>
        <a:srgbClr val="8C9BFF"/>
      </a:folHlink>
    </a:clrScheme>
    <a:fontScheme name="Traffic Oracle N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Traffic Oracle — Phase 1 — Team T042</dc:title>
  <dc:subject>PptxGenJS Presentation</dc:subject>
  <dc:creator>Team T042</dc:creator>
  <cp:lastModifiedBy>Team T042</cp:lastModifiedBy>
  <cp:revision>1</cp:revision>
  <dcterms:created xsi:type="dcterms:W3CDTF">2026-10-27T10:14:36Z</dcterms:created>
  <dcterms:modified xsi:type="dcterms:W3CDTF">2026-10-27T10:14:36Z</dcterms:modified>
</cp:coreProperties>
</file>