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3.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4.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charts/chart5.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charts/chart6.xml" ContentType="application/vnd.openxmlformats-officedocument.drawingml.chart+xml"/>
  <Override PartName="/ppt/charts/chart7.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charts/chart8.xml" ContentType="application/vnd.openxmlformats-officedocument.drawingml.chart+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charts/chart9.xml" ContentType="application/vnd.openxmlformats-officedocument.drawingml.chart+xml"/>
  <Override PartName="/ppt/charts/chart10.xml" ContentType="application/vnd.openxmlformats-officedocument.drawingml.chart+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b8c6710-b3ff-00d5-8f5b-52fae7e3e0d2}">
          <p14:sldIdLst>
            <p14:sldId id="256"/>
            <p14:sldId id="257"/>
            <p14:sldId id="258"/>
          </p14:sldIdLst>
        </p14:section>
        <p14:section name="01 The data" id="{3816fce1-ead2-44f2-dabf-556beab0ce78}">
          <p14:sldIdLst>
            <p14:sldId id="259"/>
            <p14:sldId id="260"/>
            <p14:sldId id="261"/>
            <p14:sldId id="262"/>
            <p14:sldId id="263"/>
            <p14:sldId id="264"/>
          </p14:sldIdLst>
        </p14:section>
        <p14:section name="02 A fair fight" id="{3c622a37-db7f-4a9d-e833-ef3bf9d4000f}">
          <p14:sldIdLst>
            <p14:sldId id="265"/>
            <p14:sldId id="266"/>
            <p14:sldId id="267"/>
          </p14:sldIdLst>
        </p14:section>
        <p14:section name="03 Trees" id="{08d62247-98c0-e128-fbfb-45e5af3e17fc}">
          <p14:sldIdLst>
            <p14:sldId id="268"/>
            <p14:sldId id="269"/>
            <p14:sldId id="270"/>
            <p14:sldId id="271"/>
          </p14:sldIdLst>
        </p14:section>
        <p14:section name="04 Graph attention" id="{3851769d-6724-9a27-133a-94c2b243ae99}">
          <p14:sldIdLst>
            <p14:sldId id="272"/>
            <p14:sldId id="273"/>
            <p14:sldId id="274"/>
            <p14:sldId id="275"/>
          </p14:sldIdLst>
        </p14:section>
        <p14:section name="05 Hybrid" id="{e459f68f-888f-5de7-5716-f9d96c2f0990}">
          <p14:sldIdLst>
            <p14:sldId id="276"/>
            <p14:sldId id="277"/>
            <p14:sldId id="278"/>
            <p14:sldId id="279"/>
          </p14:sldIdLst>
        </p14:section>
        <p14:section name="06 Stress tests" id="{3c6af95e-d949-1405-4047-553b01ae1a32}">
          <p14:sldIdLst>
            <p14:sldId id="280"/>
            <p14:sldId id="281"/>
            <p14:sldId id="282"/>
            <p14:sldId id="283"/>
          </p14:sldIdLst>
        </p14:section>
        <p14:section name="07 Control" id="{af351ea0-cd51-b921-31c9-795ae7d01c10}">
          <p14:sldIdLst>
            <p14:sldId id="284"/>
            <p14:sldId id="285"/>
          </p14:sldIdLst>
        </p14:section>
        <p14:section name="Closing" id="{23ba8595-c690-5311-ff94-5d93cd4bd501}">
          <p14:sldIdLst>
            <p14:sldId id="286"/>
            <p14:sldId id="287"/>
            <p14:sldId id="28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FFFFF"/>
                </a:solidFill>
                <a:latin typeface="+mn-lt"/>
              </a:defRPr>
            </a:pPr>
            <a:r>
              <a:rPr sz="1400" b="0" i="0" u="none" strike="noStrike">
                <a:solidFill>
                  <a:srgbClr val="FFFFFF"/>
                </a:solidFill>
                <a:latin typeface="+mn-lt"/>
              </a:rPr>
              <a:t>Baselines to beat — test MAE (mph)</a:t>
            </a:r>
          </a:p>
        </c:rich>
      </c:tx>
      <c:layout/>
      <c:overlay val="0"/>
    </c:title>
    <c:autoTitleDeleted val="0"/>
    <c:plotArea>
      <c:layout/>
      <c:barChart>
        <c:barDir val="col"/>
        <c:grouping val="clustered"/>
        <c:varyColors val="0"/>
        <c:ser>
          <c:idx val="0"/>
          <c:order val="0"/>
          <c:tx>
            <c:strRef>
              <c:f>Sheet1!$B$1</c:f>
              <c:strCache>
                <c:ptCount val="1"/>
                <c:pt idx="0">
                  <c:v>Persistence</c:v>
                </c:pt>
              </c:strCache>
            </c:strRef>
          </c:tx>
          <c:spPr>
            <a:solidFill>
              <a:srgbClr val="FF5A4E"/>
            </a:solidFill>
            <a:effectLst/>
          </c:spPr>
          <c:invertIfNegative val="0"/>
          <c:dLbls>
            <c:numFmt formatCode="0.00" sourceLinked="0"/>
            <c:txPr>
              <a:bodyPr/>
              <a:lstStyle/>
              <a:p>
                <a:pPr>
                  <a:defRPr b="0" i="0" strike="noStrike" sz="1100" u="none">
                    <a:solidFill>
                      <a:srgbClr val="FFFFFF"/>
                    </a:solidFill>
                    <a:latin typeface="+mn-lt"/>
                  </a:defRPr>
                </a:pPr>
              </a:p>
            </c:txPr>
            <c:showLegendKey val="0"/>
            <c:showVal val="1"/>
            <c:showCatName val="0"/>
            <c:showSerName val="0"/>
            <c:showPercent val="0"/>
            <c:showBubbleSize val="0"/>
            <c:showLeaderLines val="0"/>
          </c:dLbls>
          <c:cat>
            <c:multiLvlStrRef>
              <c:f>Sheet1!$A$2:$A$4</c:f>
              <c:multiLvlStrCache>
                <c:ptCount val="3"/>
                <c:lvl>
                  <c:pt idx="0">
                    <c:v>15 min</c:v>
                  </c:pt>
                  <c:pt idx="1">
                    <c:v>30 min</c:v>
                  </c:pt>
                  <c:pt idx="2">
                    <c:v>60 min</c:v>
                  </c:pt>
                </c:lvl>
              </c:multiLvlStrCache>
            </c:multiLvlStrRef>
          </c:cat>
          <c:val>
            <c:numRef>
              <c:f>Sheet1!$B$2:$B$4</c:f>
              <c:numCache>
                <c:formatCode>General</c:formatCode>
                <c:ptCount val="3"/>
                <c:pt idx="0">
                  <c:v>3.494</c:v>
                </c:pt>
                <c:pt idx="1">
                  <c:v>4.198</c:v>
                </c:pt>
                <c:pt idx="2">
                  <c:v>5.368</c:v>
                </c:pt>
              </c:numCache>
            </c:numRef>
          </c:val>
        </c:ser>
        <c:ser>
          <c:idx val="1"/>
          <c:order val="1"/>
          <c:tx>
            <c:strRef>
              <c:f>Sheet1!$C$1</c:f>
              <c:strCache>
                <c:ptCount val="1"/>
                <c:pt idx="0">
                  <c:v>Historical average</c:v>
                </c:pt>
              </c:strCache>
            </c:strRef>
          </c:tx>
          <c:spPr>
            <a:solidFill>
              <a:srgbClr val="FFB547"/>
            </a:solidFill>
            <a:effectLst/>
          </c:spPr>
          <c:invertIfNegative val="0"/>
          <c:dLbls>
            <c:numFmt formatCode="0.00" sourceLinked="0"/>
            <c:txPr>
              <a:bodyPr/>
              <a:lstStyle/>
              <a:p>
                <a:pPr>
                  <a:defRPr b="0" i="0" strike="noStrike" sz="1100" u="none">
                    <a:solidFill>
                      <a:srgbClr val="FFFFFF"/>
                    </a:solidFill>
                    <a:latin typeface="+mn-lt"/>
                  </a:defRPr>
                </a:pPr>
              </a:p>
            </c:txPr>
            <c:showLegendKey val="0"/>
            <c:showVal val="1"/>
            <c:showCatName val="0"/>
            <c:showSerName val="0"/>
            <c:showPercent val="0"/>
            <c:showBubbleSize val="0"/>
            <c:showLeaderLines val="0"/>
          </c:dLbls>
          <c:cat>
            <c:multiLvlStrRef>
              <c:f>Sheet1!$A$2:$A$4</c:f>
              <c:multiLvlStrCache>
                <c:ptCount val="3"/>
                <c:lvl>
                  <c:pt idx="0">
                    <c:v>15 min</c:v>
                  </c:pt>
                  <c:pt idx="1">
                    <c:v>30 min</c:v>
                  </c:pt>
                  <c:pt idx="2">
                    <c:v>60 min</c:v>
                  </c:pt>
                </c:lvl>
              </c:multiLvlStrCache>
            </c:multiLvlStrRef>
          </c:cat>
          <c:val>
            <c:numRef>
              <c:f>Sheet1!$C$2:$C$4</c:f>
              <c:numCache>
                <c:formatCode>General</c:formatCode>
                <c:ptCount val="3"/>
                <c:pt idx="0">
                  <c:v>4.193</c:v>
                </c:pt>
                <c:pt idx="1">
                  <c:v>4.193</c:v>
                </c:pt>
                <c:pt idx="2">
                  <c:v>4.193</c:v>
                </c:pt>
              </c:numCache>
            </c:numRef>
          </c:val>
        </c:ser>
        <c:ser>
          <c:idx val="2"/>
          <c:order val="2"/>
          <c:tx>
            <c:strRef>
              <c:f>Sheet1!$D$1</c:f>
              <c:strCache>
                <c:ptCount val="1"/>
                <c:pt idx="0">
                  <c:v>Seasonal naive</c:v>
                </c:pt>
              </c:strCache>
            </c:strRef>
          </c:tx>
          <c:spPr>
            <a:solidFill>
              <a:srgbClr val="6B7794"/>
            </a:solidFill>
            <a:effectLst/>
          </c:spPr>
          <c:invertIfNegative val="0"/>
          <c:dLbls>
            <c:numFmt formatCode="0.00" sourceLinked="0"/>
            <c:txPr>
              <a:bodyPr/>
              <a:lstStyle/>
              <a:p>
                <a:pPr>
                  <a:defRPr b="0" i="0" strike="noStrike" sz="1100" u="none">
                    <a:solidFill>
                      <a:srgbClr val="FFFFFF"/>
                    </a:solidFill>
                    <a:latin typeface="+mn-lt"/>
                  </a:defRPr>
                </a:pPr>
              </a:p>
            </c:txPr>
            <c:showLegendKey val="0"/>
            <c:showVal val="1"/>
            <c:showCatName val="0"/>
            <c:showSerName val="0"/>
            <c:showPercent val="0"/>
            <c:showBubbleSize val="0"/>
            <c:showLeaderLines val="0"/>
          </c:dLbls>
          <c:cat>
            <c:multiLvlStrRef>
              <c:f>Sheet1!$A$2:$A$4</c:f>
              <c:multiLvlStrCache>
                <c:ptCount val="3"/>
                <c:lvl>
                  <c:pt idx="0">
                    <c:v>15 min</c:v>
                  </c:pt>
                  <c:pt idx="1">
                    <c:v>30 min</c:v>
                  </c:pt>
                  <c:pt idx="2">
                    <c:v>60 min</c:v>
                  </c:pt>
                </c:lvl>
              </c:multiLvlStrCache>
            </c:multiLvlStrRef>
          </c:cat>
          <c:val>
            <c:numRef>
              <c:f>Sheet1!$D$2:$D$4</c:f>
              <c:numCache>
                <c:formatCode>General</c:formatCode>
                <c:ptCount val="3"/>
                <c:pt idx="0">
                  <c:v>5.503</c:v>
                </c:pt>
                <c:pt idx="1">
                  <c:v>5.503</c:v>
                </c:pt>
                <c:pt idx="2">
                  <c:v>5.503</c:v>
                </c:pt>
              </c:numCache>
            </c:numRef>
          </c:val>
        </c:ser>
        <c:dLbls>
          <c:numFmt formatCode="0.00" sourceLinked="0"/>
          <c:txPr>
            <a:bodyPr/>
            <a:lstStyle/>
            <a:p>
              <a:pPr>
                <a:defRPr b="0" i="0" strike="noStrike" sz="1100" u="none">
                  <a:solidFill>
                    <a:srgbClr val="FFFFFF"/>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AEB8D0"/>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26304F"/>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AEB8D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AEB8D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FFFFF"/>
                </a:solidFill>
                <a:latin typeface="+mn-lt"/>
              </a:defRPr>
            </a:pPr>
            <a:r>
              <a:rPr sz="1400" b="0" i="0" u="none" strike="noStrike">
                <a:solidFill>
                  <a:srgbClr val="FFFFFF"/>
                </a:solidFill>
                <a:latin typeface="+mn-lt"/>
              </a:rPr>
              <a:t>Test MAE (mph) — lower is better</a:t>
            </a:r>
          </a:p>
        </c:rich>
      </c:tx>
      <c:layout/>
      <c:overlay val="0"/>
    </c:title>
    <c:autoTitleDeleted val="0"/>
    <c:plotArea>
      <c:layout/>
      <c:barChart>
        <c:barDir val="col"/>
        <c:grouping val="clustered"/>
        <c:varyColors val="0"/>
        <c:ser>
          <c:idx val="0"/>
          <c:order val="0"/>
          <c:tx>
            <c:strRef>
              <c:f>Sheet1!$B$1</c:f>
              <c:strCache>
                <c:ptCount val="1"/>
                <c:pt idx="0">
                  <c:v>XGB per-segment</c:v>
                </c:pt>
              </c:strCache>
            </c:strRef>
          </c:tx>
          <c:spPr>
            <a:solidFill>
              <a:srgbClr val="8C9BFF"/>
            </a:solidFill>
            <a:effectLst/>
          </c:spPr>
          <c:invertIfNegative val="0"/>
          <c:dLbls>
            <c:numFmt formatCode="0.00" sourceLinked="0"/>
            <c:txPr>
              <a:bodyPr/>
              <a:lstStyle/>
              <a:p>
                <a:pPr>
                  <a:defRPr b="0" i="0" strike="noStrike" sz="1000" u="none">
                    <a:solidFill>
                      <a:srgbClr val="FFFFFF"/>
                    </a:solidFill>
                    <a:latin typeface="+mn-lt"/>
                  </a:defRPr>
                </a:pPr>
              </a:p>
            </c:txPr>
            <c:showLegendKey val="0"/>
            <c:showVal val="1"/>
            <c:showCatName val="0"/>
            <c:showSerName val="0"/>
            <c:showPercent val="0"/>
            <c:showBubbleSize val="0"/>
            <c:showLeaderLines val="0"/>
          </c:dLbls>
          <c:cat>
            <c:multiLvlStrRef>
              <c:f>Sheet1!$A$2:$A$4</c:f>
              <c:multiLvlStrCache>
                <c:ptCount val="3"/>
                <c:lvl>
                  <c:pt idx="0">
                    <c:v>15 min</c:v>
                  </c:pt>
                  <c:pt idx="1">
                    <c:v>30 min</c:v>
                  </c:pt>
                  <c:pt idx="2">
                    <c:v>60 min</c:v>
                  </c:pt>
                </c:lvl>
              </c:multiLvlStrCache>
            </c:multiLvlStrRef>
          </c:cat>
          <c:val>
            <c:numRef>
              <c:f>Sheet1!$B$2:$B$4</c:f>
              <c:numCache>
                <c:formatCode>General</c:formatCode>
                <c:ptCount val="3"/>
                <c:pt idx="0">
                  <c:v>2.86</c:v>
                </c:pt>
                <c:pt idx="1">
                  <c:v>3.276</c:v>
                </c:pt>
                <c:pt idx="2">
                  <c:v>3.684</c:v>
                </c:pt>
              </c:numCache>
            </c:numRef>
          </c:val>
        </c:ser>
        <c:ser>
          <c:idx val="1"/>
          <c:order val="1"/>
          <c:tx>
            <c:strRef>
              <c:f>Sheet1!$C$1</c:f>
              <c:strCache>
                <c:ptCount val="1"/>
                <c:pt idx="0">
                  <c:v>XGB pooled</c:v>
                </c:pt>
              </c:strCache>
            </c:strRef>
          </c:tx>
          <c:spPr>
            <a:solidFill>
              <a:srgbClr val="FFB547"/>
            </a:solidFill>
            <a:effectLst/>
          </c:spPr>
          <c:invertIfNegative val="0"/>
          <c:dLbls>
            <c:numFmt formatCode="0.00" sourceLinked="0"/>
            <c:txPr>
              <a:bodyPr/>
              <a:lstStyle/>
              <a:p>
                <a:pPr>
                  <a:defRPr b="0" i="0" strike="noStrike" sz="1000" u="none">
                    <a:solidFill>
                      <a:srgbClr val="FFFFFF"/>
                    </a:solidFill>
                    <a:latin typeface="+mn-lt"/>
                  </a:defRPr>
                </a:pPr>
              </a:p>
            </c:txPr>
            <c:showLegendKey val="0"/>
            <c:showVal val="1"/>
            <c:showCatName val="0"/>
            <c:showSerName val="0"/>
            <c:showPercent val="0"/>
            <c:showBubbleSize val="0"/>
            <c:showLeaderLines val="0"/>
          </c:dLbls>
          <c:cat>
            <c:multiLvlStrRef>
              <c:f>Sheet1!$A$2:$A$4</c:f>
              <c:multiLvlStrCache>
                <c:ptCount val="3"/>
                <c:lvl>
                  <c:pt idx="0">
                    <c:v>15 min</c:v>
                  </c:pt>
                  <c:pt idx="1">
                    <c:v>30 min</c:v>
                  </c:pt>
                  <c:pt idx="2">
                    <c:v>60 min</c:v>
                  </c:pt>
                </c:lvl>
              </c:multiLvlStrCache>
            </c:multiLvlStrRef>
          </c:cat>
          <c:val>
            <c:numRef>
              <c:f>Sheet1!$C$2:$C$4</c:f>
              <c:numCache>
                <c:formatCode>General</c:formatCode>
                <c:ptCount val="3"/>
                <c:pt idx="0">
                  <c:v>2.88</c:v>
                </c:pt>
                <c:pt idx="1">
                  <c:v>3.331</c:v>
                </c:pt>
                <c:pt idx="2">
                  <c:v>3.781</c:v>
                </c:pt>
              </c:numCache>
            </c:numRef>
          </c:val>
        </c:ser>
        <c:ser>
          <c:idx val="2"/>
          <c:order val="2"/>
          <c:tx>
            <c:strRef>
              <c:f>Sheet1!$D$1</c:f>
              <c:strCache>
                <c:ptCount val="1"/>
                <c:pt idx="0">
                  <c:v>Random Forest</c:v>
                </c:pt>
              </c:strCache>
            </c:strRef>
          </c:tx>
          <c:spPr>
            <a:solidFill>
              <a:srgbClr val="6B7794"/>
            </a:solidFill>
            <a:effectLst/>
          </c:spPr>
          <c:invertIfNegative val="0"/>
          <c:dLbls>
            <c:numFmt formatCode="0.00" sourceLinked="0"/>
            <c:txPr>
              <a:bodyPr/>
              <a:lstStyle/>
              <a:p>
                <a:pPr>
                  <a:defRPr b="0" i="0" strike="noStrike" sz="1000" u="none">
                    <a:solidFill>
                      <a:srgbClr val="FFFFFF"/>
                    </a:solidFill>
                    <a:latin typeface="+mn-lt"/>
                  </a:defRPr>
                </a:pPr>
              </a:p>
            </c:txPr>
            <c:showLegendKey val="0"/>
            <c:showVal val="1"/>
            <c:showCatName val="0"/>
            <c:showSerName val="0"/>
            <c:showPercent val="0"/>
            <c:showBubbleSize val="0"/>
            <c:showLeaderLines val="0"/>
          </c:dLbls>
          <c:cat>
            <c:multiLvlStrRef>
              <c:f>Sheet1!$A$2:$A$4</c:f>
              <c:multiLvlStrCache>
                <c:ptCount val="3"/>
                <c:lvl>
                  <c:pt idx="0">
                    <c:v>15 min</c:v>
                  </c:pt>
                  <c:pt idx="1">
                    <c:v>30 min</c:v>
                  </c:pt>
                  <c:pt idx="2">
                    <c:v>60 min</c:v>
                  </c:pt>
                </c:lvl>
              </c:multiLvlStrCache>
            </c:multiLvlStrRef>
          </c:cat>
          <c:val>
            <c:numRef>
              <c:f>Sheet1!$D$2:$D$4</c:f>
              <c:numCache>
                <c:formatCode>General</c:formatCode>
                <c:ptCount val="3"/>
                <c:pt idx="0">
                  <c:v>3.137</c:v>
                </c:pt>
                <c:pt idx="1">
                  <c:v>3.798</c:v>
                </c:pt>
                <c:pt idx="2">
                  <c:v>4.732</c:v>
                </c:pt>
              </c:numCache>
            </c:numRef>
          </c:val>
        </c:ser>
        <c:ser>
          <c:idx val="3"/>
          <c:order val="3"/>
          <c:tx>
            <c:strRef>
              <c:f>Sheet1!$E$1</c:f>
              <c:strCache>
                <c:ptCount val="1"/>
                <c:pt idx="0">
                  <c:v>XGB spatial</c:v>
                </c:pt>
              </c:strCache>
            </c:strRef>
          </c:tx>
          <c:spPr>
            <a:solidFill>
              <a:srgbClr val="3DD6C4"/>
            </a:solidFill>
            <a:effectLst/>
          </c:spPr>
          <c:invertIfNegative val="0"/>
          <c:dLbls>
            <c:numFmt formatCode="0.00" sourceLinked="0"/>
            <c:txPr>
              <a:bodyPr/>
              <a:lstStyle/>
              <a:p>
                <a:pPr>
                  <a:defRPr b="0" i="0" strike="noStrike" sz="1000" u="none">
                    <a:solidFill>
                      <a:srgbClr val="FFFFFF"/>
                    </a:solidFill>
                    <a:latin typeface="+mn-lt"/>
                  </a:defRPr>
                </a:pPr>
              </a:p>
            </c:txPr>
            <c:showLegendKey val="0"/>
            <c:showVal val="1"/>
            <c:showCatName val="0"/>
            <c:showSerName val="0"/>
            <c:showPercent val="0"/>
            <c:showBubbleSize val="0"/>
            <c:showLeaderLines val="0"/>
          </c:dLbls>
          <c:cat>
            <c:multiLvlStrRef>
              <c:f>Sheet1!$A$2:$A$4</c:f>
              <c:multiLvlStrCache>
                <c:ptCount val="3"/>
                <c:lvl>
                  <c:pt idx="0">
                    <c:v>15 min</c:v>
                  </c:pt>
                  <c:pt idx="1">
                    <c:v>30 min</c:v>
                  </c:pt>
                  <c:pt idx="2">
                    <c:v>60 min</c:v>
                  </c:pt>
                </c:lvl>
              </c:multiLvlStrCache>
            </c:multiLvlStrRef>
          </c:cat>
          <c:val>
            <c:numRef>
              <c:f>Sheet1!$E$2:$E$4</c:f>
              <c:numCache>
                <c:formatCode>General</c:formatCode>
                <c:ptCount val="3"/>
                <c:pt idx="0">
                  <c:v>2.82</c:v>
                </c:pt>
                <c:pt idx="1">
                  <c:v>3.258</c:v>
                </c:pt>
                <c:pt idx="2">
                  <c:v>3.73</c:v>
                </c:pt>
              </c:numCache>
            </c:numRef>
          </c:val>
        </c:ser>
        <c:dLbls>
          <c:numFmt formatCode="0.00" sourceLinked="0"/>
          <c:txPr>
            <a:bodyPr/>
            <a:lstStyle/>
            <a:p>
              <a:pPr>
                <a:defRPr b="0" i="0" strike="noStrike" sz="1000" u="none">
                  <a:solidFill>
                    <a:srgbClr val="FFFFFF"/>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AEB8D0"/>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26304F"/>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AEB8D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AEB8D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FFFFF"/>
                </a:solidFill>
                <a:latin typeface="+mn-lt"/>
              </a:defRPr>
            </a:pPr>
            <a:r>
              <a:rPr sz="1400" b="0" i="0" u="none" strike="noStrike">
                <a:solidFill>
                  <a:srgbClr val="FFFFFF"/>
                </a:solidFill>
                <a:latin typeface="+mn-lt"/>
              </a:rPr>
              <a:t>MAE gain from neighbour features (mph, pooled − spatial)</a:t>
            </a:r>
          </a:p>
        </c:rich>
      </c:tx>
      <c:layout/>
      <c:overlay val="0"/>
    </c:title>
    <c:autoTitleDeleted val="0"/>
    <c:plotArea>
      <c:layout/>
      <c:barChart>
        <c:barDir val="col"/>
        <c:grouping val="clustered"/>
        <c:varyColors val="0"/>
        <c:ser>
          <c:idx val="0"/>
          <c:order val="0"/>
          <c:tx>
            <c:strRef>
              <c:f>Sheet1!$B$1</c:f>
              <c:strCache>
                <c:ptCount val="1"/>
                <c:pt idx="0">
                  <c:v>15 min</c:v>
                </c:pt>
              </c:strCache>
            </c:strRef>
          </c:tx>
          <c:spPr>
            <a:solidFill>
              <a:srgbClr val="3DD6C4"/>
            </a:solidFill>
            <a:effectLst/>
          </c:spPr>
          <c:invertIfNegative val="0"/>
          <c:dLbls>
            <c:numFmt formatCode="0.00" sourceLinked="0"/>
            <c:txPr>
              <a:bodyPr/>
              <a:lstStyle/>
              <a:p>
                <a:pPr>
                  <a:defRPr b="0" i="0" strike="noStrike" sz="1000" u="none">
                    <a:solidFill>
                      <a:srgbClr val="FFFFFF"/>
                    </a:solidFill>
                    <a:latin typeface="+mn-lt"/>
                  </a:defRPr>
                </a:pPr>
              </a:p>
            </c:txPr>
            <c:showLegendKey val="0"/>
            <c:showVal val="1"/>
            <c:showCatName val="0"/>
            <c:showSerName val="0"/>
            <c:showPercent val="0"/>
            <c:showBubbleSize val="0"/>
            <c:showLeaderLines val="0"/>
          </c:dLbls>
          <c:cat>
            <c:multiLvlStrRef>
              <c:f>Sheet1!$A$2:$A$5</c:f>
              <c:multiLvlStrCache>
                <c:ptCount val="4"/>
                <c:lvl>
                  <c:pt idx="0">
                    <c:v>All</c:v>
                  </c:pt>
                  <c:pt idx="1">
                    <c:v>Peak</c:v>
                  </c:pt>
                  <c:pt idx="2">
                    <c:v>Off-peak</c:v>
                  </c:pt>
                  <c:pt idx="3">
                    <c:v>Congested</c:v>
                  </c:pt>
                </c:lvl>
              </c:multiLvlStrCache>
            </c:multiLvlStrRef>
          </c:cat>
          <c:val>
            <c:numRef>
              <c:f>Sheet1!$B$2:$B$5</c:f>
              <c:numCache>
                <c:formatCode>General</c:formatCode>
                <c:ptCount val="4"/>
                <c:pt idx="0">
                  <c:v>0.059</c:v>
                </c:pt>
                <c:pt idx="1">
                  <c:v>0.117</c:v>
                </c:pt>
                <c:pt idx="2">
                  <c:v>0.038</c:v>
                </c:pt>
                <c:pt idx="3">
                  <c:v>0.336</c:v>
                </c:pt>
              </c:numCache>
            </c:numRef>
          </c:val>
        </c:ser>
        <c:ser>
          <c:idx val="1"/>
          <c:order val="1"/>
          <c:tx>
            <c:strRef>
              <c:f>Sheet1!$C$1</c:f>
              <c:strCache>
                <c:ptCount val="1"/>
                <c:pt idx="0">
                  <c:v>30 min</c:v>
                </c:pt>
              </c:strCache>
            </c:strRef>
          </c:tx>
          <c:spPr>
            <a:solidFill>
              <a:srgbClr val="FFB547"/>
            </a:solidFill>
            <a:effectLst/>
          </c:spPr>
          <c:invertIfNegative val="0"/>
          <c:dLbls>
            <c:numFmt formatCode="0.00" sourceLinked="0"/>
            <c:txPr>
              <a:bodyPr/>
              <a:lstStyle/>
              <a:p>
                <a:pPr>
                  <a:defRPr b="0" i="0" strike="noStrike" sz="1000" u="none">
                    <a:solidFill>
                      <a:srgbClr val="FFFFFF"/>
                    </a:solidFill>
                    <a:latin typeface="+mn-lt"/>
                  </a:defRPr>
                </a:pPr>
              </a:p>
            </c:txPr>
            <c:showLegendKey val="0"/>
            <c:showVal val="1"/>
            <c:showCatName val="0"/>
            <c:showSerName val="0"/>
            <c:showPercent val="0"/>
            <c:showBubbleSize val="0"/>
            <c:showLeaderLines val="0"/>
          </c:dLbls>
          <c:cat>
            <c:multiLvlStrRef>
              <c:f>Sheet1!$A$2:$A$5</c:f>
              <c:multiLvlStrCache>
                <c:ptCount val="4"/>
                <c:lvl>
                  <c:pt idx="0">
                    <c:v>All</c:v>
                  </c:pt>
                  <c:pt idx="1">
                    <c:v>Peak</c:v>
                  </c:pt>
                  <c:pt idx="2">
                    <c:v>Off-peak</c:v>
                  </c:pt>
                  <c:pt idx="3">
                    <c:v>Congested</c:v>
                  </c:pt>
                </c:lvl>
              </c:multiLvlStrCache>
            </c:multiLvlStrRef>
          </c:cat>
          <c:val>
            <c:numRef>
              <c:f>Sheet1!$C$2:$C$5</c:f>
              <c:numCache>
                <c:formatCode>General</c:formatCode>
                <c:ptCount val="4"/>
                <c:pt idx="0">
                  <c:v>0.073</c:v>
                </c:pt>
                <c:pt idx="1">
                  <c:v>0.152</c:v>
                </c:pt>
                <c:pt idx="2">
                  <c:v>0.048</c:v>
                </c:pt>
                <c:pt idx="3">
                  <c:v>0.559</c:v>
                </c:pt>
              </c:numCache>
            </c:numRef>
          </c:val>
        </c:ser>
        <c:ser>
          <c:idx val="2"/>
          <c:order val="2"/>
          <c:tx>
            <c:strRef>
              <c:f>Sheet1!$D$1</c:f>
              <c:strCache>
                <c:ptCount val="1"/>
                <c:pt idx="0">
                  <c:v>60 min</c:v>
                </c:pt>
              </c:strCache>
            </c:strRef>
          </c:tx>
          <c:spPr>
            <a:solidFill>
              <a:srgbClr val="FF5A4E"/>
            </a:solidFill>
            <a:effectLst/>
          </c:spPr>
          <c:invertIfNegative val="0"/>
          <c:dLbls>
            <c:numFmt formatCode="0.00" sourceLinked="0"/>
            <c:txPr>
              <a:bodyPr/>
              <a:lstStyle/>
              <a:p>
                <a:pPr>
                  <a:defRPr b="0" i="0" strike="noStrike" sz="1000" u="none">
                    <a:solidFill>
                      <a:srgbClr val="FFFFFF"/>
                    </a:solidFill>
                    <a:latin typeface="+mn-lt"/>
                  </a:defRPr>
                </a:pPr>
              </a:p>
            </c:txPr>
            <c:showLegendKey val="0"/>
            <c:showVal val="1"/>
            <c:showCatName val="0"/>
            <c:showSerName val="0"/>
            <c:showPercent val="0"/>
            <c:showBubbleSize val="0"/>
            <c:showLeaderLines val="0"/>
          </c:dLbls>
          <c:cat>
            <c:multiLvlStrRef>
              <c:f>Sheet1!$A$2:$A$5</c:f>
              <c:multiLvlStrCache>
                <c:ptCount val="4"/>
                <c:lvl>
                  <c:pt idx="0">
                    <c:v>All</c:v>
                  </c:pt>
                  <c:pt idx="1">
                    <c:v>Peak</c:v>
                  </c:pt>
                  <c:pt idx="2">
                    <c:v>Off-peak</c:v>
                  </c:pt>
                  <c:pt idx="3">
                    <c:v>Congested</c:v>
                  </c:pt>
                </c:lvl>
              </c:multiLvlStrCache>
            </c:multiLvlStrRef>
          </c:cat>
          <c:val>
            <c:numRef>
              <c:f>Sheet1!$D$2:$D$5</c:f>
              <c:numCache>
                <c:formatCode>General</c:formatCode>
                <c:ptCount val="4"/>
                <c:pt idx="0">
                  <c:v>0.051</c:v>
                </c:pt>
                <c:pt idx="1">
                  <c:v>0.112</c:v>
                </c:pt>
                <c:pt idx="2">
                  <c:v>0.032</c:v>
                </c:pt>
                <c:pt idx="3">
                  <c:v>0.458</c:v>
                </c:pt>
              </c:numCache>
            </c:numRef>
          </c:val>
        </c:ser>
        <c:dLbls>
          <c:numFmt formatCode="0.00" sourceLinked="0"/>
          <c:txPr>
            <a:bodyPr/>
            <a:lstStyle/>
            <a:p>
              <a:pPr>
                <a:defRPr b="0" i="0" strike="noStrike" sz="1000" u="none">
                  <a:solidFill>
                    <a:srgbClr val="FFFFFF"/>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AEB8D0"/>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26304F"/>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AEB8D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AEB8D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FFFFF"/>
                </a:solidFill>
                <a:latin typeface="+mn-lt"/>
              </a:defRPr>
            </a:pPr>
            <a:r>
              <a:rPr sz="1400" b="0" i="0" u="none" strike="noStrike">
                <a:solidFill>
                  <a:srgbClr val="FFFFFF"/>
                </a:solidFill>
                <a:latin typeface="+mn-lt"/>
              </a:rPr>
              <a:t>Test MAE (mph) by horizon (minutes)</a:t>
            </a:r>
          </a:p>
        </c:rich>
      </c:tx>
      <c:layout/>
      <c:overlay val="0"/>
    </c:title>
    <c:autoTitleDeleted val="0"/>
    <c:plotArea>
      <c:layout/>
      <c:lineChart>
        <c:varyColors val="0"/>
        <c:ser>
          <c:idx val="0"/>
          <c:order val="0"/>
          <c:tx>
            <c:strRef>
              <c:f>Sheet1!$B$1</c:f>
              <c:strCache>
                <c:ptCount val="1"/>
                <c:pt idx="0">
                  <c:v>STGAT (graph)</c:v>
                </c:pt>
              </c:strCache>
            </c:strRef>
          </c:tx>
          <c:spPr>
            <a:solidFill>
              <a:srgbClr val="3DD6C4"/>
            </a:solidFill>
            <a:ln w="38100" cap="flat">
              <a:solidFill>
                <a:srgbClr val="3DD6C4"/>
              </a:solidFill>
              <a:prstDash val="solid"/>
              <a:round/>
            </a:ln>
            <a:effectLst/>
          </c:spPr>
          <c:invertIfNegative val="0"/>
          <c:dLbls>
            <c:numFmt formatCode="#,##0" sourceLinked="0"/>
            <c:txPr>
              <a:bodyPr/>
              <a:lstStyle/>
              <a:p>
                <a:pPr>
                  <a:defRPr b="0" i="0" strike="noStrike" sz="1100" u="none">
                    <a:solidFill>
                      <a:srgbClr val="FFFFFF"/>
                    </a:solidFill>
                    <a:latin typeface="+mn-lt"/>
                  </a:defRPr>
                </a:pPr>
              </a:p>
            </c:txPr>
            <c:showLegendKey val="0"/>
            <c:showVal val="0"/>
            <c:showCatName val="0"/>
            <c:showSerName val="0"/>
            <c:showPercent val="0"/>
            <c:showBubbleSize val="0"/>
            <c:showLeaderLines val="0"/>
          </c:dLbls>
          <c:marker>
            <c:symbol val="circle"/>
            <c:size val="7"/>
            <c:spPr>
              <a:solidFill>
                <a:srgbClr val="3DD6C4"/>
              </a:solidFill>
              <a:ln w="9525" cap="flat">
                <a:solidFill>
                  <a:srgbClr val="3DD6C4"/>
                </a:solidFill>
                <a:prstDash val="solid"/>
                <a:round/>
              </a:ln>
              <a:effectLst/>
            </c:spPr>
          </c:marker>
          <c:cat>
            <c:multiLvlStrRef>
              <c:f>Sheet1!$A$2:$A$13</c:f>
              <c:multiLvlStrCache>
                <c:ptCount val="12"/>
                <c:lvl>
                  <c:pt idx="0">
                    <c:v>5</c:v>
                  </c:pt>
                  <c:pt idx="1">
                    <c:v>10</c:v>
                  </c:pt>
                  <c:pt idx="2">
                    <c:v>15</c:v>
                  </c:pt>
                  <c:pt idx="3">
                    <c:v>20</c:v>
                  </c:pt>
                  <c:pt idx="4">
                    <c:v>25</c:v>
                  </c:pt>
                  <c:pt idx="5">
                    <c:v>30</c:v>
                  </c:pt>
                  <c:pt idx="6">
                    <c:v>35</c:v>
                  </c:pt>
                  <c:pt idx="7">
                    <c:v>40</c:v>
                  </c:pt>
                  <c:pt idx="8">
                    <c:v>45</c:v>
                  </c:pt>
                  <c:pt idx="9">
                    <c:v>50</c:v>
                  </c:pt>
                  <c:pt idx="10">
                    <c:v>55</c:v>
                  </c:pt>
                  <c:pt idx="11">
                    <c:v>60</c:v>
                  </c:pt>
                </c:lvl>
              </c:multiLvlStrCache>
            </c:multiLvlStrRef>
          </c:cat>
          <c:val>
            <c:numRef>
              <c:f>Sheet1!$B$2:$B$13</c:f>
              <c:numCache>
                <c:formatCode>General</c:formatCode>
                <c:ptCount val="12"/>
                <c:pt idx="0">
                  <c:v>2.414</c:v>
                </c:pt>
                <c:pt idx="1">
                  <c:v>2.7</c:v>
                </c:pt>
                <c:pt idx="2">
                  <c:v>2.901</c:v>
                </c:pt>
                <c:pt idx="3">
                  <c:v>3.058</c:v>
                </c:pt>
                <c:pt idx="4">
                  <c:v>3.18</c:v>
                </c:pt>
                <c:pt idx="5">
                  <c:v>3.276</c:v>
                </c:pt>
                <c:pt idx="6">
                  <c:v>3.352</c:v>
                </c:pt>
                <c:pt idx="7">
                  <c:v>3.416</c:v>
                </c:pt>
                <c:pt idx="8">
                  <c:v>3.476</c:v>
                </c:pt>
                <c:pt idx="9">
                  <c:v>3.536</c:v>
                </c:pt>
                <c:pt idx="10">
                  <c:v>3.598</c:v>
                </c:pt>
                <c:pt idx="11">
                  <c:v>3.666</c:v>
                </c:pt>
              </c:numCache>
            </c:numRef>
          </c:val>
          <c:smooth val="0"/>
        </c:ser>
        <c:ser>
          <c:idx val="1"/>
          <c:order val="1"/>
          <c:tx>
            <c:strRef>
              <c:f>Sheet1!$C$1</c:f>
              <c:strCache>
                <c:ptCount val="1"/>
                <c:pt idx="0">
                  <c:v>GRU (no graph)</c:v>
                </c:pt>
              </c:strCache>
            </c:strRef>
          </c:tx>
          <c:spPr>
            <a:solidFill>
              <a:srgbClr val="8C9BFF"/>
            </a:solidFill>
            <a:ln w="38100" cap="flat">
              <a:solidFill>
                <a:srgbClr val="8C9BFF"/>
              </a:solidFill>
              <a:prstDash val="solid"/>
              <a:round/>
            </a:ln>
            <a:effectLst/>
          </c:spPr>
          <c:invertIfNegative val="0"/>
          <c:dLbls>
            <c:numFmt formatCode="#,##0" sourceLinked="0"/>
            <c:txPr>
              <a:bodyPr/>
              <a:lstStyle/>
              <a:p>
                <a:pPr>
                  <a:defRPr b="0" i="0" strike="noStrike" sz="1100" u="none">
                    <a:solidFill>
                      <a:srgbClr val="FFFFFF"/>
                    </a:solidFill>
                    <a:latin typeface="+mn-lt"/>
                  </a:defRPr>
                </a:pPr>
              </a:p>
            </c:txPr>
            <c:showLegendKey val="0"/>
            <c:showVal val="0"/>
            <c:showCatName val="0"/>
            <c:showSerName val="0"/>
            <c:showPercent val="0"/>
            <c:showBubbleSize val="0"/>
            <c:showLeaderLines val="0"/>
          </c:dLbls>
          <c:marker>
            <c:symbol val="circle"/>
            <c:size val="7"/>
            <c:spPr>
              <a:solidFill>
                <a:srgbClr val="8C9BFF"/>
              </a:solidFill>
              <a:ln w="9525" cap="flat">
                <a:solidFill>
                  <a:srgbClr val="8C9BFF"/>
                </a:solidFill>
                <a:prstDash val="solid"/>
                <a:round/>
              </a:ln>
              <a:effectLst/>
            </c:spPr>
          </c:marker>
          <c:cat>
            <c:multiLvlStrRef>
              <c:f>Sheet1!$A$2:$A$13</c:f>
              <c:multiLvlStrCache>
                <c:ptCount val="12"/>
                <c:lvl>
                  <c:pt idx="0">
                    <c:v>5</c:v>
                  </c:pt>
                  <c:pt idx="1">
                    <c:v>10</c:v>
                  </c:pt>
                  <c:pt idx="2">
                    <c:v>15</c:v>
                  </c:pt>
                  <c:pt idx="3">
                    <c:v>20</c:v>
                  </c:pt>
                  <c:pt idx="4">
                    <c:v>25</c:v>
                  </c:pt>
                  <c:pt idx="5">
                    <c:v>30</c:v>
                  </c:pt>
                  <c:pt idx="6">
                    <c:v>35</c:v>
                  </c:pt>
                  <c:pt idx="7">
                    <c:v>40</c:v>
                  </c:pt>
                  <c:pt idx="8">
                    <c:v>45</c:v>
                  </c:pt>
                  <c:pt idx="9">
                    <c:v>50</c:v>
                  </c:pt>
                  <c:pt idx="10">
                    <c:v>55</c:v>
                  </c:pt>
                  <c:pt idx="11">
                    <c:v>60</c:v>
                  </c:pt>
                </c:lvl>
              </c:multiLvlStrCache>
            </c:multiLvlStrRef>
          </c:cat>
          <c:val>
            <c:numRef>
              <c:f>Sheet1!$C$2:$C$13</c:f>
              <c:numCache>
                <c:formatCode>General</c:formatCode>
                <c:ptCount val="12"/>
                <c:pt idx="0">
                  <c:v>2.387</c:v>
                </c:pt>
                <c:pt idx="1">
                  <c:v>2.68</c:v>
                </c:pt>
                <c:pt idx="2">
                  <c:v>2.892</c:v>
                </c:pt>
                <c:pt idx="3">
                  <c:v>3.062</c:v>
                </c:pt>
                <c:pt idx="4">
                  <c:v>3.199</c:v>
                </c:pt>
                <c:pt idx="5">
                  <c:v>3.313</c:v>
                </c:pt>
                <c:pt idx="6">
                  <c:v>3.403</c:v>
                </c:pt>
                <c:pt idx="7">
                  <c:v>3.479</c:v>
                </c:pt>
                <c:pt idx="8">
                  <c:v>3.546</c:v>
                </c:pt>
                <c:pt idx="9">
                  <c:v>3.614</c:v>
                </c:pt>
                <c:pt idx="10">
                  <c:v>3.685</c:v>
                </c:pt>
                <c:pt idx="11">
                  <c:v>3.761</c:v>
                </c:pt>
              </c:numCache>
            </c:numRef>
          </c:val>
          <c:smooth val="0"/>
        </c:ser>
        <c:ser>
          <c:idx val="2"/>
          <c:order val="2"/>
          <c:tx>
            <c:strRef>
              <c:f>Sheet1!$D$1</c:f>
              <c:strCache>
                <c:ptCount val="1"/>
                <c:pt idx="0">
                  <c:v>XGB pooled</c:v>
                </c:pt>
              </c:strCache>
            </c:strRef>
          </c:tx>
          <c:spPr>
            <a:solidFill>
              <a:srgbClr val="FFB547"/>
            </a:solidFill>
            <a:ln w="38100" cap="flat">
              <a:solidFill>
                <a:srgbClr val="FFB547"/>
              </a:solidFill>
              <a:prstDash val="solid"/>
              <a:round/>
            </a:ln>
            <a:effectLst/>
          </c:spPr>
          <c:invertIfNegative val="0"/>
          <c:dLbls>
            <c:numFmt formatCode="#,##0" sourceLinked="0"/>
            <c:txPr>
              <a:bodyPr/>
              <a:lstStyle/>
              <a:p>
                <a:pPr>
                  <a:defRPr b="0" i="0" strike="noStrike" sz="1100" u="none">
                    <a:solidFill>
                      <a:srgbClr val="FFFFFF"/>
                    </a:solidFill>
                    <a:latin typeface="+mn-lt"/>
                  </a:defRPr>
                </a:pPr>
              </a:p>
            </c:txPr>
            <c:showLegendKey val="0"/>
            <c:showVal val="0"/>
            <c:showCatName val="0"/>
            <c:showSerName val="0"/>
            <c:showPercent val="0"/>
            <c:showBubbleSize val="0"/>
            <c:showLeaderLines val="0"/>
          </c:dLbls>
          <c:marker>
            <c:symbol val="circle"/>
            <c:size val="7"/>
            <c:spPr>
              <a:solidFill>
                <a:srgbClr val="FFB547"/>
              </a:solidFill>
              <a:ln w="9525" cap="flat">
                <a:solidFill>
                  <a:srgbClr val="FFB547"/>
                </a:solidFill>
                <a:prstDash val="solid"/>
                <a:round/>
              </a:ln>
              <a:effectLst/>
            </c:spPr>
          </c:marker>
          <c:cat>
            <c:multiLvlStrRef>
              <c:f>Sheet1!$A$2:$A$13</c:f>
              <c:multiLvlStrCache>
                <c:ptCount val="12"/>
                <c:lvl>
                  <c:pt idx="0">
                    <c:v>5</c:v>
                  </c:pt>
                  <c:pt idx="1">
                    <c:v>10</c:v>
                  </c:pt>
                  <c:pt idx="2">
                    <c:v>15</c:v>
                  </c:pt>
                  <c:pt idx="3">
                    <c:v>20</c:v>
                  </c:pt>
                  <c:pt idx="4">
                    <c:v>25</c:v>
                  </c:pt>
                  <c:pt idx="5">
                    <c:v>30</c:v>
                  </c:pt>
                  <c:pt idx="6">
                    <c:v>35</c:v>
                  </c:pt>
                  <c:pt idx="7">
                    <c:v>40</c:v>
                  </c:pt>
                  <c:pt idx="8">
                    <c:v>45</c:v>
                  </c:pt>
                  <c:pt idx="9">
                    <c:v>50</c:v>
                  </c:pt>
                  <c:pt idx="10">
                    <c:v>55</c:v>
                  </c:pt>
                  <c:pt idx="11">
                    <c:v>60</c:v>
                  </c:pt>
                </c:lvl>
              </c:multiLvlStrCache>
            </c:multiLvlStrRef>
          </c:cat>
          <c:val>
            <c:numRef>
              <c:f>Sheet1!$D$2:$D$13</c:f>
              <c:numCache>
                <c:formatCode>General</c:formatCode>
                <c:ptCount val="12"/>
                <c:pt idx="0">
                  <c:v>2.332</c:v>
                </c:pt>
                <c:pt idx="1">
                  <c:v>2.657</c:v>
                </c:pt>
                <c:pt idx="2">
                  <c:v>2.88</c:v>
                </c:pt>
                <c:pt idx="3">
                  <c:v>3.059</c:v>
                </c:pt>
                <c:pt idx="4">
                  <c:v>3.207</c:v>
                </c:pt>
                <c:pt idx="5">
                  <c:v>3.331</c:v>
                </c:pt>
                <c:pt idx="6">
                  <c:v>3.436</c:v>
                </c:pt>
                <c:pt idx="7">
                  <c:v>3.526</c:v>
                </c:pt>
                <c:pt idx="8">
                  <c:v>3.61</c:v>
                </c:pt>
                <c:pt idx="9">
                  <c:v>3.671</c:v>
                </c:pt>
                <c:pt idx="10">
                  <c:v>3.727</c:v>
                </c:pt>
                <c:pt idx="11">
                  <c:v>3.781</c:v>
                </c:pt>
              </c:numCache>
            </c:numRef>
          </c:val>
          <c:smooth val="0"/>
        </c:ser>
        <c:dLbls>
          <c:numFmt formatCode="#,##0" sourceLinked="0"/>
          <c:txPr>
            <a:bodyPr/>
            <a:lstStyle/>
            <a:p>
              <a:pPr>
                <a:defRPr b="0" i="0" strike="noStrike" sz="1100" u="none">
                  <a:solidFill>
                    <a:srgbClr val="FFFFFF"/>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AEB8D0"/>
                </a:solidFill>
                <a:latin typeface="+mn-lt"/>
              </a:defRPr>
            </a:pPr>
            <a:endParaRPr lang="en-US"/>
          </a:p>
        </c:txPr>
        <c:crossAx val="2094734552"/>
        <c:crosses val="autoZero"/>
        <c:auto val="1"/>
        <c:lblAlgn val="ctr"/>
        <c:noMultiLvlLbl val="1"/>
      </c:catAx>
      <c:valAx>
        <c:axId val="2094734552"/>
        <c:scaling>
          <c:orientation val="minMax"/>
          <c:max val="4"/>
          <c:min val="2"/>
        </c:scaling>
        <c:delete val="0"/>
        <c:axPos val="l"/>
        <c:majorGridlines>
          <c:spPr>
            <a:ln w="9525" cap="flat">
              <a:solidFill>
                <a:srgbClr val="26304F"/>
              </a:solidFill>
              <a:prstDash val="solid"/>
              <a:round/>
            </a:ln>
          </c:spPr>
        </c:majorGridlines>
        <c:numFmt formatCode="0.0" sourceLinked="0"/>
        <c:majorTickMark val="out"/>
        <c:minorTickMark val="none"/>
        <c:tickLblPos val="nextTo"/>
        <c:spPr>
          <a:ln w="12700" cap="flat">
            <a:noFill/>
            <a:prstDash val="solid"/>
            <a:round/>
          </a:ln>
        </c:spPr>
        <c:txPr>
          <a:bodyPr/>
          <a:lstStyle/>
          <a:p>
            <a:pPr>
              <a:defRPr sz="1200" b="0" i="0" u="none" strike="noStrike">
                <a:solidFill>
                  <a:srgbClr val="AEB8D0"/>
                </a:solidFill>
                <a:latin typeface="+mn-lt"/>
              </a:defRPr>
            </a:pPr>
            <a:endParaRPr lang="en-US"/>
          </a:p>
        </c:txPr>
        <c:crossAx val="2094734554"/>
        <c:crosses val="autoZero"/>
        <c:crossBetween val="between"/>
        <c:majorUnit val="0.5"/>
      </c:valAx>
      <c:spPr>
        <a:noFill/>
        <a:ln>
          <a:noFill/>
        </a:ln>
        <a:effectLst/>
      </c:spPr>
    </c:plotArea>
    <c:legend>
      <c:legendPos val="b"/>
      <c:overlay val="0"/>
      <c:txPr>
        <a:bodyPr/>
        <a:lstStyle/>
        <a:p>
          <a:pPr>
            <a:defRPr sz="1200">
              <a:solidFill>
                <a:srgbClr val="AEB8D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FFFFF"/>
                </a:solidFill>
                <a:latin typeface="+mn-lt"/>
              </a:defRPr>
            </a:pPr>
            <a:r>
              <a:rPr sz="1400" b="0" i="0" u="none" strike="noStrike">
                <a:solidFill>
                  <a:srgbClr val="FFFFFF"/>
                </a:solidFill>
                <a:latin typeface="+mn-lt"/>
              </a:rPr>
              <a:t>Test MAE (mph) by horizon (minutes)</a:t>
            </a:r>
          </a:p>
        </c:rich>
      </c:tx>
      <c:layout/>
      <c:overlay val="0"/>
    </c:title>
    <c:autoTitleDeleted val="0"/>
    <c:plotArea>
      <c:layout/>
      <c:lineChart>
        <c:varyColors val="0"/>
        <c:ser>
          <c:idx val="0"/>
          <c:order val="0"/>
          <c:tx>
            <c:strRef>
              <c:f>Sheet1!$B$1</c:f>
              <c:strCache>
                <c:ptCount val="1"/>
                <c:pt idx="0">
                  <c:v>Hybrid residual</c:v>
                </c:pt>
              </c:strCache>
            </c:strRef>
          </c:tx>
          <c:spPr>
            <a:solidFill>
              <a:srgbClr val="FF5A4E"/>
            </a:solidFill>
            <a:ln w="38100" cap="flat">
              <a:solidFill>
                <a:srgbClr val="FF5A4E"/>
              </a:solidFill>
              <a:prstDash val="solid"/>
              <a:round/>
            </a:ln>
            <a:effectLst/>
          </c:spPr>
          <c:invertIfNegative val="0"/>
          <c:dLbls>
            <c:numFmt formatCode="#,##0" sourceLinked="0"/>
            <c:txPr>
              <a:bodyPr/>
              <a:lstStyle/>
              <a:p>
                <a:pPr>
                  <a:defRPr b="0" i="0" strike="noStrike" sz="1100" u="none">
                    <a:solidFill>
                      <a:srgbClr val="FFFFFF"/>
                    </a:solidFill>
                    <a:latin typeface="+mn-lt"/>
                  </a:defRPr>
                </a:pPr>
              </a:p>
            </c:txPr>
            <c:showLegendKey val="0"/>
            <c:showVal val="0"/>
            <c:showCatName val="0"/>
            <c:showSerName val="0"/>
            <c:showPercent val="0"/>
            <c:showBubbleSize val="0"/>
            <c:showLeaderLines val="0"/>
          </c:dLbls>
          <c:marker>
            <c:symbol val="circle"/>
            <c:size val="6"/>
            <c:spPr>
              <a:solidFill>
                <a:srgbClr val="FF5A4E"/>
              </a:solidFill>
              <a:ln w="9525" cap="flat">
                <a:solidFill>
                  <a:srgbClr val="FF5A4E"/>
                </a:solidFill>
                <a:prstDash val="solid"/>
                <a:round/>
              </a:ln>
              <a:effectLst/>
            </c:spPr>
          </c:marker>
          <c:cat>
            <c:multiLvlStrRef>
              <c:f>Sheet1!$A$2:$A$13</c:f>
              <c:multiLvlStrCache>
                <c:ptCount val="12"/>
                <c:lvl>
                  <c:pt idx="0">
                    <c:v>5</c:v>
                  </c:pt>
                  <c:pt idx="1">
                    <c:v>10</c:v>
                  </c:pt>
                  <c:pt idx="2">
                    <c:v>15</c:v>
                  </c:pt>
                  <c:pt idx="3">
                    <c:v>20</c:v>
                  </c:pt>
                  <c:pt idx="4">
                    <c:v>25</c:v>
                  </c:pt>
                  <c:pt idx="5">
                    <c:v>30</c:v>
                  </c:pt>
                  <c:pt idx="6">
                    <c:v>35</c:v>
                  </c:pt>
                  <c:pt idx="7">
                    <c:v>40</c:v>
                  </c:pt>
                  <c:pt idx="8">
                    <c:v>45</c:v>
                  </c:pt>
                  <c:pt idx="9">
                    <c:v>50</c:v>
                  </c:pt>
                  <c:pt idx="10">
                    <c:v>55</c:v>
                  </c:pt>
                  <c:pt idx="11">
                    <c:v>60</c:v>
                  </c:pt>
                </c:lvl>
              </c:multiLvlStrCache>
            </c:multiLvlStrRef>
          </c:cat>
          <c:val>
            <c:numRef>
              <c:f>Sheet1!$B$2:$B$13</c:f>
              <c:numCache>
                <c:formatCode>General</c:formatCode>
                <c:ptCount val="12"/>
                <c:pt idx="0">
                  <c:v>2.308</c:v>
                </c:pt>
                <c:pt idx="1">
                  <c:v>2.615</c:v>
                </c:pt>
                <c:pt idx="2">
                  <c:v>2.82</c:v>
                </c:pt>
                <c:pt idx="3">
                  <c:v>2.985</c:v>
                </c:pt>
                <c:pt idx="4">
                  <c:v>3.112</c:v>
                </c:pt>
                <c:pt idx="5">
                  <c:v>3.219</c:v>
                </c:pt>
                <c:pt idx="6">
                  <c:v>3.316</c:v>
                </c:pt>
                <c:pt idx="7">
                  <c:v>3.397</c:v>
                </c:pt>
                <c:pt idx="8">
                  <c:v>3.466</c:v>
                </c:pt>
                <c:pt idx="9">
                  <c:v>3.527</c:v>
                </c:pt>
                <c:pt idx="10">
                  <c:v>3.587</c:v>
                </c:pt>
                <c:pt idx="11">
                  <c:v>3.647</c:v>
                </c:pt>
              </c:numCache>
            </c:numRef>
          </c:val>
          <c:smooth val="0"/>
        </c:ser>
        <c:ser>
          <c:idx val="1"/>
          <c:order val="1"/>
          <c:tx>
            <c:strRef>
              <c:f>Sheet1!$C$1</c:f>
              <c:strCache>
                <c:ptCount val="1"/>
                <c:pt idx="0">
                  <c:v>Hybrid gating</c:v>
                </c:pt>
              </c:strCache>
            </c:strRef>
          </c:tx>
          <c:spPr>
            <a:solidFill>
              <a:srgbClr val="FFB547"/>
            </a:solidFill>
            <a:ln w="38100" cap="flat">
              <a:solidFill>
                <a:srgbClr val="FFB547"/>
              </a:solidFill>
              <a:prstDash val="solid"/>
              <a:round/>
            </a:ln>
            <a:effectLst/>
          </c:spPr>
          <c:invertIfNegative val="0"/>
          <c:dLbls>
            <c:numFmt formatCode="#,##0" sourceLinked="0"/>
            <c:txPr>
              <a:bodyPr/>
              <a:lstStyle/>
              <a:p>
                <a:pPr>
                  <a:defRPr b="0" i="0" strike="noStrike" sz="1100" u="none">
                    <a:solidFill>
                      <a:srgbClr val="FFFFFF"/>
                    </a:solidFill>
                    <a:latin typeface="+mn-lt"/>
                  </a:defRPr>
                </a:pPr>
              </a:p>
            </c:txPr>
            <c:showLegendKey val="0"/>
            <c:showVal val="0"/>
            <c:showCatName val="0"/>
            <c:showSerName val="0"/>
            <c:showPercent val="0"/>
            <c:showBubbleSize val="0"/>
            <c:showLeaderLines val="0"/>
          </c:dLbls>
          <c:marker>
            <c:symbol val="circle"/>
            <c:size val="6"/>
            <c:spPr>
              <a:solidFill>
                <a:srgbClr val="FFB547"/>
              </a:solidFill>
              <a:ln w="9525" cap="flat">
                <a:solidFill>
                  <a:srgbClr val="FFB547"/>
                </a:solidFill>
                <a:prstDash val="solid"/>
                <a:round/>
              </a:ln>
              <a:effectLst/>
            </c:spPr>
          </c:marker>
          <c:cat>
            <c:multiLvlStrRef>
              <c:f>Sheet1!$A$2:$A$13</c:f>
              <c:multiLvlStrCache>
                <c:ptCount val="12"/>
                <c:lvl>
                  <c:pt idx="0">
                    <c:v>5</c:v>
                  </c:pt>
                  <c:pt idx="1">
                    <c:v>10</c:v>
                  </c:pt>
                  <c:pt idx="2">
                    <c:v>15</c:v>
                  </c:pt>
                  <c:pt idx="3">
                    <c:v>20</c:v>
                  </c:pt>
                  <c:pt idx="4">
                    <c:v>25</c:v>
                  </c:pt>
                  <c:pt idx="5">
                    <c:v>30</c:v>
                  </c:pt>
                  <c:pt idx="6">
                    <c:v>35</c:v>
                  </c:pt>
                  <c:pt idx="7">
                    <c:v>40</c:v>
                  </c:pt>
                  <c:pt idx="8">
                    <c:v>45</c:v>
                  </c:pt>
                  <c:pt idx="9">
                    <c:v>50</c:v>
                  </c:pt>
                  <c:pt idx="10">
                    <c:v>55</c:v>
                  </c:pt>
                  <c:pt idx="11">
                    <c:v>60</c:v>
                  </c:pt>
                </c:lvl>
              </c:multiLvlStrCache>
            </c:multiLvlStrRef>
          </c:cat>
          <c:val>
            <c:numRef>
              <c:f>Sheet1!$C$2:$C$13</c:f>
              <c:numCache>
                <c:formatCode>General</c:formatCode>
                <c:ptCount val="12"/>
                <c:pt idx="0">
                  <c:v>2.311</c:v>
                </c:pt>
                <c:pt idx="1">
                  <c:v>2.623</c:v>
                </c:pt>
                <c:pt idx="2">
                  <c:v>2.836</c:v>
                </c:pt>
                <c:pt idx="3">
                  <c:v>3.002</c:v>
                </c:pt>
                <c:pt idx="4">
                  <c:v>3.131</c:v>
                </c:pt>
                <c:pt idx="5">
                  <c:v>3.233</c:v>
                </c:pt>
                <c:pt idx="6">
                  <c:v>3.314</c:v>
                </c:pt>
                <c:pt idx="7">
                  <c:v>3.381</c:v>
                </c:pt>
                <c:pt idx="8">
                  <c:v>3.441</c:v>
                </c:pt>
                <c:pt idx="9">
                  <c:v>3.496</c:v>
                </c:pt>
                <c:pt idx="10">
                  <c:v>3.552</c:v>
                </c:pt>
                <c:pt idx="11">
                  <c:v>3.607</c:v>
                </c:pt>
              </c:numCache>
            </c:numRef>
          </c:val>
          <c:smooth val="0"/>
        </c:ser>
        <c:ser>
          <c:idx val="2"/>
          <c:order val="2"/>
          <c:tx>
            <c:strRef>
              <c:f>Sheet1!$D$1</c:f>
              <c:strCache>
                <c:ptCount val="1"/>
                <c:pt idx="0">
                  <c:v>STGAT</c:v>
                </c:pt>
              </c:strCache>
            </c:strRef>
          </c:tx>
          <c:spPr>
            <a:solidFill>
              <a:srgbClr val="3DD6C4"/>
            </a:solidFill>
            <a:ln w="38100" cap="flat">
              <a:solidFill>
                <a:srgbClr val="3DD6C4"/>
              </a:solidFill>
              <a:prstDash val="solid"/>
              <a:round/>
            </a:ln>
            <a:effectLst/>
          </c:spPr>
          <c:invertIfNegative val="0"/>
          <c:dLbls>
            <c:numFmt formatCode="#,##0" sourceLinked="0"/>
            <c:txPr>
              <a:bodyPr/>
              <a:lstStyle/>
              <a:p>
                <a:pPr>
                  <a:defRPr b="0" i="0" strike="noStrike" sz="1100" u="none">
                    <a:solidFill>
                      <a:srgbClr val="FFFFFF"/>
                    </a:solidFill>
                    <a:latin typeface="+mn-lt"/>
                  </a:defRPr>
                </a:pPr>
              </a:p>
            </c:txPr>
            <c:showLegendKey val="0"/>
            <c:showVal val="0"/>
            <c:showCatName val="0"/>
            <c:showSerName val="0"/>
            <c:showPercent val="0"/>
            <c:showBubbleSize val="0"/>
            <c:showLeaderLines val="0"/>
          </c:dLbls>
          <c:marker>
            <c:symbol val="circle"/>
            <c:size val="6"/>
            <c:spPr>
              <a:solidFill>
                <a:srgbClr val="3DD6C4"/>
              </a:solidFill>
              <a:ln w="9525" cap="flat">
                <a:solidFill>
                  <a:srgbClr val="3DD6C4"/>
                </a:solidFill>
                <a:prstDash val="solid"/>
                <a:round/>
              </a:ln>
              <a:effectLst/>
            </c:spPr>
          </c:marker>
          <c:cat>
            <c:multiLvlStrRef>
              <c:f>Sheet1!$A$2:$A$13</c:f>
              <c:multiLvlStrCache>
                <c:ptCount val="12"/>
                <c:lvl>
                  <c:pt idx="0">
                    <c:v>5</c:v>
                  </c:pt>
                  <c:pt idx="1">
                    <c:v>10</c:v>
                  </c:pt>
                  <c:pt idx="2">
                    <c:v>15</c:v>
                  </c:pt>
                  <c:pt idx="3">
                    <c:v>20</c:v>
                  </c:pt>
                  <c:pt idx="4">
                    <c:v>25</c:v>
                  </c:pt>
                  <c:pt idx="5">
                    <c:v>30</c:v>
                  </c:pt>
                  <c:pt idx="6">
                    <c:v>35</c:v>
                  </c:pt>
                  <c:pt idx="7">
                    <c:v>40</c:v>
                  </c:pt>
                  <c:pt idx="8">
                    <c:v>45</c:v>
                  </c:pt>
                  <c:pt idx="9">
                    <c:v>50</c:v>
                  </c:pt>
                  <c:pt idx="10">
                    <c:v>55</c:v>
                  </c:pt>
                  <c:pt idx="11">
                    <c:v>60</c:v>
                  </c:pt>
                </c:lvl>
              </c:multiLvlStrCache>
            </c:multiLvlStrRef>
          </c:cat>
          <c:val>
            <c:numRef>
              <c:f>Sheet1!$D$2:$D$13</c:f>
              <c:numCache>
                <c:formatCode>General</c:formatCode>
                <c:ptCount val="12"/>
                <c:pt idx="0">
                  <c:v>2.414</c:v>
                </c:pt>
                <c:pt idx="1">
                  <c:v>2.7</c:v>
                </c:pt>
                <c:pt idx="2">
                  <c:v>2.901</c:v>
                </c:pt>
                <c:pt idx="3">
                  <c:v>3.058</c:v>
                </c:pt>
                <c:pt idx="4">
                  <c:v>3.18</c:v>
                </c:pt>
                <c:pt idx="5">
                  <c:v>3.276</c:v>
                </c:pt>
                <c:pt idx="6">
                  <c:v>3.352</c:v>
                </c:pt>
                <c:pt idx="7">
                  <c:v>3.416</c:v>
                </c:pt>
                <c:pt idx="8">
                  <c:v>3.476</c:v>
                </c:pt>
                <c:pt idx="9">
                  <c:v>3.536</c:v>
                </c:pt>
                <c:pt idx="10">
                  <c:v>3.598</c:v>
                </c:pt>
                <c:pt idx="11">
                  <c:v>3.666</c:v>
                </c:pt>
              </c:numCache>
            </c:numRef>
          </c:val>
          <c:smooth val="0"/>
        </c:ser>
        <c:ser>
          <c:idx val="3"/>
          <c:order val="3"/>
          <c:tx>
            <c:strRef>
              <c:f>Sheet1!$E$1</c:f>
              <c:strCache>
                <c:ptCount val="1"/>
                <c:pt idx="0">
                  <c:v>XGB spatial</c:v>
                </c:pt>
              </c:strCache>
            </c:strRef>
          </c:tx>
          <c:spPr>
            <a:solidFill>
              <a:srgbClr val="8C9BFF"/>
            </a:solidFill>
            <a:ln w="38100" cap="flat">
              <a:solidFill>
                <a:srgbClr val="8C9BFF"/>
              </a:solidFill>
              <a:prstDash val="solid"/>
              <a:round/>
            </a:ln>
            <a:effectLst/>
          </c:spPr>
          <c:invertIfNegative val="0"/>
          <c:dLbls>
            <c:numFmt formatCode="#,##0" sourceLinked="0"/>
            <c:txPr>
              <a:bodyPr/>
              <a:lstStyle/>
              <a:p>
                <a:pPr>
                  <a:defRPr b="0" i="0" strike="noStrike" sz="1100" u="none">
                    <a:solidFill>
                      <a:srgbClr val="FFFFFF"/>
                    </a:solidFill>
                    <a:latin typeface="+mn-lt"/>
                  </a:defRPr>
                </a:pPr>
              </a:p>
            </c:txPr>
            <c:showLegendKey val="0"/>
            <c:showVal val="0"/>
            <c:showCatName val="0"/>
            <c:showSerName val="0"/>
            <c:showPercent val="0"/>
            <c:showBubbleSize val="0"/>
            <c:showLeaderLines val="0"/>
          </c:dLbls>
          <c:marker>
            <c:symbol val="circle"/>
            <c:size val="6"/>
            <c:spPr>
              <a:solidFill>
                <a:srgbClr val="8C9BFF"/>
              </a:solidFill>
              <a:ln w="9525" cap="flat">
                <a:solidFill>
                  <a:srgbClr val="8C9BFF"/>
                </a:solidFill>
                <a:prstDash val="solid"/>
                <a:round/>
              </a:ln>
              <a:effectLst/>
            </c:spPr>
          </c:marker>
          <c:cat>
            <c:multiLvlStrRef>
              <c:f>Sheet1!$A$2:$A$13</c:f>
              <c:multiLvlStrCache>
                <c:ptCount val="12"/>
                <c:lvl>
                  <c:pt idx="0">
                    <c:v>5</c:v>
                  </c:pt>
                  <c:pt idx="1">
                    <c:v>10</c:v>
                  </c:pt>
                  <c:pt idx="2">
                    <c:v>15</c:v>
                  </c:pt>
                  <c:pt idx="3">
                    <c:v>20</c:v>
                  </c:pt>
                  <c:pt idx="4">
                    <c:v>25</c:v>
                  </c:pt>
                  <c:pt idx="5">
                    <c:v>30</c:v>
                  </c:pt>
                  <c:pt idx="6">
                    <c:v>35</c:v>
                  </c:pt>
                  <c:pt idx="7">
                    <c:v>40</c:v>
                  </c:pt>
                  <c:pt idx="8">
                    <c:v>45</c:v>
                  </c:pt>
                  <c:pt idx="9">
                    <c:v>50</c:v>
                  </c:pt>
                  <c:pt idx="10">
                    <c:v>55</c:v>
                  </c:pt>
                  <c:pt idx="11">
                    <c:v>60</c:v>
                  </c:pt>
                </c:lvl>
              </c:multiLvlStrCache>
            </c:multiLvlStrRef>
          </c:cat>
          <c:val>
            <c:numRef>
              <c:f>Sheet1!$E$2:$E$13</c:f>
              <c:numCache>
                <c:formatCode>General</c:formatCode>
                <c:ptCount val="12"/>
                <c:pt idx="0">
                  <c:v>2.269</c:v>
                </c:pt>
                <c:pt idx="1">
                  <c:v>2.599</c:v>
                </c:pt>
                <c:pt idx="2">
                  <c:v>2.82</c:v>
                </c:pt>
                <c:pt idx="3">
                  <c:v>2.993</c:v>
                </c:pt>
                <c:pt idx="4">
                  <c:v>3.138</c:v>
                </c:pt>
                <c:pt idx="5">
                  <c:v>3.258</c:v>
                </c:pt>
                <c:pt idx="6">
                  <c:v>3.37</c:v>
                </c:pt>
                <c:pt idx="7">
                  <c:v>3.461</c:v>
                </c:pt>
                <c:pt idx="8">
                  <c:v>3.546</c:v>
                </c:pt>
                <c:pt idx="9">
                  <c:v>3.613</c:v>
                </c:pt>
                <c:pt idx="10">
                  <c:v>3.672</c:v>
                </c:pt>
                <c:pt idx="11">
                  <c:v>3.73</c:v>
                </c:pt>
              </c:numCache>
            </c:numRef>
          </c:val>
          <c:smooth val="0"/>
        </c:ser>
        <c:dLbls>
          <c:numFmt formatCode="#,##0" sourceLinked="0"/>
          <c:txPr>
            <a:bodyPr/>
            <a:lstStyle/>
            <a:p>
              <a:pPr>
                <a:defRPr b="0" i="0" strike="noStrike" sz="1100" u="none">
                  <a:solidFill>
                    <a:srgbClr val="FFFFFF"/>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AEB8D0"/>
                </a:solidFill>
                <a:latin typeface="+mn-lt"/>
              </a:defRPr>
            </a:pPr>
            <a:endParaRPr lang="en-US"/>
          </a:p>
        </c:txPr>
        <c:crossAx val="2094734552"/>
        <c:crosses val="autoZero"/>
        <c:auto val="1"/>
        <c:lblAlgn val="ctr"/>
        <c:noMultiLvlLbl val="1"/>
      </c:catAx>
      <c:valAx>
        <c:axId val="2094734552"/>
        <c:scaling>
          <c:orientation val="minMax"/>
          <c:max val="4"/>
          <c:min val="2"/>
        </c:scaling>
        <c:delete val="0"/>
        <c:axPos val="l"/>
        <c:majorGridlines>
          <c:spPr>
            <a:ln w="9525" cap="flat">
              <a:solidFill>
                <a:srgbClr val="26304F"/>
              </a:solidFill>
              <a:prstDash val="solid"/>
              <a:round/>
            </a:ln>
          </c:spPr>
        </c:majorGridlines>
        <c:numFmt formatCode="0.0" sourceLinked="0"/>
        <c:majorTickMark val="out"/>
        <c:minorTickMark val="none"/>
        <c:tickLblPos val="nextTo"/>
        <c:spPr>
          <a:ln w="12700" cap="flat">
            <a:noFill/>
            <a:prstDash val="solid"/>
            <a:round/>
          </a:ln>
        </c:spPr>
        <c:txPr>
          <a:bodyPr/>
          <a:lstStyle/>
          <a:p>
            <a:pPr>
              <a:defRPr sz="1200" b="0" i="0" u="none" strike="noStrike">
                <a:solidFill>
                  <a:srgbClr val="AEB8D0"/>
                </a:solidFill>
                <a:latin typeface="+mn-lt"/>
              </a:defRPr>
            </a:pPr>
            <a:endParaRPr lang="en-US"/>
          </a:p>
        </c:txPr>
        <c:crossAx val="2094734554"/>
        <c:crosses val="autoZero"/>
        <c:crossBetween val="between"/>
        <c:majorUnit val="0.5"/>
      </c:valAx>
      <c:spPr>
        <a:noFill/>
        <a:ln>
          <a:noFill/>
        </a:ln>
        <a:effectLst/>
      </c:spPr>
    </c:plotArea>
    <c:legend>
      <c:legendPos val="b"/>
      <c:overlay val="0"/>
      <c:txPr>
        <a:bodyPr/>
        <a:lstStyle/>
        <a:p>
          <a:pPr>
            <a:defRPr sz="1200">
              <a:solidFill>
                <a:srgbClr val="AEB8D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FFFFF"/>
                </a:solidFill>
                <a:latin typeface="+mn-lt"/>
              </a:defRPr>
            </a:pPr>
            <a:r>
              <a:rPr sz="1400" b="0" i="0" u="none" strike="noStrike">
                <a:solidFill>
                  <a:srgbClr val="FFFFFF"/>
                </a:solidFill>
                <a:latin typeface="+mn-lt"/>
              </a:rPr>
              <a:t>Residual-hybrid gain over XGB pooled at 60 min (mph)</a:t>
            </a:r>
          </a:p>
        </c:rich>
      </c:tx>
      <c:layout/>
      <c:overlay val="0"/>
    </c:title>
    <c:autoTitleDeleted val="0"/>
    <c:plotArea>
      <c:layout/>
      <c:barChart>
        <c:barDir val="col"/>
        <c:grouping val="clustered"/>
        <c:varyColors val="0"/>
        <c:ser>
          <c:idx val="0"/>
          <c:order val="0"/>
          <c:tx>
            <c:strRef>
              <c:f>Sheet1!$B$1</c:f>
              <c:strCache>
                <c:ptCount val="1"/>
                <c:pt idx="0">
                  <c:v>Gain at 60 min</c:v>
                </c:pt>
              </c:strCache>
            </c:strRef>
          </c:tx>
          <c:spPr>
            <a:solidFill>
              <a:srgbClr val="FF5A4E"/>
            </a:solidFill>
            <a:effectLst/>
          </c:spPr>
          <c:invertIfNegative val="0"/>
          <c:dLbls>
            <c:numFmt formatCode="0.00" sourceLinked="0"/>
            <c:txPr>
              <a:bodyPr/>
              <a:lstStyle/>
              <a:p>
                <a:pPr>
                  <a:defRPr b="0" i="0" strike="noStrike" sz="1100" u="none">
                    <a:solidFill>
                      <a:srgbClr val="FFFFFF"/>
                    </a:solidFill>
                    <a:latin typeface="+mn-lt"/>
                  </a:defRPr>
                </a:pPr>
              </a:p>
            </c:txPr>
            <c:showLegendKey val="0"/>
            <c:showVal val="1"/>
            <c:showCatName val="0"/>
            <c:showSerName val="0"/>
            <c:showPercent val="0"/>
            <c:showBubbleSize val="0"/>
            <c:showLeaderLines val="0"/>
          </c:dLbls>
          <c:cat>
            <c:multiLvlStrRef>
              <c:f>Sheet1!$A$2:$A$7</c:f>
              <c:multiLvlStrCache>
                <c:ptCount val="6"/>
                <c:lvl>
                  <c:pt idx="0">
                    <c:v>All</c:v>
                  </c:pt>
                  <c:pt idx="1">
                    <c:v>Peak</c:v>
                  </c:pt>
                  <c:pt idx="2">
                    <c:v>Off-peak</c:v>
                  </c:pt>
                  <c:pt idx="3">
                    <c:v>Weekend</c:v>
                  </c:pt>
                  <c:pt idx="4">
                    <c:v>Congested</c:v>
                  </c:pt>
                  <c:pt idx="5">
                    <c:v>Free-flow</c:v>
                  </c:pt>
                </c:lvl>
              </c:multiLvlStrCache>
            </c:multiLvlStrRef>
          </c:cat>
          <c:val>
            <c:numRef>
              <c:f>Sheet1!$B$2:$B$7</c:f>
              <c:numCache>
                <c:formatCode>General</c:formatCode>
                <c:ptCount val="6"/>
                <c:pt idx="0">
                  <c:v>0.133</c:v>
                </c:pt>
                <c:pt idx="1">
                  <c:v>0.374</c:v>
                </c:pt>
                <c:pt idx="2">
                  <c:v>0.037</c:v>
                </c:pt>
                <c:pt idx="3">
                  <c:v>0.066</c:v>
                </c:pt>
                <c:pt idx="4">
                  <c:v>1.536</c:v>
                </c:pt>
                <c:pt idx="5">
                  <c:v>-0.065</c:v>
                </c:pt>
              </c:numCache>
            </c:numRef>
          </c:val>
        </c:ser>
        <c:dLbls>
          <c:numFmt formatCode="0.00" sourceLinked="0"/>
          <c:txPr>
            <a:bodyPr/>
            <a:lstStyle/>
            <a:p>
              <a:pPr>
                <a:defRPr b="0" i="0" strike="noStrike" sz="1100" u="none">
                  <a:solidFill>
                    <a:srgbClr val="FFFFFF"/>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AEB8D0"/>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26304F"/>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AEB8D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FFFFF"/>
                </a:solidFill>
                <a:latin typeface="+mn-lt"/>
              </a:defRPr>
            </a:pPr>
            <a:r>
              <a:rPr sz="1400" b="0" i="0" u="none" strike="noStrike">
                <a:solidFill>
                  <a:srgbClr val="FFFFFF"/>
                </a:solidFill>
                <a:latin typeface="+mn-lt"/>
              </a:rPr>
              <a:t>Learned gate: weight on STGAT</a:t>
            </a:r>
          </a:p>
        </c:rich>
      </c:tx>
      <c:layout/>
      <c:overlay val="0"/>
    </c:title>
    <c:autoTitleDeleted val="0"/>
    <c:plotArea>
      <c:layout/>
      <c:lineChart>
        <c:varyColors val="0"/>
        <c:ser>
          <c:idx val="0"/>
          <c:order val="0"/>
          <c:tx>
            <c:strRef>
              <c:f>Sheet1!$B$1</c:f>
              <c:strCache>
                <c:ptCount val="1"/>
                <c:pt idx="0">
                  <c:v>Peak</c:v>
                </c:pt>
              </c:strCache>
            </c:strRef>
          </c:tx>
          <c:spPr>
            <a:solidFill>
              <a:srgbClr val="FF5A4E"/>
            </a:solidFill>
            <a:ln w="38100" cap="flat">
              <a:solidFill>
                <a:srgbClr val="FF5A4E"/>
              </a:solidFill>
              <a:prstDash val="solid"/>
              <a:round/>
            </a:ln>
            <a:effectLst/>
          </c:spPr>
          <c:invertIfNegative val="0"/>
          <c:dLbls>
            <c:numFmt formatCode="#,##0" sourceLinked="0"/>
            <c:txPr>
              <a:bodyPr/>
              <a:lstStyle/>
              <a:p>
                <a:pPr>
                  <a:defRPr b="0" i="0" strike="noStrike" sz="1100" u="none">
                    <a:solidFill>
                      <a:srgbClr val="FFFFFF"/>
                    </a:solidFill>
                    <a:latin typeface="+mn-lt"/>
                  </a:defRPr>
                </a:pPr>
              </a:p>
            </c:txPr>
            <c:showLegendKey val="0"/>
            <c:showVal val="0"/>
            <c:showCatName val="0"/>
            <c:showSerName val="0"/>
            <c:showPercent val="0"/>
            <c:showBubbleSize val="0"/>
            <c:showLeaderLines val="0"/>
          </c:dLbls>
          <c:marker>
            <c:symbol val="circle"/>
            <c:size val="6"/>
            <c:spPr>
              <a:solidFill>
                <a:srgbClr val="FF5A4E"/>
              </a:solidFill>
              <a:ln w="9525" cap="flat">
                <a:solidFill>
                  <a:srgbClr val="FF5A4E"/>
                </a:solidFill>
                <a:prstDash val="solid"/>
                <a:round/>
              </a:ln>
              <a:effectLst/>
            </c:spPr>
          </c:marker>
          <c:cat>
            <c:multiLvlStrRef>
              <c:f>Sheet1!$A$2:$A$13</c:f>
              <c:multiLvlStrCache>
                <c:ptCount val="12"/>
                <c:lvl>
                  <c:pt idx="0">
                    <c:v>5</c:v>
                  </c:pt>
                  <c:pt idx="1">
                    <c:v>10</c:v>
                  </c:pt>
                  <c:pt idx="2">
                    <c:v>15</c:v>
                  </c:pt>
                  <c:pt idx="3">
                    <c:v>20</c:v>
                  </c:pt>
                  <c:pt idx="4">
                    <c:v>25</c:v>
                  </c:pt>
                  <c:pt idx="5">
                    <c:v>30</c:v>
                  </c:pt>
                  <c:pt idx="6">
                    <c:v>35</c:v>
                  </c:pt>
                  <c:pt idx="7">
                    <c:v>40</c:v>
                  </c:pt>
                  <c:pt idx="8">
                    <c:v>45</c:v>
                  </c:pt>
                  <c:pt idx="9">
                    <c:v>50</c:v>
                  </c:pt>
                  <c:pt idx="10">
                    <c:v>55</c:v>
                  </c:pt>
                  <c:pt idx="11">
                    <c:v>60</c:v>
                  </c:pt>
                </c:lvl>
              </c:multiLvlStrCache>
            </c:multiLvlStrRef>
          </c:cat>
          <c:val>
            <c:numRef>
              <c:f>Sheet1!$B$2:$B$13</c:f>
              <c:numCache>
                <c:formatCode>General</c:formatCode>
                <c:ptCount val="12"/>
                <c:pt idx="0">
                  <c:v>0.349</c:v>
                </c:pt>
                <c:pt idx="1">
                  <c:v>0.493</c:v>
                </c:pt>
                <c:pt idx="2">
                  <c:v>0.558</c:v>
                </c:pt>
                <c:pt idx="3">
                  <c:v>0.653</c:v>
                </c:pt>
                <c:pt idx="4">
                  <c:v>0.724</c:v>
                </c:pt>
                <c:pt idx="5">
                  <c:v>0.786</c:v>
                </c:pt>
                <c:pt idx="6">
                  <c:v>0.823</c:v>
                </c:pt>
                <c:pt idx="7">
                  <c:v>0.846</c:v>
                </c:pt>
                <c:pt idx="8">
                  <c:v>0.848</c:v>
                </c:pt>
                <c:pt idx="9">
                  <c:v>0.844</c:v>
                </c:pt>
                <c:pt idx="10">
                  <c:v>0.825</c:v>
                </c:pt>
                <c:pt idx="11">
                  <c:v>0.789</c:v>
                </c:pt>
              </c:numCache>
            </c:numRef>
          </c:val>
          <c:smooth val="0"/>
        </c:ser>
        <c:ser>
          <c:idx val="1"/>
          <c:order val="1"/>
          <c:tx>
            <c:strRef>
              <c:f>Sheet1!$C$1</c:f>
              <c:strCache>
                <c:ptCount val="1"/>
                <c:pt idx="0">
                  <c:v>Off-peak</c:v>
                </c:pt>
              </c:strCache>
            </c:strRef>
          </c:tx>
          <c:spPr>
            <a:solidFill>
              <a:srgbClr val="6B7794"/>
            </a:solidFill>
            <a:ln w="38100" cap="flat">
              <a:solidFill>
                <a:srgbClr val="6B7794"/>
              </a:solidFill>
              <a:prstDash val="solid"/>
              <a:round/>
            </a:ln>
            <a:effectLst/>
          </c:spPr>
          <c:invertIfNegative val="0"/>
          <c:dLbls>
            <c:numFmt formatCode="#,##0" sourceLinked="0"/>
            <c:txPr>
              <a:bodyPr/>
              <a:lstStyle/>
              <a:p>
                <a:pPr>
                  <a:defRPr b="0" i="0" strike="noStrike" sz="1100" u="none">
                    <a:solidFill>
                      <a:srgbClr val="FFFFFF"/>
                    </a:solidFill>
                    <a:latin typeface="+mn-lt"/>
                  </a:defRPr>
                </a:pPr>
              </a:p>
            </c:txPr>
            <c:showLegendKey val="0"/>
            <c:showVal val="0"/>
            <c:showCatName val="0"/>
            <c:showSerName val="0"/>
            <c:showPercent val="0"/>
            <c:showBubbleSize val="0"/>
            <c:showLeaderLines val="0"/>
          </c:dLbls>
          <c:marker>
            <c:symbol val="circle"/>
            <c:size val="6"/>
            <c:spPr>
              <a:solidFill>
                <a:srgbClr val="6B7794"/>
              </a:solidFill>
              <a:ln w="9525" cap="flat">
                <a:solidFill>
                  <a:srgbClr val="6B7794"/>
                </a:solidFill>
                <a:prstDash val="solid"/>
                <a:round/>
              </a:ln>
              <a:effectLst/>
            </c:spPr>
          </c:marker>
          <c:cat>
            <c:multiLvlStrRef>
              <c:f>Sheet1!$A$2:$A$13</c:f>
              <c:multiLvlStrCache>
                <c:ptCount val="12"/>
                <c:lvl>
                  <c:pt idx="0">
                    <c:v>5</c:v>
                  </c:pt>
                  <c:pt idx="1">
                    <c:v>10</c:v>
                  </c:pt>
                  <c:pt idx="2">
                    <c:v>15</c:v>
                  </c:pt>
                  <c:pt idx="3">
                    <c:v>20</c:v>
                  </c:pt>
                  <c:pt idx="4">
                    <c:v>25</c:v>
                  </c:pt>
                  <c:pt idx="5">
                    <c:v>30</c:v>
                  </c:pt>
                  <c:pt idx="6">
                    <c:v>35</c:v>
                  </c:pt>
                  <c:pt idx="7">
                    <c:v>40</c:v>
                  </c:pt>
                  <c:pt idx="8">
                    <c:v>45</c:v>
                  </c:pt>
                  <c:pt idx="9">
                    <c:v>50</c:v>
                  </c:pt>
                  <c:pt idx="10">
                    <c:v>55</c:v>
                  </c:pt>
                  <c:pt idx="11">
                    <c:v>60</c:v>
                  </c:pt>
                </c:lvl>
              </c:multiLvlStrCache>
            </c:multiLvlStrRef>
          </c:cat>
          <c:val>
            <c:numRef>
              <c:f>Sheet1!$C$2:$C$13</c:f>
              <c:numCache>
                <c:formatCode>General</c:formatCode>
                <c:ptCount val="12"/>
                <c:pt idx="0">
                  <c:v>0.178</c:v>
                </c:pt>
                <c:pt idx="1">
                  <c:v>0.274</c:v>
                </c:pt>
                <c:pt idx="2">
                  <c:v>0.328</c:v>
                </c:pt>
                <c:pt idx="3">
                  <c:v>0.356</c:v>
                </c:pt>
                <c:pt idx="4">
                  <c:v>0.397</c:v>
                </c:pt>
                <c:pt idx="5">
                  <c:v>0.45</c:v>
                </c:pt>
                <c:pt idx="6">
                  <c:v>0.488</c:v>
                </c:pt>
                <c:pt idx="7">
                  <c:v>0.503</c:v>
                </c:pt>
                <c:pt idx="8">
                  <c:v>0.518</c:v>
                </c:pt>
                <c:pt idx="9">
                  <c:v>0.488</c:v>
                </c:pt>
                <c:pt idx="10">
                  <c:v>0.455</c:v>
                </c:pt>
                <c:pt idx="11">
                  <c:v>0.416</c:v>
                </c:pt>
              </c:numCache>
            </c:numRef>
          </c:val>
          <c:smooth val="0"/>
        </c:ser>
        <c:dLbls>
          <c:numFmt formatCode="#,##0" sourceLinked="0"/>
          <c:txPr>
            <a:bodyPr/>
            <a:lstStyle/>
            <a:p>
              <a:pPr>
                <a:defRPr b="0" i="0" strike="noStrike" sz="1100" u="none">
                  <a:solidFill>
                    <a:srgbClr val="FFFFFF"/>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AEB8D0"/>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26304F"/>
              </a:solidFill>
              <a:prstDash val="solid"/>
              <a:round/>
            </a:ln>
          </c:spPr>
        </c:majorGridlines>
        <c:numFmt formatCode="0.0" sourceLinked="0"/>
        <c:majorTickMark val="out"/>
        <c:minorTickMark val="none"/>
        <c:tickLblPos val="nextTo"/>
        <c:spPr>
          <a:ln w="12700" cap="flat">
            <a:noFill/>
            <a:prstDash val="solid"/>
            <a:round/>
          </a:ln>
        </c:spPr>
        <c:txPr>
          <a:bodyPr/>
          <a:lstStyle/>
          <a:p>
            <a:pPr>
              <a:defRPr sz="1200" b="0" i="0" u="none" strike="noStrike">
                <a:solidFill>
                  <a:srgbClr val="AEB8D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AEB8D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FFFFF"/>
                </a:solidFill>
                <a:latin typeface="+mn-lt"/>
              </a:defRPr>
            </a:pPr>
            <a:r>
              <a:rPr sz="1400" b="0" i="0" u="none" strike="noStrike">
                <a:solidFill>
                  <a:srgbClr val="FFFFFF"/>
                </a:solidFill>
                <a:latin typeface="+mn-lt"/>
              </a:rPr>
              <a:t>Change in MAE at 60 min vs default (mph)</a:t>
            </a:r>
          </a:p>
        </c:rich>
      </c:tx>
      <c:layout/>
      <c:overlay val="0"/>
    </c:title>
    <c:autoTitleDeleted val="0"/>
    <c:plotArea>
      <c:layout/>
      <c:barChart>
        <c:barDir val="bar"/>
        <c:grouping val="stacked"/>
        <c:varyColors val="0"/>
        <c:ser>
          <c:idx val="0"/>
          <c:order val="0"/>
          <c:tx>
            <c:strRef>
              <c:f>Sheet1!$B$1</c:f>
              <c:strCache>
                <c:ptCount val="1"/>
                <c:pt idx="0">
                  <c:v>Better than default</c:v>
                </c:pt>
              </c:strCache>
            </c:strRef>
          </c:tx>
          <c:spPr>
            <a:solidFill>
              <a:srgbClr val="3DD6C4"/>
            </a:solidFill>
            <a:effectLst/>
          </c:spPr>
          <c:invertIfNegative val="0"/>
          <c:dLbls>
            <c:numFmt formatCode="#,##0" sourceLinked="0"/>
            <c:txPr>
              <a:bodyPr/>
              <a:lstStyle/>
              <a:p>
                <a:pPr>
                  <a:defRPr b="0" i="0" strike="noStrike" sz="1100" u="none">
                    <a:solidFill>
                      <a:srgbClr val="FFFFFF"/>
                    </a:solidFill>
                    <a:latin typeface="+mn-lt"/>
                  </a:defRPr>
                </a:pPr>
              </a:p>
            </c:txPr>
            <c:showLegendKey val="0"/>
            <c:showVal val="0"/>
            <c:showCatName val="0"/>
            <c:showSerName val="0"/>
            <c:showPercent val="0"/>
            <c:showBubbleSize val="0"/>
            <c:showLeaderLines val="0"/>
          </c:dLbls>
          <c:cat>
            <c:multiLvlStrRef>
              <c:f>Sheet1!$A$2:$A$20</c:f>
              <c:multiLvlStrCache>
                <c:ptCount val="19"/>
                <c:lvl>
                  <c:pt idx="0">
                    <c:v>No weight decay</c:v>
                  </c:pt>
                  <c:pt idx="1">
                    <c:v>No neighbours</c:v>
                  </c:pt>
                  <c:pt idx="2">
                    <c:v>No dropout</c:v>
                  </c:pt>
                  <c:pt idx="3">
                    <c:v>Fixed weights</c:v>
                  </c:pt>
                  <c:pt idx="4">
                    <c:v>History 24</c:v>
                  </c:pt>
                  <c:pt idx="5">
                    <c:v>1 head</c:v>
                  </c:pt>
                  <c:pt idx="6">
                    <c:v>Distance bias</c:v>
                  </c:pt>
                  <c:pt idx="7">
                    <c:v>2 heads</c:v>
                  </c:pt>
                  <c:pt idx="8">
                    <c:v>History 6</c:v>
                  </c:pt>
                  <c:pt idx="9">
                    <c:v>GATv2</c:v>
                  </c:pt>
                  <c:pt idx="10">
                    <c:v>Downstream only</c:v>
                  </c:pt>
                  <c:pt idx="11">
                    <c:v>8 heads</c:v>
                  </c:pt>
                  <c:pt idx="12">
                    <c:v>Upstream only</c:v>
                  </c:pt>
                  <c:pt idx="13">
                    <c:v>3 blocks</c:v>
                  </c:pt>
                  <c:pt idx="14">
                    <c:v>Zeros + mask</c:v>
                  </c:pt>
                  <c:pt idx="15">
                    <c:v>1 block</c:v>
                  </c:pt>
                  <c:pt idx="16">
                    <c:v>Random graph</c:v>
                  </c:pt>
                  <c:pt idx="17">
                    <c:v>No node emb.</c:v>
                  </c:pt>
                  <c:pt idx="18">
                    <c:v>No calendar</c:v>
                  </c:pt>
                </c:lvl>
              </c:multiLvlStrCache>
            </c:multiLvlStrRef>
          </c:cat>
          <c:val>
            <c:numRef>
              <c:f>Sheet1!$B$2:$B$20</c:f>
              <c:numCache>
                <c:formatCode>General</c:formatCode>
                <c:ptCount val="19"/>
                <c:pt idx="0">
                  <c:v>-0.224</c:v>
                </c:pt>
                <c:pt idx="1">
                  <c:v>-0.135</c:v>
                </c:pt>
                <c:pt idx="2">
                  <c:v>-0.089</c:v>
                </c:pt>
                <c:pt idx="3">
                  <c:v>-0.062</c:v>
                </c:pt>
                <c:pt idx="4">
                  <c:v>-0.06</c:v>
                </c:pt>
                <c:pt idx="5">
                  <c:v>-0.06</c:v>
                </c:pt>
                <c:pt idx="6">
                  <c:v>-0.056</c:v>
                </c:pt>
                <c:pt idx="7">
                  <c:v>-0.036</c:v>
                </c:pt>
                <c:pt idx="8">
                  <c:v>-0.021</c:v>
                </c:pt>
                <c:pt idx="9">
                  <c:v>-0.021</c:v>
                </c:pt>
                <c:pt idx="10">
                  <c:v>-0.013</c:v>
                </c:pt>
                <c:pt idx="11">
                  <c:v>-0.009</c:v>
                </c:pt>
                <c:pt idx="12">
                  <c:v>0</c:v>
                </c:pt>
                <c:pt idx="13">
                  <c:v>0</c:v>
                </c:pt>
                <c:pt idx="14">
                  <c:v>0</c:v>
                </c:pt>
                <c:pt idx="15">
                  <c:v>0</c:v>
                </c:pt>
                <c:pt idx="16">
                  <c:v>0</c:v>
                </c:pt>
                <c:pt idx="17">
                  <c:v>0</c:v>
                </c:pt>
                <c:pt idx="18">
                  <c:v>0</c:v>
                </c:pt>
              </c:numCache>
            </c:numRef>
          </c:val>
        </c:ser>
        <c:ser>
          <c:idx val="1"/>
          <c:order val="1"/>
          <c:tx>
            <c:strRef>
              <c:f>Sheet1!$C$1</c:f>
              <c:strCache>
                <c:ptCount val="1"/>
                <c:pt idx="0">
                  <c:v>Worse than default</c:v>
                </c:pt>
              </c:strCache>
            </c:strRef>
          </c:tx>
          <c:spPr>
            <a:solidFill>
              <a:srgbClr val="FF5A4E"/>
            </a:solidFill>
            <a:effectLst/>
          </c:spPr>
          <c:invertIfNegative val="0"/>
          <c:dLbls>
            <c:numFmt formatCode="#,##0" sourceLinked="0"/>
            <c:txPr>
              <a:bodyPr/>
              <a:lstStyle/>
              <a:p>
                <a:pPr>
                  <a:defRPr b="0" i="0" strike="noStrike" sz="1100" u="none">
                    <a:solidFill>
                      <a:srgbClr val="FFFFFF"/>
                    </a:solidFill>
                    <a:latin typeface="+mn-lt"/>
                  </a:defRPr>
                </a:pPr>
              </a:p>
            </c:txPr>
            <c:showLegendKey val="0"/>
            <c:showVal val="0"/>
            <c:showCatName val="0"/>
            <c:showSerName val="0"/>
            <c:showPercent val="0"/>
            <c:showBubbleSize val="0"/>
            <c:showLeaderLines val="0"/>
          </c:dLbls>
          <c:cat>
            <c:multiLvlStrRef>
              <c:f>Sheet1!$A$2:$A$20</c:f>
              <c:multiLvlStrCache>
                <c:ptCount val="19"/>
                <c:lvl>
                  <c:pt idx="0">
                    <c:v>No weight decay</c:v>
                  </c:pt>
                  <c:pt idx="1">
                    <c:v>No neighbours</c:v>
                  </c:pt>
                  <c:pt idx="2">
                    <c:v>No dropout</c:v>
                  </c:pt>
                  <c:pt idx="3">
                    <c:v>Fixed weights</c:v>
                  </c:pt>
                  <c:pt idx="4">
                    <c:v>History 24</c:v>
                  </c:pt>
                  <c:pt idx="5">
                    <c:v>1 head</c:v>
                  </c:pt>
                  <c:pt idx="6">
                    <c:v>Distance bias</c:v>
                  </c:pt>
                  <c:pt idx="7">
                    <c:v>2 heads</c:v>
                  </c:pt>
                  <c:pt idx="8">
                    <c:v>History 6</c:v>
                  </c:pt>
                  <c:pt idx="9">
                    <c:v>GATv2</c:v>
                  </c:pt>
                  <c:pt idx="10">
                    <c:v>Downstream only</c:v>
                  </c:pt>
                  <c:pt idx="11">
                    <c:v>8 heads</c:v>
                  </c:pt>
                  <c:pt idx="12">
                    <c:v>Upstream only</c:v>
                  </c:pt>
                  <c:pt idx="13">
                    <c:v>3 blocks</c:v>
                  </c:pt>
                  <c:pt idx="14">
                    <c:v>Zeros + mask</c:v>
                  </c:pt>
                  <c:pt idx="15">
                    <c:v>1 block</c:v>
                  </c:pt>
                  <c:pt idx="16">
                    <c:v>Random graph</c:v>
                  </c:pt>
                  <c:pt idx="17">
                    <c:v>No node emb.</c:v>
                  </c:pt>
                  <c:pt idx="18">
                    <c:v>No calendar</c:v>
                  </c:pt>
                </c:lvl>
              </c:multiLvlStrCache>
            </c:multiLvlStrRef>
          </c:cat>
          <c:val>
            <c:numRef>
              <c:f>Sheet1!$C$2:$C$20</c:f>
              <c:numCache>
                <c:formatCode>General</c:formatCode>
                <c:ptCount val="19"/>
                <c:pt idx="0">
                  <c:v>0</c:v>
                </c:pt>
                <c:pt idx="1">
                  <c:v>0</c:v>
                </c:pt>
                <c:pt idx="2">
                  <c:v>0</c:v>
                </c:pt>
                <c:pt idx="3">
                  <c:v>0</c:v>
                </c:pt>
                <c:pt idx="4">
                  <c:v>0</c:v>
                </c:pt>
                <c:pt idx="5">
                  <c:v>0</c:v>
                </c:pt>
                <c:pt idx="6">
                  <c:v>0</c:v>
                </c:pt>
                <c:pt idx="7">
                  <c:v>0</c:v>
                </c:pt>
                <c:pt idx="8">
                  <c:v>0</c:v>
                </c:pt>
                <c:pt idx="9">
                  <c:v>0</c:v>
                </c:pt>
                <c:pt idx="10">
                  <c:v>0</c:v>
                </c:pt>
                <c:pt idx="11">
                  <c:v>0</c:v>
                </c:pt>
                <c:pt idx="12">
                  <c:v>0.001</c:v>
                </c:pt>
                <c:pt idx="13">
                  <c:v>0.008</c:v>
                </c:pt>
                <c:pt idx="14">
                  <c:v>0.009</c:v>
                </c:pt>
                <c:pt idx="15">
                  <c:v>0.069</c:v>
                </c:pt>
                <c:pt idx="16">
                  <c:v>0.088</c:v>
                </c:pt>
                <c:pt idx="17">
                  <c:v>0.626</c:v>
                </c:pt>
                <c:pt idx="18">
                  <c:v>0.688</c:v>
                </c:pt>
              </c:numCache>
            </c:numRef>
          </c:val>
        </c:ser>
        <c:dLbls>
          <c:numFmt formatCode="#,##0" sourceLinked="0"/>
          <c:txPr>
            <a:bodyPr/>
            <a:lstStyle/>
            <a:p>
              <a:pPr>
                <a:defRPr b="0" i="0" strike="noStrike" sz="1100" u="none">
                  <a:solidFill>
                    <a:srgbClr val="FFFFFF"/>
                  </a:solidFill>
                  <a:latin typeface="+mn-lt"/>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low"/>
        <c:spPr>
          <a:ln w="12700" cap="flat">
            <a:noFill/>
            <a:prstDash val="solid"/>
            <a:round/>
          </a:ln>
        </c:spPr>
        <c:txPr>
          <a:bodyPr/>
          <a:lstStyle/>
          <a:p>
            <a:pPr>
              <a:defRPr sz="1000" b="0" i="0" u="none" strike="noStrike">
                <a:solidFill>
                  <a:srgbClr val="AEB8D0"/>
                </a:solidFill>
                <a:latin typeface="+mn-lt"/>
              </a:defRPr>
            </a:pPr>
            <a:endParaRPr lang="en-US"/>
          </a:p>
        </c:txPr>
        <c:crossAx val="2094734552"/>
        <c:crosses val="autoZero"/>
        <c:auto val="1"/>
        <c:lblAlgn val="ctr"/>
        <c:noMultiLvlLbl val="1"/>
      </c:catAx>
      <c:valAx>
        <c:axId val="2094734552"/>
        <c:scaling>
          <c:orientation val="minMax"/>
        </c:scaling>
        <c:delete val="0"/>
        <c:axPos val="b"/>
        <c:majorGridlines>
          <c:spPr>
            <a:ln w="9525" cap="flat">
              <a:solidFill>
                <a:srgbClr val="26304F"/>
              </a:solidFill>
              <a:prstDash val="solid"/>
              <a:round/>
            </a:ln>
          </c:spPr>
        </c:majorGridlines>
        <c:numFmt formatCode="0.0" sourceLinked="0"/>
        <c:majorTickMark val="out"/>
        <c:minorTickMark val="none"/>
        <c:tickLblPos val="low"/>
        <c:spPr>
          <a:ln w="12700" cap="flat">
            <a:noFill/>
            <a:prstDash val="solid"/>
            <a:round/>
          </a:ln>
        </c:spPr>
        <c:txPr>
          <a:bodyPr/>
          <a:lstStyle/>
          <a:p>
            <a:pPr>
              <a:defRPr sz="1200" b="0" i="0" u="none" strike="noStrike">
                <a:solidFill>
                  <a:srgbClr val="AEB8D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AEB8D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FFFFF"/>
                </a:solidFill>
                <a:latin typeface="+mn-lt"/>
              </a:defRPr>
            </a:pPr>
            <a:r>
              <a:rPr sz="1400" b="0" i="0" u="none" strike="noStrike">
                <a:solidFill>
                  <a:srgbClr val="FFFFFF"/>
                </a:solidFill>
                <a:latin typeface="+mn-lt"/>
              </a:rPr>
              <a:t>Congested cell-minutes (lower is better)</a:t>
            </a:r>
          </a:p>
        </c:rich>
      </c:tx>
      <c:layout/>
      <c:overlay val="0"/>
    </c:title>
    <c:autoTitleDeleted val="0"/>
    <c:plotArea>
      <c:layout/>
      <c:barChart>
        <c:barDir val="bar"/>
        <c:grouping val="clustered"/>
        <c:varyColors val="0"/>
        <c:ser>
          <c:idx val="0"/>
          <c:order val="0"/>
          <c:tx>
            <c:strRef>
              <c:f>Sheet1!$B$1</c:f>
              <c:strCache>
                <c:ptCount val="1"/>
                <c:pt idx="0">
                  <c:v>Congested cell-minutes</c:v>
                </c:pt>
              </c:strCache>
            </c:strRef>
          </c:tx>
          <c:spPr>
            <a:solidFill>
              <a:srgbClr val="FF5A4E"/>
            </a:solidFill>
            <a:effectLst/>
          </c:spPr>
          <c:invertIfNegative val="0"/>
          <c:dLbls>
            <c:numFmt formatCode="0" sourceLinked="0"/>
            <c:txPr>
              <a:bodyPr/>
              <a:lstStyle/>
              <a:p>
                <a:pPr>
                  <a:defRPr b="0" i="0" strike="noStrike" sz="1100" u="none">
                    <a:solidFill>
                      <a:srgbClr val="FFFFFF"/>
                    </a:solidFill>
                    <a:latin typeface="+mn-lt"/>
                  </a:defRPr>
                </a:pPr>
              </a:p>
            </c:txPr>
            <c:showLegendKey val="0"/>
            <c:showVal val="1"/>
            <c:showCatName val="0"/>
            <c:showSerName val="0"/>
            <c:showPercent val="0"/>
            <c:showBubbleSize val="0"/>
            <c:showLeaderLines val="0"/>
          </c:dLbls>
          <c:cat>
            <c:multiLvlStrRef>
              <c:f>Sheet1!$A$2:$A$6</c:f>
              <c:multiLvlStrCache>
                <c:ptCount val="5"/>
                <c:lvl>
                  <c:pt idx="0">
                    <c:v>No control</c:v>
                  </c:pt>
                  <c:pt idx="1">
                    <c:v>ALINEA</c:v>
                  </c:pt>
                  <c:pt idx="2">
                    <c:v>Look-ahead</c:v>
                  </c:pt>
                  <c:pt idx="3">
                    <c:v>Look-ahead (oracle)</c:v>
                  </c:pt>
                  <c:pt idx="4">
                    <c:v>Speed-forecast</c:v>
                  </c:pt>
                </c:lvl>
              </c:multiLvlStrCache>
            </c:multiLvlStrRef>
          </c:cat>
          <c:val>
            <c:numRef>
              <c:f>Sheet1!$B$2:$B$6</c:f>
              <c:numCache>
                <c:formatCode>General</c:formatCode>
                <c:ptCount val="5"/>
                <c:pt idx="0">
                  <c:v>399.2</c:v>
                </c:pt>
                <c:pt idx="1">
                  <c:v>243.3</c:v>
                </c:pt>
                <c:pt idx="2">
                  <c:v>201.8</c:v>
                </c:pt>
                <c:pt idx="3">
                  <c:v>204.2</c:v>
                </c:pt>
                <c:pt idx="4">
                  <c:v>78.6</c:v>
                </c:pt>
              </c:numCache>
            </c:numRef>
          </c:val>
        </c:ser>
        <c:dLbls>
          <c:numFmt formatCode="0" sourceLinked="0"/>
          <c:txPr>
            <a:bodyPr/>
            <a:lstStyle/>
            <a:p>
              <a:pPr>
                <a:defRPr b="0" i="0" strike="noStrike" sz="1100" u="none">
                  <a:solidFill>
                    <a:srgbClr val="FFFFFF"/>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AEB8D0"/>
                </a:solidFill>
                <a:latin typeface="+mn-lt"/>
              </a:defRPr>
            </a:pPr>
            <a:endParaRPr lang="en-US"/>
          </a:p>
        </c:txPr>
        <c:crossAx val="2094734552"/>
        <c:crosses val="autoZero"/>
        <c:auto val="1"/>
        <c:lblAlgn val="ctr"/>
        <c:noMultiLvlLbl val="1"/>
      </c:catAx>
      <c:valAx>
        <c:axId val="2094734552"/>
        <c:scaling>
          <c:orientation val="minMax"/>
        </c:scaling>
        <c:delete val="0"/>
        <c:axPos val="b"/>
        <c:majorGridlines>
          <c:spPr>
            <a:ln w="9525" cap="flat">
              <a:solidFill>
                <a:srgbClr val="26304F"/>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200" b="0" i="0" u="none" strike="noStrike">
                <a:solidFill>
                  <a:srgbClr val="AEB8D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FFFFF"/>
                </a:solidFill>
                <a:latin typeface="+mn-lt"/>
              </a:defRPr>
            </a:pPr>
            <a:r>
              <a:rPr sz="1400" b="0" i="0" u="none" strike="noStrike">
                <a:solidFill>
                  <a:srgbClr val="FFFFFF"/>
                </a:solidFill>
                <a:latin typeface="+mn-lt"/>
              </a:rPr>
              <a:t>Total time spent, veh·h (lower is better)</a:t>
            </a:r>
          </a:p>
        </c:rich>
      </c:tx>
      <c:layout/>
      <c:overlay val="0"/>
    </c:title>
    <c:autoTitleDeleted val="0"/>
    <c:plotArea>
      <c:layout/>
      <c:barChart>
        <c:barDir val="bar"/>
        <c:grouping val="clustered"/>
        <c:varyColors val="0"/>
        <c:ser>
          <c:idx val="0"/>
          <c:order val="0"/>
          <c:tx>
            <c:strRef>
              <c:f>Sheet1!$B$1</c:f>
              <c:strCache>
                <c:ptCount val="1"/>
                <c:pt idx="0">
                  <c:v>Total time spent</c:v>
                </c:pt>
              </c:strCache>
            </c:strRef>
          </c:tx>
          <c:spPr>
            <a:solidFill>
              <a:srgbClr val="FFB547"/>
            </a:solidFill>
            <a:effectLst/>
          </c:spPr>
          <c:invertIfNegative val="0"/>
          <c:dLbls>
            <c:numFmt formatCode="#,##0" sourceLinked="0"/>
            <c:txPr>
              <a:bodyPr/>
              <a:lstStyle/>
              <a:p>
                <a:pPr>
                  <a:defRPr b="0" i="0" strike="noStrike" sz="1100" u="none">
                    <a:solidFill>
                      <a:srgbClr val="FFFFFF"/>
                    </a:solidFill>
                    <a:latin typeface="+mn-lt"/>
                  </a:defRPr>
                </a:pPr>
              </a:p>
            </c:txPr>
            <c:showLegendKey val="0"/>
            <c:showVal val="1"/>
            <c:showCatName val="0"/>
            <c:showSerName val="0"/>
            <c:showPercent val="0"/>
            <c:showBubbleSize val="0"/>
            <c:showLeaderLines val="0"/>
          </c:dLbls>
          <c:cat>
            <c:multiLvlStrRef>
              <c:f>Sheet1!$A$2:$A$6</c:f>
              <c:multiLvlStrCache>
                <c:ptCount val="5"/>
                <c:lvl>
                  <c:pt idx="0">
                    <c:v>No control</c:v>
                  </c:pt>
                  <c:pt idx="1">
                    <c:v>ALINEA</c:v>
                  </c:pt>
                  <c:pt idx="2">
                    <c:v>Look-ahead</c:v>
                  </c:pt>
                  <c:pt idx="3">
                    <c:v>Look-ahead (oracle)</c:v>
                  </c:pt>
                  <c:pt idx="4">
                    <c:v>Speed-forecast</c:v>
                  </c:pt>
                </c:lvl>
              </c:multiLvlStrCache>
            </c:multiLvlStrRef>
          </c:cat>
          <c:val>
            <c:numRef>
              <c:f>Sheet1!$B$2:$B$6</c:f>
              <c:numCache>
                <c:formatCode>General</c:formatCode>
                <c:ptCount val="5"/>
                <c:pt idx="0">
                  <c:v>2704.8</c:v>
                </c:pt>
                <c:pt idx="1">
                  <c:v>2705.5</c:v>
                </c:pt>
                <c:pt idx="2">
                  <c:v>2714.7</c:v>
                </c:pt>
                <c:pt idx="3">
                  <c:v>2728.3</c:v>
                </c:pt>
                <c:pt idx="4">
                  <c:v>4783.5</c:v>
                </c:pt>
              </c:numCache>
            </c:numRef>
          </c:val>
        </c:ser>
        <c:dLbls>
          <c:numFmt formatCode="#,##0" sourceLinked="0"/>
          <c:txPr>
            <a:bodyPr/>
            <a:lstStyle/>
            <a:p>
              <a:pPr>
                <a:defRPr b="0" i="0" strike="noStrike" sz="1100" u="none">
                  <a:solidFill>
                    <a:srgbClr val="FFFFFF"/>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AEB8D0"/>
                </a:solidFill>
                <a:latin typeface="+mn-lt"/>
              </a:defRPr>
            </a:pPr>
            <a:endParaRPr lang="en-US"/>
          </a:p>
        </c:txPr>
        <c:crossAx val="2094734552"/>
        <c:crosses val="autoZero"/>
        <c:auto val="1"/>
        <c:lblAlgn val="ctr"/>
        <c:noMultiLvlLbl val="1"/>
      </c:catAx>
      <c:valAx>
        <c:axId val="2094734552"/>
        <c:scaling>
          <c:orientation val="minMax"/>
        </c:scaling>
        <c:delete val="0"/>
        <c:axPos val="b"/>
        <c:majorGridlines>
          <c:spPr>
            <a:ln w="9525" cap="flat">
              <a:solidFill>
                <a:srgbClr val="26304F"/>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200" b="0" i="0" u="none" strike="noStrike">
                <a:solidFill>
                  <a:srgbClr val="AEB8D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the image: long-exposure traffic at night. Every streak is a car; every car is a data point. Our question is simple: when congestion starts somewhere on a freeway, can a model that looks at neighbouring sensors see it coming before a model that only looks at one road segment?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stakes. Congestion is the minority case overall but dominates errors: at weekday peaks more than a quarter of readings are below 40 mph. A forecaster is only useful if it handles the jam.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physical intuition. Traffic moves forward, but the jam's tail moves backwards. If D and E slow down now, C will slow down soon. A model that sees D and E can warn C; a model that only sees C has to guess. Everything that follows tests whether that intuition survives contact with real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one: what we actually have, and the traps hidden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numbers to remember. 207 sensors, 34 thousand five-minute steps, 8.1 percent missing, 1,515 directed road links. The data is speed only, which matters later for the control experiment. The single most important rule: a zero is an outage, not a traffic jam.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heatmap shows outages are clustered: whole-network blackouts on 61 days. The test period is noticeably noisier than training. Our rule: fill inputs with past-only information and flag them; never invent targets.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rush hours on weekdays, almost none at weekends. Across the week, time-slot averages range from about 42 to 66 mph. This is why every model gets time-of-day and day-of-week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Distances become edge weights with a Gaussian kernel, exactly as in DCRNN, and our rebuild matches the published matrix to seven decimal places. On the right: sensor pairs one hop apart correlate much more strongly than distant ones. That is the case for a 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checked the hypothesis before building anything. For every adjacent pair we found the time lag of strongest correlation. At peak hours half the pairs show the upstream sensor reacting later, as the shockwave story predicts, but 38% show the opposite. Real, but modest. That sets expectations for everything after.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two is about trust. Most impressive traffic results die here, through leakage.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split is purely chronological. A random split would put near-identical windows in train and test and make every model look great. Everything learned from data — even the scaling constants — comes from training time only. A built-in alarm fires if any model gets below 3.0 mph MAE at 60 minutes, because that would almost certainly mean leakage. It never fired.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statistical tools keep us honest. Diebold–Mariano tells us whether one model really beats another, with a variance that respects autocorrelation. The day-block bootstrap gives confidence intervals. On the right are the baselines. Persistence — just repeat the last speed — is surprisingly strong at 15 minutes. Our historical average lands within 0.03 of the published number, a nice sanity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three: the strong classical baseline. If deep learning can't beat this, it hasn't earned its complexity.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tree models. Per-segment XGBoost trains 621 small models, one per sensor and horizon. The pooled model learns across all sensors. The forest predicts all horizons at once. XGB-spatial adds hand-made neighbour features — our bridge between classical ML and graphs. XGB-spatial is best at 15 and 30 minutes (2.820, 3.258); per-segment wins at 60 minutes (3.684). One caveat: every pooled model hit our 400-tree cap, so these numbers are conservative.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bridge experiment. Adding neighbour features to the same XGBoost improves accuracy almost everywhere, and the improvement is concentrated where we expected: peaks and congestion. But the hypothesis also said the gain should grow with horizon — it doesn't, it peaks at 30 minutes. Half a win, reported honestly.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SHAP shows how the trees think. Short horizon: what is happening right now. Long horizon: which sensor this is and what time it is — essentially a learned timetable. Neighbour information is used, but as a supporting feature. And a 'same time yesterday' feature added nothing measurable.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four: the deep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left to right. Each sensor's 60-minute history is embedded, a causal temporal convolution summarises time, then graph attention lets each sensor weigh its neighbours. We wrote the attention layer ourselves and proved it equals PyTorch Geometric's GATConv and GATv2Conv to within 1e-5. All 12 horizons come out at once. The GRU baseline is the same model with the spatial block removed.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Engineering under constraints. Full attention at every time step was 27 minutes per epoch on CPU and almost 4 on the laptop GPU. We profiled, found attention was memory-bound, and applied it to the most recent 20 minutes of neighbour state while sampling a third of the highly overlapping windows per epoch. Six times faster. This is documented as a decision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controlled comparison. STGAT versus the identical model without the graph. At 15 minutes they tie. At 60 minutes the graph clearly wins, and the Diebold–Mariano test says the difference is significant. So the graph helps exactly where the shockwave story says it should — at long range. STGAT also overtakes pooled XGBoost from 30 minutes onwards.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five: if trees and graphs are good at different things, combine them — carefully.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hybrid's subtle trap. If you train the graph on XGBoost's errors on XGBoost's own training data, those errors are tiny — the trees memorised that data — and the graph learns almost nothing useful. So we generate out-of-fold forecasts: each block is predicted by a tree trained only on earlier blocks, with a gap so no target leaks. The first block can't be predicted, so it's dropped.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scoreboard. The residual hybrid is best at 15 and 30 minutes; a learned gate that blends XGBoost and STGAT is best at 60 minutes, 3.607 mph. Against persistence that is a 33 percent error reduction at an hour ahead. All hybrids beat XGBoost at every horizon, significantly.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do the gains come from? Almost entirely from congestion: 1.54 mph better in jams at 60 minutes, slightly worse in free flow. On the right, the gate we trained — nobody told it the hypothesis, yet it learned to trust the graph model more at peaks and at longer horizons.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six: we tried to break our own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Nineteen ablations, each changing one thing. The clear lesson: sensor identity and calendar context are what the model can't live without. The uncomfortable one: under this short budget, removing the graph entirely didn't hurt, while a random graph did. So wrong edges hurt, right edges are roughly neutral at 12 epochs. We report that as is; the longer three-seed comparison is where the graph's benefit shows.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views of the same question. The map shows which sensors gain from the graph — it's not uniform, it's specific stretches of freeway. The space-time diagram is the honest one: a breakdown appears out of nowhere around 10am and neither model sees it coming. Forecasting onset remains the open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looked inside the attention for the three most congested sensors. Lines show which neighbours each sensor listens to. We hoped attention would swing upstream or downstream at rush hour. It doesn't — the shares are identical at peak and at night. We say so plainly.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seven, with a clear disclaimer: everything here is an offline simulation on a synthetic corridor.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Freeways have no signals, so the realistic lever is ramp metering. In a cell-transmission simulation, ALINEA — a classic feedback controller — cuts congestion on the mainline by about 40 percent, but total time spent doesn't move: the delay shifts onto the ramps. Feeding forecasts in, either directly or through a 15-minute look-ahead, didn't help, even with perfect future knowledge. Again: synthetic network, offline simulation, no real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takeaways. Trust first. Neighbours matter where congestion is. The graph's edge appears at long range. Combining trees and graphs gives the best numbers. And when the data says no, we say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Being clear about limits makes the results credible. Most of these are compute budget, not method. The most interesting next step is an adaptive graph, which might find connections the distance graph misses.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Invite questions. Each team member owns a part of the system and can go deep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jpe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ECTION-image-1.jpe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CONTENT-image-1.jpe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914400"/>
            <a:ext cx="10698480" cy="1371600"/>
          </a:xfrm>
          <a:prstGeom prst="rect">
            <a:avLst/>
          </a:prstGeom>
          <a:noFill/>
          <a:ln/>
        </p:spPr>
        <p:txBody>
          <a:bodyPr wrap="square" rtlCol="0"/>
          <a:lstStyle>
            <a:lvl1pPr algn="l" indent="0" marL="0">
              <a:buNone/>
              <a:defRPr lang="en-US" sz="6600" b="1" dirty="0">
                <a:solidFill>
                  <a:schemeClr val="bg1"/>
                </a:solidFill>
              </a:defRPr>
            </a:lvl1pPr>
          </a:lstStyle>
          <a:p>
            <a:pPr algn="l" indent="0" marL="0">
              <a:buNone/>
            </a:pPr>
            <a:endParaRPr lang="en-US" sz="6600" dirty="0"/>
          </a:p>
        </p:txBody>
      </p:sp>
      <p:sp>
        <p:nvSpPr>
          <p:cNvPr id="3" name="Text 0"/>
          <p:cNvSpPr/>
          <p:nvPr>
            <p:ph idx="101" type="body" hasCustomPrompt="1"/>
          </p:nvPr>
        </p:nvSpPr>
        <p:spPr>
          <a:xfrm>
            <a:off x="731520" y="2377440"/>
            <a:ext cx="9601200" cy="822960"/>
          </a:xfrm>
          <a:prstGeom prst="rect">
            <a:avLst/>
          </a:prstGeom>
          <a:noFill/>
          <a:ln/>
        </p:spPr>
        <p:txBody>
          <a:bodyPr wrap="square" rtlCol="0"/>
          <a:lstStyle>
            <a:lvl1pPr algn="l" indent="0" marL="0">
              <a:buNone/>
              <a:defRPr lang="en-US" sz="2600" dirty="0">
                <a:solidFill>
                  <a:schemeClr val="bg2"/>
                </a:solidFill>
              </a:defRPr>
            </a:lvl1pPr>
          </a:lstStyle>
          <a:p>
            <a:pPr algn="l" indent="0" marL="0">
              <a:buNone/>
            </a:pPr>
            <a:endParaRPr lang="en-US" sz="2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737360"/>
            <a:ext cx="7315200" cy="457200"/>
          </a:xfrm>
          <a:prstGeom prst="rect">
            <a:avLst/>
          </a:prstGeom>
          <a:noFill/>
          <a:ln/>
        </p:spPr>
        <p:txBody>
          <a:bodyPr wrap="square" rtlCol="0"/>
          <a:lstStyle>
            <a:lvl1pPr algn="l" indent="0" marL="0">
              <a:buNone/>
              <a:defRPr lang="en-US" sz="1600" b="1" spc="400" kern="0" dirty="0">
                <a:solidFill>
                  <a:schemeClr val="accent2"/>
                </a:solidFill>
              </a:defRPr>
            </a:lvl1pPr>
          </a:lstStyle>
          <a:p>
            <a:pPr algn="l" indent="0" marL="0">
              <a:buNone/>
            </a:pPr>
            <a:endParaRPr lang="en-US" sz="1600" dirty="0"/>
          </a:p>
        </p:txBody>
      </p:sp>
      <p:sp>
        <p:nvSpPr>
          <p:cNvPr id="3" name="Text 0"/>
          <p:cNvSpPr/>
          <p:nvPr>
            <p:ph idx="101" type="title" hasCustomPrompt="1"/>
          </p:nvPr>
        </p:nvSpPr>
        <p:spPr>
          <a:xfrm>
            <a:off x="731520" y="2194560"/>
            <a:ext cx="10698480" cy="1280160"/>
          </a:xfrm>
          <a:prstGeom prst="rect">
            <a:avLst/>
          </a:prstGeom>
          <a:noFill/>
          <a:ln/>
        </p:spPr>
        <p:txBody>
          <a:bodyPr wrap="square" rtlCol="0"/>
          <a:lstStyle>
            <a:lvl1pPr algn="l" indent="0" marL="0">
              <a:buNone/>
              <a:defRPr lang="en-US" sz="5000" b="1" dirty="0">
                <a:solidFill>
                  <a:schemeClr val="bg1"/>
                </a:solidFill>
              </a:defRPr>
            </a:lvl1pPr>
          </a:lstStyle>
          <a:p>
            <a:pPr algn="l" indent="0" marL="0">
              <a:buNone/>
            </a:pPr>
            <a:endParaRPr lang="en-US" sz="5000" dirty="0"/>
          </a:p>
        </p:txBody>
      </p:sp>
      <p:sp>
        <p:nvSpPr>
          <p:cNvPr id="4" name="Text 0"/>
          <p:cNvSpPr/>
          <p:nvPr>
            <p:ph idx="102" type="body" hasCustomPrompt="1"/>
          </p:nvPr>
        </p:nvSpPr>
        <p:spPr>
          <a:xfrm>
            <a:off x="731520" y="3520440"/>
            <a:ext cx="9601200" cy="1097280"/>
          </a:xfrm>
          <a:prstGeom prst="rect">
            <a:avLst/>
          </a:prstGeom>
          <a:noFill/>
          <a:ln/>
        </p:spPr>
        <p:txBody>
          <a:bodyPr wrap="square" rtlCol="0"/>
          <a:lstStyle>
            <a:lvl1pPr algn="l" indent="0" marL="0">
              <a:buNone/>
              <a:defRPr lang="en-US" sz="2200" dirty="0">
                <a:solidFill>
                  <a:schemeClr val="bg2"/>
                </a:solidFill>
              </a:defRPr>
            </a:lvl1pPr>
          </a:lstStyle>
          <a:p>
            <a:pPr algn="l" indent="0" marL="0">
              <a:buNone/>
            </a:pPr>
            <a:endParaRPr lang="en-US" sz="22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1000" spc="300" kern="0" dirty="0">
                <a:solidFill>
                  <a:schemeClr val="accent5"/>
                </a:solidFill>
              </a:rPr>
              <a:t>TRAFFIC ORACLE  ·  TEAM T042</a:t>
            </a:r>
            <a:endParaRPr lang="en-US" sz="10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chart" Target="/ppt/charts/chart7.xml"/><Relationship Id="rId3" Type="http://schemas.openxmlformats.org/officeDocument/2006/relationships/slideLayout" Target="../slideLayouts/slideLayout4.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4.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4.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4.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chart" Target="/ppt/charts/chart10.xml"/><Relationship Id="rId3" Type="http://schemas.openxmlformats.org/officeDocument/2006/relationships/slideLayout" Target="../slideLayouts/slideLayout4.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914400"/>
            <a:ext cx="10698480" cy="1371600"/>
          </a:xfrm>
          <a:prstGeom prst="rect">
            <a:avLst/>
          </a:prstGeom>
          <a:noFill/>
          <a:ln/>
        </p:spPr>
        <p:txBody>
          <a:bodyPr wrap="square" lIns="0" tIns="0" rIns="0" bIns="0" rtlCol="0" anchor="b"/>
          <a:lstStyle/>
          <a:p>
            <a:pPr algn="l" indent="0" marL="0">
              <a:buNone/>
            </a:pPr>
            <a:r>
              <a:rPr lang="en-US" sz="6600" b="1" dirty="0">
                <a:solidFill>
                  <a:schemeClr val="bg1"/>
                </a:solidFill>
              </a:rPr>
              <a:t>Traffic Oracle</a:t>
            </a:r>
            <a:endParaRPr lang="en-US" sz="6600" dirty="0"/>
          </a:p>
        </p:txBody>
      </p:sp>
      <p:sp>
        <p:nvSpPr>
          <p:cNvPr id="3" name="Text 0"/>
          <p:cNvSpPr/>
          <p:nvPr>
            <p:ph idx="101" type="body" hasCustomPrompt="1"/>
          </p:nvPr>
        </p:nvSpPr>
        <p:spPr>
          <a:xfrm>
            <a:off x="731520" y="2377440"/>
            <a:ext cx="9601200" cy="822960"/>
          </a:xfrm>
          <a:prstGeom prst="rect">
            <a:avLst/>
          </a:prstGeom>
          <a:noFill/>
          <a:ln/>
        </p:spPr>
        <p:txBody>
          <a:bodyPr wrap="square" lIns="0" tIns="0" rIns="0" bIns="0" rtlCol="0" anchor="t"/>
          <a:lstStyle/>
          <a:p>
            <a:pPr algn="l" indent="0" marL="0">
              <a:buNone/>
            </a:pPr>
            <a:r>
              <a:rPr lang="en-US" sz="2600" dirty="0">
                <a:solidFill>
                  <a:schemeClr val="bg2"/>
                </a:solidFill>
              </a:rPr>
              <a:t>Can a road network learn to see congestion coming?</a:t>
            </a:r>
            <a:endParaRPr lang="en-US" sz="2600" dirty="0"/>
          </a:p>
        </p:txBody>
      </p:sp>
      <p:sp>
        <p:nvSpPr>
          <p:cNvPr id="4" name="Text 2"/>
          <p:cNvSpPr txBox="1"/>
          <p:nvPr/>
        </p:nvSpPr>
        <p:spPr>
          <a:xfrm>
            <a:off x="731520" y="3246120"/>
            <a:ext cx="10058400" cy="822960"/>
          </a:xfrm>
          <a:prstGeom prst="rect">
            <a:avLst/>
          </a:prstGeom>
          <a:noFill/>
          <a:ln/>
        </p:spPr>
        <p:txBody>
          <a:bodyPr wrap="square" lIns="0" tIns="0" rIns="0" bIns="0" rtlCol="0" anchor="t"/>
          <a:lstStyle/>
          <a:p>
            <a:pPr indent="0" marL="0">
              <a:buNone/>
            </a:pPr>
            <a:r>
              <a:rPr lang="en-US" sz="1800" dirty="0">
                <a:solidFill>
                  <a:schemeClr val="bg2"/>
                </a:solidFill>
              </a:rPr>
              <a:t>Graph attention vs. per-segment machine learning on the METR-LA freeway network</a:t>
            </a:r>
            <a:endParaRPr lang="en-US" sz="1800" dirty="0"/>
          </a:p>
          <a:p>
            <a:pPr indent="0" marL="0">
              <a:buNone/>
            </a:pPr>
            <a:r>
              <a:rPr lang="en-US" sz="1400" b="1" spc="200" kern="0" dirty="0">
                <a:solidFill>
                  <a:schemeClr val="accent2"/>
                </a:solidFill>
              </a:rPr>
              <a:t>TEAM T042  ·  Pranav Singh · Kunal · Himanshu · Kanchan · Vaibhav</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731520" y="1737360"/>
            <a:ext cx="7315200" cy="457200"/>
          </a:xfrm>
          <a:prstGeom prst="rect">
            <a:avLst/>
          </a:prstGeom>
          <a:noFill/>
          <a:ln/>
        </p:spPr>
        <p:txBody>
          <a:bodyPr wrap="square" lIns="0" tIns="0" rIns="0" bIns="0" rtlCol="0"/>
          <a:lstStyle/>
          <a:p>
            <a:pPr algn="l" indent="0" marL="0">
              <a:buNone/>
            </a:pPr>
            <a:r>
              <a:rPr lang="en-US" sz="1600" b="1" spc="400" kern="0" dirty="0">
                <a:solidFill>
                  <a:schemeClr val="accent2"/>
                </a:solidFill>
              </a:rPr>
              <a:t>LOS ANGELES · WEEKDAY, 8:00 AM</a:t>
            </a:r>
            <a:endParaRPr lang="en-US" sz="1600" dirty="0"/>
          </a:p>
        </p:txBody>
      </p:sp>
      <p:sp>
        <p:nvSpPr>
          <p:cNvPr id="3" name="Text 0"/>
          <p:cNvSpPr/>
          <p:nvPr>
            <p:ph idx="101" type="title" hasCustomPrompt="1"/>
          </p:nvPr>
        </p:nvSpPr>
        <p:spPr>
          <a:xfrm>
            <a:off x="731520" y="2194560"/>
            <a:ext cx="10698480" cy="1280160"/>
          </a:xfrm>
          <a:prstGeom prst="rect">
            <a:avLst/>
          </a:prstGeom>
          <a:noFill/>
          <a:ln/>
        </p:spPr>
        <p:txBody>
          <a:bodyPr wrap="square" lIns="0" tIns="0" rIns="0" bIns="0" rtlCol="0" anchor="t"/>
          <a:lstStyle/>
          <a:p>
            <a:pPr algn="l" indent="0" marL="0">
              <a:buNone/>
            </a:pPr>
            <a:r>
              <a:rPr lang="en-US" sz="5000" b="1" dirty="0">
                <a:solidFill>
                  <a:schemeClr val="bg1"/>
                </a:solidFill>
              </a:rPr>
              <a:t>207 sensors are listening</a:t>
            </a:r>
            <a:endParaRPr lang="en-US" sz="5000" dirty="0"/>
          </a:p>
        </p:txBody>
      </p:sp>
      <p:sp>
        <p:nvSpPr>
          <p:cNvPr id="4" name="Text 0"/>
          <p:cNvSpPr/>
          <p:nvPr>
            <p:ph idx="102" type="body" hasCustomPrompt="1"/>
          </p:nvPr>
        </p:nvSpPr>
        <p:spPr>
          <a:xfrm>
            <a:off x="731520" y="3520440"/>
            <a:ext cx="9601200" cy="1097280"/>
          </a:xfrm>
          <a:prstGeom prst="rect">
            <a:avLst/>
          </a:prstGeom>
          <a:noFill/>
          <a:ln/>
        </p:spPr>
        <p:txBody>
          <a:bodyPr wrap="square" lIns="0" tIns="0" rIns="0" bIns="0" rtlCol="0" anchor="t"/>
          <a:lstStyle/>
          <a:p>
            <a:pPr algn="l" indent="0" marL="0">
              <a:buNone/>
            </a:pPr>
            <a:r>
              <a:rPr lang="en-US" sz="2200" dirty="0">
                <a:solidFill>
                  <a:schemeClr val="bg2"/>
                </a:solidFill>
              </a:rPr>
              <a:t>At rush hour, 26.9% of readings fall below 40 mph — off-peak it is only 5.8%. Forecasting is easy when traffic flows; the hard part is the jam.</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The question behind every slide</a:t>
            </a:r>
            <a:endParaRPr lang="en-US" sz="3600" dirty="0"/>
          </a:p>
        </p:txBody>
      </p:sp>
      <p:sp>
        <p:nvSpPr>
          <p:cNvPr id="3" name="card"/>
          <p:cNvSpPr/>
          <p:nvPr/>
        </p:nvSpPr>
        <p:spPr>
          <a:xfrm>
            <a:off x="548640" y="1417320"/>
            <a:ext cx="5120640" cy="4754880"/>
          </a:xfrm>
          <a:prstGeom prst="roundRect">
            <a:avLst>
              <a:gd name="adj" fmla="val 2308"/>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4" name="Text 2"/>
          <p:cNvSpPr txBox="1"/>
          <p:nvPr/>
        </p:nvSpPr>
        <p:spPr>
          <a:xfrm>
            <a:off x="868680" y="1691640"/>
            <a:ext cx="4572000" cy="320040"/>
          </a:xfrm>
          <a:prstGeom prst="rect">
            <a:avLst/>
          </a:prstGeom>
          <a:noFill/>
          <a:ln/>
        </p:spPr>
        <p:txBody>
          <a:bodyPr wrap="square" lIns="0" tIns="0" rIns="0" bIns="0" rtlCol="0" anchor="t"/>
          <a:lstStyle/>
          <a:p>
            <a:pPr indent="0" marL="0">
              <a:buNone/>
            </a:pPr>
            <a:r>
              <a:rPr lang="en-US" sz="1400" b="1" spc="300" kern="0" dirty="0">
                <a:solidFill>
                  <a:schemeClr val="accent2"/>
                </a:solidFill>
              </a:rPr>
              <a:t>HYPOTHESIS</a:t>
            </a:r>
            <a:endParaRPr lang="en-US" sz="1400" dirty="0"/>
          </a:p>
        </p:txBody>
      </p:sp>
      <p:sp>
        <p:nvSpPr>
          <p:cNvPr id="5" name="Text 3"/>
          <p:cNvSpPr txBox="1"/>
          <p:nvPr/>
        </p:nvSpPr>
        <p:spPr>
          <a:xfrm>
            <a:off x="868680" y="2103120"/>
            <a:ext cx="4572000" cy="1463040"/>
          </a:xfrm>
          <a:prstGeom prst="rect">
            <a:avLst/>
          </a:prstGeom>
          <a:noFill/>
          <a:ln/>
        </p:spPr>
        <p:txBody>
          <a:bodyPr wrap="square" lIns="0" tIns="0" rIns="0" bIns="0" rtlCol="0" anchor="t"/>
          <a:lstStyle/>
          <a:p>
            <a:pPr indent="0" marL="0">
              <a:buNone/>
            </a:pPr>
            <a:r>
              <a:rPr lang="en-US" sz="1800" dirty="0">
                <a:solidFill>
                  <a:schemeClr val="bg1"/>
                </a:solidFill>
              </a:rPr>
              <a:t>Congestion travels. A jam starts at a bottleneck and its tail moves upstream, so downstream sensors know an upstream sensor's future.</a:t>
            </a:r>
            <a:endParaRPr lang="en-US" sz="1800" dirty="0"/>
          </a:p>
        </p:txBody>
      </p:sp>
      <p:sp>
        <p:nvSpPr>
          <p:cNvPr id="6" name="Text 4"/>
          <p:cNvSpPr txBox="1"/>
          <p:nvPr/>
        </p:nvSpPr>
        <p:spPr>
          <a:xfrm>
            <a:off x="868680" y="3794760"/>
            <a:ext cx="4572000" cy="201168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bg2"/>
                </a:solidFill>
              </a:rPr>
              <a:t>A per-segment model sees only its own history</a:t>
            </a:r>
            <a:endParaRPr lang="en-US" sz="1600" dirty="0"/>
          </a:p>
          <a:p>
            <a:pPr marL="228600" indent="-228600">
              <a:spcAft>
                <a:spcPts val="800"/>
              </a:spcAft>
              <a:buSzPct val="100000"/>
              <a:buChar char="•"/>
            </a:pPr>
            <a:r>
              <a:rPr lang="en-US" sz="1600" dirty="0">
                <a:solidFill>
                  <a:schemeClr val="bg2"/>
                </a:solidFill>
              </a:rPr>
              <a:t>A graph model can read its neighbours directly</a:t>
            </a:r>
            <a:endParaRPr lang="en-US" sz="1600" dirty="0"/>
          </a:p>
          <a:p>
            <a:pPr marL="228600" indent="-228600">
              <a:spcAft>
                <a:spcPts val="800"/>
              </a:spcAft>
              <a:buSzPct val="100000"/>
              <a:buChar char="•"/>
            </a:pPr>
            <a:r>
              <a:rPr lang="en-US" sz="1600" dirty="0">
                <a:solidFill>
                  <a:schemeClr val="bg2"/>
                </a:solidFill>
              </a:rPr>
              <a:t>Expected gain: larger at long horizons and at peaks</a:t>
            </a:r>
            <a:endParaRPr lang="en-US" sz="1600" dirty="0"/>
          </a:p>
        </p:txBody>
      </p:sp>
      <p:sp>
        <p:nvSpPr>
          <p:cNvPr id="7" name="Shape 5"/>
          <p:cNvSpPr/>
          <p:nvPr/>
        </p:nvSpPr>
        <p:spPr>
          <a:xfrm>
            <a:off x="6217920" y="3657600"/>
            <a:ext cx="5394960" cy="146304"/>
          </a:xfrm>
          <a:prstGeom prst="roundRect">
            <a:avLst>
              <a:gd name="adj" fmla="val 50000"/>
            </a:avLst>
          </a:prstGeom>
          <a:solidFill>
            <a:schemeClr val="accent5"/>
          </a:solidFill>
          <a:ln w="12700">
            <a:solidFill>
              <a:schemeClr val="accent5">
                <a:alpha val="0"/>
              </a:schemeClr>
            </a:solidFill>
            <a:prstDash val="solid"/>
          </a:ln>
        </p:spPr>
      </p:sp>
      <p:sp>
        <p:nvSpPr>
          <p:cNvPr id="8" name="Shape 6"/>
          <p:cNvSpPr/>
          <p:nvPr/>
        </p:nvSpPr>
        <p:spPr>
          <a:xfrm>
            <a:off x="6446520" y="3456432"/>
            <a:ext cx="548640" cy="548640"/>
          </a:xfrm>
          <a:prstGeom prst="ellipse">
            <a:avLst/>
          </a:prstGeom>
          <a:solidFill>
            <a:schemeClr val="accent6"/>
          </a:solidFill>
          <a:ln w="19050">
            <a:solidFill>
              <a:schemeClr val="bg1"/>
            </a:solidFill>
            <a:prstDash val="solid"/>
          </a:ln>
        </p:spPr>
      </p:sp>
      <p:sp>
        <p:nvSpPr>
          <p:cNvPr id="9" name="Text 7"/>
          <p:cNvSpPr txBox="1"/>
          <p:nvPr/>
        </p:nvSpPr>
        <p:spPr>
          <a:xfrm>
            <a:off x="6446520" y="3456432"/>
            <a:ext cx="548640" cy="548640"/>
          </a:xfrm>
          <a:prstGeom prst="rect">
            <a:avLst/>
          </a:prstGeom>
          <a:noFill/>
          <a:ln/>
        </p:spPr>
        <p:txBody>
          <a:bodyPr wrap="square" lIns="0" tIns="0" rIns="0" bIns="0" rtlCol="0" anchor="ctr"/>
          <a:lstStyle/>
          <a:p>
            <a:pPr algn="ctr" indent="0" marL="0">
              <a:buNone/>
            </a:pPr>
            <a:r>
              <a:rPr lang="en-US" sz="1600" b="1" dirty="0">
                <a:solidFill>
                  <a:srgbClr val="0A0F1E"/>
                </a:solidFill>
              </a:rPr>
              <a:t>A</a:t>
            </a:r>
            <a:endParaRPr lang="en-US" sz="1600" dirty="0"/>
          </a:p>
        </p:txBody>
      </p:sp>
      <p:sp>
        <p:nvSpPr>
          <p:cNvPr id="10" name="Shape 8"/>
          <p:cNvSpPr/>
          <p:nvPr/>
        </p:nvSpPr>
        <p:spPr>
          <a:xfrm>
            <a:off x="7635240" y="3456432"/>
            <a:ext cx="548640" cy="548640"/>
          </a:xfrm>
          <a:prstGeom prst="ellipse">
            <a:avLst/>
          </a:prstGeom>
          <a:solidFill>
            <a:schemeClr val="accent6"/>
          </a:solidFill>
          <a:ln w="19050">
            <a:solidFill>
              <a:schemeClr val="bg1"/>
            </a:solidFill>
            <a:prstDash val="solid"/>
          </a:ln>
        </p:spPr>
      </p:sp>
      <p:sp>
        <p:nvSpPr>
          <p:cNvPr id="11" name="Text 9"/>
          <p:cNvSpPr txBox="1"/>
          <p:nvPr/>
        </p:nvSpPr>
        <p:spPr>
          <a:xfrm>
            <a:off x="7635240" y="3456432"/>
            <a:ext cx="548640" cy="548640"/>
          </a:xfrm>
          <a:prstGeom prst="rect">
            <a:avLst/>
          </a:prstGeom>
          <a:noFill/>
          <a:ln/>
        </p:spPr>
        <p:txBody>
          <a:bodyPr wrap="square" lIns="0" tIns="0" rIns="0" bIns="0" rtlCol="0" anchor="ctr"/>
          <a:lstStyle/>
          <a:p>
            <a:pPr algn="ctr" indent="0" marL="0">
              <a:buNone/>
            </a:pPr>
            <a:r>
              <a:rPr lang="en-US" sz="1600" b="1" dirty="0">
                <a:solidFill>
                  <a:srgbClr val="0A0F1E"/>
                </a:solidFill>
              </a:rPr>
              <a:t>B</a:t>
            </a:r>
            <a:endParaRPr lang="en-US" sz="1600" dirty="0"/>
          </a:p>
        </p:txBody>
      </p:sp>
      <p:sp>
        <p:nvSpPr>
          <p:cNvPr id="12" name="Shape 10"/>
          <p:cNvSpPr/>
          <p:nvPr/>
        </p:nvSpPr>
        <p:spPr>
          <a:xfrm>
            <a:off x="8823960" y="3456432"/>
            <a:ext cx="548640" cy="548640"/>
          </a:xfrm>
          <a:prstGeom prst="ellipse">
            <a:avLst/>
          </a:prstGeom>
          <a:solidFill>
            <a:schemeClr val="accent2"/>
          </a:solidFill>
          <a:ln w="19050">
            <a:solidFill>
              <a:schemeClr val="bg1"/>
            </a:solidFill>
            <a:prstDash val="solid"/>
          </a:ln>
        </p:spPr>
      </p:sp>
      <p:sp>
        <p:nvSpPr>
          <p:cNvPr id="13" name="Text 11"/>
          <p:cNvSpPr txBox="1"/>
          <p:nvPr/>
        </p:nvSpPr>
        <p:spPr>
          <a:xfrm>
            <a:off x="8823960" y="3456432"/>
            <a:ext cx="548640" cy="548640"/>
          </a:xfrm>
          <a:prstGeom prst="rect">
            <a:avLst/>
          </a:prstGeom>
          <a:noFill/>
          <a:ln/>
        </p:spPr>
        <p:txBody>
          <a:bodyPr wrap="square" lIns="0" tIns="0" rIns="0" bIns="0" rtlCol="0" anchor="ctr"/>
          <a:lstStyle/>
          <a:p>
            <a:pPr algn="ctr" indent="0" marL="0">
              <a:buNone/>
            </a:pPr>
            <a:r>
              <a:rPr lang="en-US" sz="1600" b="1" dirty="0">
                <a:solidFill>
                  <a:srgbClr val="0A0F1E"/>
                </a:solidFill>
              </a:rPr>
              <a:t>C</a:t>
            </a:r>
            <a:endParaRPr lang="en-US" sz="1600" dirty="0"/>
          </a:p>
        </p:txBody>
      </p:sp>
      <p:sp>
        <p:nvSpPr>
          <p:cNvPr id="14" name="Shape 12"/>
          <p:cNvSpPr/>
          <p:nvPr/>
        </p:nvSpPr>
        <p:spPr>
          <a:xfrm>
            <a:off x="10012680" y="3456432"/>
            <a:ext cx="548640" cy="548640"/>
          </a:xfrm>
          <a:prstGeom prst="ellipse">
            <a:avLst/>
          </a:prstGeom>
          <a:solidFill>
            <a:schemeClr val="accent1"/>
          </a:solidFill>
          <a:ln w="19050">
            <a:solidFill>
              <a:schemeClr val="bg1"/>
            </a:solidFill>
            <a:prstDash val="solid"/>
          </a:ln>
        </p:spPr>
      </p:sp>
      <p:sp>
        <p:nvSpPr>
          <p:cNvPr id="15" name="Text 13"/>
          <p:cNvSpPr txBox="1"/>
          <p:nvPr/>
        </p:nvSpPr>
        <p:spPr>
          <a:xfrm>
            <a:off x="10012680" y="3456432"/>
            <a:ext cx="548640" cy="548640"/>
          </a:xfrm>
          <a:prstGeom prst="rect">
            <a:avLst/>
          </a:prstGeom>
          <a:noFill/>
          <a:ln/>
        </p:spPr>
        <p:txBody>
          <a:bodyPr wrap="square" lIns="0" tIns="0" rIns="0" bIns="0" rtlCol="0" anchor="ctr"/>
          <a:lstStyle/>
          <a:p>
            <a:pPr algn="ctr" indent="0" marL="0">
              <a:buNone/>
            </a:pPr>
            <a:r>
              <a:rPr lang="en-US" sz="1600" b="1" dirty="0">
                <a:solidFill>
                  <a:srgbClr val="0A0F1E"/>
                </a:solidFill>
              </a:rPr>
              <a:t>D</a:t>
            </a:r>
            <a:endParaRPr lang="en-US" sz="1600" dirty="0"/>
          </a:p>
        </p:txBody>
      </p:sp>
      <p:sp>
        <p:nvSpPr>
          <p:cNvPr id="16" name="Shape 14"/>
          <p:cNvSpPr/>
          <p:nvPr/>
        </p:nvSpPr>
        <p:spPr>
          <a:xfrm>
            <a:off x="11201400" y="3456432"/>
            <a:ext cx="548640" cy="548640"/>
          </a:xfrm>
          <a:prstGeom prst="ellipse">
            <a:avLst/>
          </a:prstGeom>
          <a:solidFill>
            <a:schemeClr val="accent1"/>
          </a:solidFill>
          <a:ln w="19050">
            <a:solidFill>
              <a:schemeClr val="bg1"/>
            </a:solidFill>
            <a:prstDash val="solid"/>
          </a:ln>
        </p:spPr>
      </p:sp>
      <p:sp>
        <p:nvSpPr>
          <p:cNvPr id="17" name="Text 15"/>
          <p:cNvSpPr txBox="1"/>
          <p:nvPr/>
        </p:nvSpPr>
        <p:spPr>
          <a:xfrm>
            <a:off x="11201400" y="3456432"/>
            <a:ext cx="548640" cy="548640"/>
          </a:xfrm>
          <a:prstGeom prst="rect">
            <a:avLst/>
          </a:prstGeom>
          <a:noFill/>
          <a:ln/>
        </p:spPr>
        <p:txBody>
          <a:bodyPr wrap="square" lIns="0" tIns="0" rIns="0" bIns="0" rtlCol="0" anchor="ctr"/>
          <a:lstStyle/>
          <a:p>
            <a:pPr algn="ctr" indent="0" marL="0">
              <a:buNone/>
            </a:pPr>
            <a:r>
              <a:rPr lang="en-US" sz="1600" b="1" dirty="0">
                <a:solidFill>
                  <a:srgbClr val="0A0F1E"/>
                </a:solidFill>
              </a:rPr>
              <a:t>E</a:t>
            </a:r>
            <a:endParaRPr lang="en-US" sz="1600" dirty="0"/>
          </a:p>
        </p:txBody>
      </p:sp>
      <p:sp>
        <p:nvSpPr>
          <p:cNvPr id="18" name="Shape 16"/>
          <p:cNvSpPr/>
          <p:nvPr/>
        </p:nvSpPr>
        <p:spPr>
          <a:xfrm>
            <a:off x="6400800" y="2606040"/>
            <a:ext cx="4937760" cy="914"/>
          </a:xfrm>
          <a:prstGeom prst="line">
            <a:avLst/>
          </a:prstGeom>
          <a:noFill/>
          <a:ln w="31750">
            <a:solidFill>
              <a:srgbClr val="FFB547"/>
            </a:solidFill>
            <a:prstDash val="solid"/>
            <a:tailEnd type="triangle"/>
          </a:ln>
        </p:spPr>
      </p:sp>
      <p:sp>
        <p:nvSpPr>
          <p:cNvPr id="19" name="Text 17"/>
          <p:cNvSpPr txBox="1"/>
          <p:nvPr/>
        </p:nvSpPr>
        <p:spPr>
          <a:xfrm>
            <a:off x="6400800" y="2057400"/>
            <a:ext cx="4937760" cy="411480"/>
          </a:xfrm>
          <a:prstGeom prst="rect">
            <a:avLst/>
          </a:prstGeom>
          <a:noFill/>
          <a:ln/>
        </p:spPr>
        <p:txBody>
          <a:bodyPr wrap="square" lIns="0" tIns="0" rIns="0" bIns="0" rtlCol="0" anchor="t"/>
          <a:lstStyle/>
          <a:p>
            <a:pPr indent="0" marL="0">
              <a:buNone/>
            </a:pPr>
            <a:r>
              <a:rPr lang="en-US" sz="1600" b="1" dirty="0">
                <a:solidFill>
                  <a:schemeClr val="accent2"/>
                </a:solidFill>
              </a:rPr>
              <a:t>Traffic flows downstream →</a:t>
            </a:r>
            <a:endParaRPr lang="en-US" sz="1600" dirty="0"/>
          </a:p>
        </p:txBody>
      </p:sp>
      <p:sp>
        <p:nvSpPr>
          <p:cNvPr id="20" name="Shape 18"/>
          <p:cNvSpPr/>
          <p:nvPr/>
        </p:nvSpPr>
        <p:spPr>
          <a:xfrm flipH="1">
            <a:off x="6400800" y="4754880"/>
            <a:ext cx="4937760" cy="914"/>
          </a:xfrm>
          <a:prstGeom prst="line">
            <a:avLst/>
          </a:prstGeom>
          <a:noFill/>
          <a:ln w="31750">
            <a:solidFill>
              <a:srgbClr val="FF5A4E"/>
            </a:solidFill>
            <a:prstDash val="solid"/>
            <a:tailEnd type="triangle"/>
          </a:ln>
        </p:spPr>
      </p:sp>
      <p:sp>
        <p:nvSpPr>
          <p:cNvPr id="21" name="Text 19"/>
          <p:cNvSpPr txBox="1"/>
          <p:nvPr/>
        </p:nvSpPr>
        <p:spPr>
          <a:xfrm>
            <a:off x="6400800" y="4892040"/>
            <a:ext cx="5120640" cy="411480"/>
          </a:xfrm>
          <a:prstGeom prst="rect">
            <a:avLst/>
          </a:prstGeom>
          <a:noFill/>
          <a:ln/>
        </p:spPr>
        <p:txBody>
          <a:bodyPr wrap="square" lIns="0" tIns="0" rIns="0" bIns="0" rtlCol="0" anchor="t"/>
          <a:lstStyle/>
          <a:p>
            <a:pPr indent="0" marL="0">
              <a:buNone/>
            </a:pPr>
            <a:r>
              <a:rPr lang="en-US" sz="1600" b="1" dirty="0">
                <a:solidFill>
                  <a:schemeClr val="accent1"/>
                </a:solidFill>
              </a:rPr>
              <a:t>← The congestion wave moves upstream</a:t>
            </a:r>
            <a:endParaRPr lang="en-US" sz="1600" dirty="0"/>
          </a:p>
        </p:txBody>
      </p:sp>
      <p:sp>
        <p:nvSpPr>
          <p:cNvPr id="22" name="Text 20"/>
          <p:cNvSpPr txBox="1"/>
          <p:nvPr/>
        </p:nvSpPr>
        <p:spPr>
          <a:xfrm>
            <a:off x="6400800" y="5440680"/>
            <a:ext cx="5120640" cy="640080"/>
          </a:xfrm>
          <a:prstGeom prst="rect">
            <a:avLst/>
          </a:prstGeom>
          <a:noFill/>
          <a:ln/>
        </p:spPr>
        <p:txBody>
          <a:bodyPr wrap="square" lIns="0" tIns="0" rIns="0" bIns="0" rtlCol="0" anchor="t"/>
          <a:lstStyle/>
          <a:p>
            <a:pPr indent="0" marL="0">
              <a:buNone/>
            </a:pPr>
            <a:r>
              <a:rPr lang="en-US" sz="1400" dirty="0">
                <a:solidFill>
                  <a:schemeClr val="bg2"/>
                </a:solidFill>
              </a:rPr>
              <a:t>Sensors D and E slow down first; C, B and A follow minutes later.</a:t>
            </a:r>
            <a:endParaRPr lang="en-US" sz="14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731520" y="1737360"/>
            <a:ext cx="7315200" cy="457200"/>
          </a:xfrm>
          <a:prstGeom prst="rect">
            <a:avLst/>
          </a:prstGeom>
          <a:noFill/>
          <a:ln/>
        </p:spPr>
        <p:txBody>
          <a:bodyPr wrap="square" lIns="0" tIns="0" rIns="0" bIns="0" rtlCol="0"/>
          <a:lstStyle/>
          <a:p>
            <a:pPr algn="l" indent="0" marL="0">
              <a:buNone/>
            </a:pPr>
            <a:r>
              <a:rPr lang="en-US" sz="1600" b="1" spc="400" kern="0" dirty="0">
                <a:solidFill>
                  <a:schemeClr val="accent2"/>
                </a:solidFill>
              </a:rPr>
              <a:t>CHAPTER 01</a:t>
            </a:r>
            <a:endParaRPr lang="en-US" sz="1600" dirty="0"/>
          </a:p>
        </p:txBody>
      </p:sp>
      <p:sp>
        <p:nvSpPr>
          <p:cNvPr id="3" name="Text 0"/>
          <p:cNvSpPr/>
          <p:nvPr>
            <p:ph idx="101" type="title" hasCustomPrompt="1"/>
          </p:nvPr>
        </p:nvSpPr>
        <p:spPr>
          <a:xfrm>
            <a:off x="731520" y="2194560"/>
            <a:ext cx="10698480" cy="1280160"/>
          </a:xfrm>
          <a:prstGeom prst="rect">
            <a:avLst/>
          </a:prstGeom>
          <a:noFill/>
          <a:ln/>
        </p:spPr>
        <p:txBody>
          <a:bodyPr wrap="square" lIns="0" tIns="0" rIns="0" bIns="0" rtlCol="0" anchor="t"/>
          <a:lstStyle/>
          <a:p>
            <a:pPr algn="l" indent="0" marL="0">
              <a:buNone/>
            </a:pPr>
            <a:r>
              <a:rPr lang="en-US" sz="5000" b="1" dirty="0">
                <a:solidFill>
                  <a:schemeClr val="bg1"/>
                </a:solidFill>
              </a:rPr>
              <a:t>Listening to 207 sensors</a:t>
            </a:r>
            <a:endParaRPr lang="en-US" sz="5000" dirty="0"/>
          </a:p>
        </p:txBody>
      </p:sp>
      <p:sp>
        <p:nvSpPr>
          <p:cNvPr id="4" name="Text 0"/>
          <p:cNvSpPr/>
          <p:nvPr>
            <p:ph idx="102" type="body" hasCustomPrompt="1"/>
          </p:nvPr>
        </p:nvSpPr>
        <p:spPr>
          <a:xfrm>
            <a:off x="731520" y="3520440"/>
            <a:ext cx="9601200" cy="1097280"/>
          </a:xfrm>
          <a:prstGeom prst="rect">
            <a:avLst/>
          </a:prstGeom>
          <a:noFill/>
          <a:ln/>
        </p:spPr>
        <p:txBody>
          <a:bodyPr wrap="square" lIns="0" tIns="0" rIns="0" bIns="0" rtlCol="0" anchor="t"/>
          <a:lstStyle/>
          <a:p>
            <a:pPr algn="l" indent="0" marL="0">
              <a:buNone/>
            </a:pPr>
            <a:r>
              <a:rPr lang="en-US" sz="2200" dirty="0">
                <a:solidFill>
                  <a:schemeClr val="bg2"/>
                </a:solidFill>
              </a:rPr>
              <a:t>Four months of Los Angeles freeway speeds — and what the silence in the data means.</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METR-LA in four numbers</a:t>
            </a:r>
            <a:endParaRPr lang="en-US" sz="3600" dirty="0"/>
          </a:p>
        </p:txBody>
      </p:sp>
      <p:sp>
        <p:nvSpPr>
          <p:cNvPr id="3" name="card"/>
          <p:cNvSpPr/>
          <p:nvPr/>
        </p:nvSpPr>
        <p:spPr>
          <a:xfrm>
            <a:off x="548640" y="1463040"/>
            <a:ext cx="2606040" cy="2194560"/>
          </a:xfrm>
          <a:prstGeom prst="roundRect">
            <a:avLst>
              <a:gd name="adj" fmla="val 5000"/>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4" name="Text 2"/>
          <p:cNvSpPr txBox="1"/>
          <p:nvPr/>
        </p:nvSpPr>
        <p:spPr>
          <a:xfrm>
            <a:off x="822960" y="1691640"/>
            <a:ext cx="2057400" cy="1097280"/>
          </a:xfrm>
          <a:prstGeom prst="rect">
            <a:avLst/>
          </a:prstGeom>
          <a:noFill/>
          <a:ln/>
        </p:spPr>
        <p:txBody>
          <a:bodyPr wrap="square" lIns="0" tIns="0" rIns="0" bIns="0" rtlCol="0" anchor="ctr"/>
          <a:lstStyle/>
          <a:p>
            <a:pPr indent="0" marL="0">
              <a:buNone/>
            </a:pPr>
            <a:r>
              <a:rPr lang="en-US" sz="4600" b="1" dirty="0">
                <a:solidFill>
                  <a:schemeClr val="accent2"/>
                </a:solidFill>
                <a:latin typeface="Arial" pitchFamily="34" charset="0"/>
                <a:ea typeface="Arial" pitchFamily="34" charset="-122"/>
                <a:cs typeface="Arial" pitchFamily="34" charset="-120"/>
              </a:rPr>
              <a:t>207</a:t>
            </a:r>
            <a:endParaRPr lang="en-US" sz="4600" dirty="0"/>
          </a:p>
        </p:txBody>
      </p:sp>
      <p:sp>
        <p:nvSpPr>
          <p:cNvPr id="5" name="Text 3"/>
          <p:cNvSpPr txBox="1"/>
          <p:nvPr/>
        </p:nvSpPr>
        <p:spPr>
          <a:xfrm>
            <a:off x="822960" y="2788920"/>
            <a:ext cx="2057400" cy="777240"/>
          </a:xfrm>
          <a:prstGeom prst="rect">
            <a:avLst/>
          </a:prstGeom>
          <a:noFill/>
          <a:ln/>
        </p:spPr>
        <p:txBody>
          <a:bodyPr wrap="square" lIns="0" tIns="0" rIns="0" bIns="0" rtlCol="0" anchor="t"/>
          <a:lstStyle/>
          <a:p>
            <a:pPr indent="0" marL="0">
              <a:buNone/>
            </a:pPr>
            <a:r>
              <a:rPr lang="en-US" sz="1400" dirty="0">
                <a:solidFill>
                  <a:schemeClr val="bg2"/>
                </a:solidFill>
              </a:rPr>
              <a:t>loop-detector sensors on LA County freeways</a:t>
            </a:r>
            <a:endParaRPr lang="en-US" sz="1400" dirty="0"/>
          </a:p>
        </p:txBody>
      </p:sp>
      <p:sp>
        <p:nvSpPr>
          <p:cNvPr id="6" name="card"/>
          <p:cNvSpPr/>
          <p:nvPr/>
        </p:nvSpPr>
        <p:spPr>
          <a:xfrm>
            <a:off x="3383280" y="1463040"/>
            <a:ext cx="2606040" cy="2194560"/>
          </a:xfrm>
          <a:prstGeom prst="roundRect">
            <a:avLst>
              <a:gd name="adj" fmla="val 5000"/>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7" name="Text 5"/>
          <p:cNvSpPr txBox="1"/>
          <p:nvPr/>
        </p:nvSpPr>
        <p:spPr>
          <a:xfrm>
            <a:off x="3657600" y="1691640"/>
            <a:ext cx="2057400" cy="1097280"/>
          </a:xfrm>
          <a:prstGeom prst="rect">
            <a:avLst/>
          </a:prstGeom>
          <a:noFill/>
          <a:ln/>
        </p:spPr>
        <p:txBody>
          <a:bodyPr wrap="square" lIns="0" tIns="0" rIns="0" bIns="0" rtlCol="0" anchor="ctr"/>
          <a:lstStyle/>
          <a:p>
            <a:pPr indent="0" marL="0">
              <a:buNone/>
            </a:pPr>
            <a:r>
              <a:rPr lang="en-US" sz="4600" b="1" dirty="0">
                <a:solidFill>
                  <a:schemeClr val="accent3"/>
                </a:solidFill>
                <a:latin typeface="Arial" pitchFamily="34" charset="0"/>
                <a:ea typeface="Arial" pitchFamily="34" charset="-122"/>
                <a:cs typeface="Arial" pitchFamily="34" charset="-120"/>
              </a:rPr>
              <a:t>34,272</a:t>
            </a:r>
            <a:endParaRPr lang="en-US" sz="4600" dirty="0"/>
          </a:p>
        </p:txBody>
      </p:sp>
      <p:sp>
        <p:nvSpPr>
          <p:cNvPr id="8" name="Text 6"/>
          <p:cNvSpPr txBox="1"/>
          <p:nvPr/>
        </p:nvSpPr>
        <p:spPr>
          <a:xfrm>
            <a:off x="3657600" y="2788920"/>
            <a:ext cx="2057400" cy="777240"/>
          </a:xfrm>
          <a:prstGeom prst="rect">
            <a:avLst/>
          </a:prstGeom>
          <a:noFill/>
          <a:ln/>
        </p:spPr>
        <p:txBody>
          <a:bodyPr wrap="square" lIns="0" tIns="0" rIns="0" bIns="0" rtlCol="0" anchor="t"/>
          <a:lstStyle/>
          <a:p>
            <a:pPr indent="0" marL="0">
              <a:buNone/>
            </a:pPr>
            <a:r>
              <a:rPr lang="en-US" sz="1400" dirty="0">
                <a:solidFill>
                  <a:schemeClr val="bg2"/>
                </a:solidFill>
              </a:rPr>
              <a:t>5-minute timestamps · Mar 1 – Jun 27, 2012 (119 days)</a:t>
            </a:r>
            <a:endParaRPr lang="en-US" sz="1400" dirty="0"/>
          </a:p>
        </p:txBody>
      </p:sp>
      <p:sp>
        <p:nvSpPr>
          <p:cNvPr id="9" name="card"/>
          <p:cNvSpPr/>
          <p:nvPr/>
        </p:nvSpPr>
        <p:spPr>
          <a:xfrm>
            <a:off x="6217920" y="1463040"/>
            <a:ext cx="2606040" cy="2194560"/>
          </a:xfrm>
          <a:prstGeom prst="roundRect">
            <a:avLst>
              <a:gd name="adj" fmla="val 5000"/>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10" name="Text 8"/>
          <p:cNvSpPr txBox="1"/>
          <p:nvPr/>
        </p:nvSpPr>
        <p:spPr>
          <a:xfrm>
            <a:off x="6492240" y="1691640"/>
            <a:ext cx="2057400" cy="1097280"/>
          </a:xfrm>
          <a:prstGeom prst="rect">
            <a:avLst/>
          </a:prstGeom>
          <a:noFill/>
          <a:ln/>
        </p:spPr>
        <p:txBody>
          <a:bodyPr wrap="square" lIns="0" tIns="0" rIns="0" bIns="0" rtlCol="0" anchor="ctr"/>
          <a:lstStyle/>
          <a:p>
            <a:pPr indent="0" marL="0">
              <a:buNone/>
            </a:pPr>
            <a:r>
              <a:rPr lang="en-US" sz="4600" b="1" dirty="0">
                <a:solidFill>
                  <a:schemeClr val="accent1"/>
                </a:solidFill>
                <a:latin typeface="Arial" pitchFamily="34" charset="0"/>
                <a:ea typeface="Arial" pitchFamily="34" charset="-122"/>
                <a:cs typeface="Arial" pitchFamily="34" charset="-120"/>
              </a:rPr>
              <a:t>8.1%</a:t>
            </a:r>
            <a:endParaRPr lang="en-US" sz="4600" dirty="0"/>
          </a:p>
        </p:txBody>
      </p:sp>
      <p:sp>
        <p:nvSpPr>
          <p:cNvPr id="11" name="Text 9"/>
          <p:cNvSpPr txBox="1"/>
          <p:nvPr/>
        </p:nvSpPr>
        <p:spPr>
          <a:xfrm>
            <a:off x="6492240" y="2788920"/>
            <a:ext cx="2057400" cy="777240"/>
          </a:xfrm>
          <a:prstGeom prst="rect">
            <a:avLst/>
          </a:prstGeom>
          <a:noFill/>
          <a:ln/>
        </p:spPr>
        <p:txBody>
          <a:bodyPr wrap="square" lIns="0" tIns="0" rIns="0" bIns="0" rtlCol="0" anchor="t"/>
          <a:lstStyle/>
          <a:p>
            <a:pPr indent="0" marL="0">
              <a:buNone/>
            </a:pPr>
            <a:r>
              <a:rPr lang="en-US" sz="1400" dirty="0">
                <a:solidFill>
                  <a:schemeClr val="bg2"/>
                </a:solidFill>
              </a:rPr>
              <a:t>of readings are 0 mph — sensor outages, not stopped cars</a:t>
            </a:r>
            <a:endParaRPr lang="en-US" sz="1400" dirty="0"/>
          </a:p>
        </p:txBody>
      </p:sp>
      <p:sp>
        <p:nvSpPr>
          <p:cNvPr id="12" name="card"/>
          <p:cNvSpPr/>
          <p:nvPr/>
        </p:nvSpPr>
        <p:spPr>
          <a:xfrm>
            <a:off x="9052560" y="1463040"/>
            <a:ext cx="2606040" cy="2194560"/>
          </a:xfrm>
          <a:prstGeom prst="roundRect">
            <a:avLst>
              <a:gd name="adj" fmla="val 5000"/>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13" name="Text 11"/>
          <p:cNvSpPr txBox="1"/>
          <p:nvPr/>
        </p:nvSpPr>
        <p:spPr>
          <a:xfrm>
            <a:off x="9326880" y="1691640"/>
            <a:ext cx="2057400" cy="1097280"/>
          </a:xfrm>
          <a:prstGeom prst="rect">
            <a:avLst/>
          </a:prstGeom>
          <a:noFill/>
          <a:ln/>
        </p:spPr>
        <p:txBody>
          <a:bodyPr wrap="square" lIns="0" tIns="0" rIns="0" bIns="0" rtlCol="0" anchor="ctr"/>
          <a:lstStyle/>
          <a:p>
            <a:pPr indent="0" marL="0">
              <a:buNone/>
            </a:pPr>
            <a:r>
              <a:rPr lang="en-US" sz="4600" b="1" dirty="0">
                <a:solidFill>
                  <a:schemeClr val="accent4"/>
                </a:solidFill>
                <a:latin typeface="Arial" pitchFamily="34" charset="0"/>
                <a:ea typeface="Arial" pitchFamily="34" charset="-122"/>
                <a:cs typeface="Arial" pitchFamily="34" charset="-120"/>
              </a:rPr>
              <a:t>1,515</a:t>
            </a:r>
            <a:endParaRPr lang="en-US" sz="4600" dirty="0"/>
          </a:p>
        </p:txBody>
      </p:sp>
      <p:sp>
        <p:nvSpPr>
          <p:cNvPr id="14" name="Text 12"/>
          <p:cNvSpPr txBox="1"/>
          <p:nvPr/>
        </p:nvSpPr>
        <p:spPr>
          <a:xfrm>
            <a:off x="9326880" y="2788920"/>
            <a:ext cx="2057400" cy="777240"/>
          </a:xfrm>
          <a:prstGeom prst="rect">
            <a:avLst/>
          </a:prstGeom>
          <a:noFill/>
          <a:ln/>
        </p:spPr>
        <p:txBody>
          <a:bodyPr wrap="square" lIns="0" tIns="0" rIns="0" bIns="0" rtlCol="0" anchor="t"/>
          <a:lstStyle/>
          <a:p>
            <a:pPr indent="0" marL="0">
              <a:buNone/>
            </a:pPr>
            <a:r>
              <a:rPr lang="en-US" sz="1400" dirty="0">
                <a:solidFill>
                  <a:schemeClr val="bg2"/>
                </a:solidFill>
              </a:rPr>
              <a:t>directed road links in the sensor graph</a:t>
            </a:r>
            <a:endParaRPr lang="en-US" sz="1400" dirty="0"/>
          </a:p>
        </p:txBody>
      </p:sp>
      <p:sp>
        <p:nvSpPr>
          <p:cNvPr id="15" name="card"/>
          <p:cNvSpPr/>
          <p:nvPr/>
        </p:nvSpPr>
        <p:spPr>
          <a:xfrm>
            <a:off x="548640" y="3931920"/>
            <a:ext cx="11064240" cy="2240280"/>
          </a:xfrm>
          <a:prstGeom prst="roundRect">
            <a:avLst>
              <a:gd name="adj" fmla="val 4898"/>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16" name="Text 14"/>
          <p:cNvSpPr txBox="1"/>
          <p:nvPr/>
        </p:nvSpPr>
        <p:spPr>
          <a:xfrm>
            <a:off x="868680" y="4160520"/>
            <a:ext cx="10058400" cy="320040"/>
          </a:xfrm>
          <a:prstGeom prst="rect">
            <a:avLst/>
          </a:prstGeom>
          <a:noFill/>
          <a:ln/>
        </p:spPr>
        <p:txBody>
          <a:bodyPr wrap="square" lIns="0" tIns="0" rIns="0" bIns="0" rtlCol="0" anchor="t"/>
          <a:lstStyle/>
          <a:p>
            <a:pPr indent="0" marL="0">
              <a:buNone/>
            </a:pPr>
            <a:r>
              <a:rPr lang="en-US" sz="1400" b="1" spc="300" kern="0" dirty="0">
                <a:solidFill>
                  <a:schemeClr val="accent2"/>
                </a:solidFill>
              </a:rPr>
              <a:t>WHAT THAT MEANS FOR MODELLING</a:t>
            </a:r>
            <a:endParaRPr lang="en-US" sz="1400" dirty="0"/>
          </a:p>
        </p:txBody>
      </p:sp>
      <p:sp>
        <p:nvSpPr>
          <p:cNvPr id="17" name="Text 15"/>
          <p:cNvSpPr txBox="1"/>
          <p:nvPr/>
        </p:nvSpPr>
        <p:spPr>
          <a:xfrm>
            <a:off x="868680" y="4572000"/>
            <a:ext cx="10424160" cy="155448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bg1"/>
                </a:solidFill>
              </a:rPr>
              <a:t>Speed only (mph) — no flow, no occupancy; maximum observed speed 70 mph</a:t>
            </a:r>
            <a:endParaRPr lang="en-US" sz="1600" dirty="0"/>
          </a:p>
          <a:p>
            <a:pPr marL="228600" indent="-228600">
              <a:spcAft>
                <a:spcPts val="800"/>
              </a:spcAft>
              <a:buSzPct val="100000"/>
              <a:buChar char="•"/>
            </a:pPr>
            <a:r>
              <a:rPr lang="en-US" sz="1600" dirty="0">
                <a:solidFill>
                  <a:schemeClr val="bg1"/>
                </a:solidFill>
              </a:rPr>
              <a:t>Zeros are masked in every loss and metric and never used as targets</a:t>
            </a:r>
            <a:endParaRPr lang="en-US" sz="1600" dirty="0"/>
          </a:p>
          <a:p>
            <a:pPr marL="228600" indent="-228600">
              <a:spcAft>
                <a:spcPts val="800"/>
              </a:spcAft>
              <a:buSzPct val="100000"/>
              <a:buChar char="•"/>
            </a:pPr>
            <a:r>
              <a:rPr lang="en-US" sz="1600" dirty="0">
                <a:solidFill>
                  <a:schemeClr val="bg1"/>
                </a:solidFill>
              </a:rPr>
              <a:t>Source: DCRNN benchmark (Li et al., ICLR 2018); files verified by SHA-256 on download</a:t>
            </a:r>
            <a:endParaRPr lang="en-US" sz="16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Silence is not a traffic jam</a:t>
            </a:r>
            <a:endParaRPr lang="en-US" sz="3600" dirty="0"/>
          </a:p>
        </p:txBody>
      </p:sp>
      <p:sp>
        <p:nvSpPr>
          <p:cNvPr id="3" name="figure frame"/>
          <p:cNvSpPr/>
          <p:nvPr/>
        </p:nvSpPr>
        <p:spPr>
          <a:xfrm>
            <a:off x="548640" y="1417320"/>
            <a:ext cx="7589520" cy="2971800"/>
          </a:xfrm>
          <a:prstGeom prst="roundRect">
            <a:avLst>
              <a:gd name="adj" fmla="val 3077"/>
            </a:avLst>
          </a:prstGeom>
          <a:solidFill>
            <a:schemeClr val="bg1"/>
          </a:solidFill>
          <a:ln w="12700">
            <a:solidFill>
              <a:schemeClr val="bg1">
                <a:alpha val="0"/>
              </a:schemeClr>
            </a:solidFill>
            <a:prstDash val="solid"/>
          </a:ln>
          <a:effectLst>
            <a:outerShdw sx="100000" sy="100000" kx="0" ky="0" algn="bl" rotWithShape="0" blurRad="177800" dist="38100" dir="5400000">
              <a:srgbClr val="000000">
                <a:alpha val="45000"/>
              </a:srgbClr>
            </a:outerShdw>
          </a:effectLst>
        </p:spPr>
      </p:sp>
      <p:pic>
        <p:nvPicPr>
          <p:cNvPr id="4" name="Image 0" descr="eda 01 missingness">    </p:cNvPr>
          <p:cNvPicPr>
            <a:picLocks noChangeAspect="1"/>
          </p:cNvPicPr>
          <p:nvPr/>
        </p:nvPicPr>
        <p:blipFill>
          <a:blip r:embed="rId1"/>
          <a:stretch>
            <a:fillRect/>
          </a:stretch>
        </p:blipFill>
        <p:spPr>
          <a:xfrm>
            <a:off x="673608" y="1527048"/>
            <a:ext cx="7339584" cy="2752344"/>
          </a:xfrm>
          <a:prstGeom prst="rect">
            <a:avLst/>
          </a:prstGeom>
        </p:spPr>
      </p:pic>
      <p:sp>
        <p:nvSpPr>
          <p:cNvPr id="5" name="card"/>
          <p:cNvSpPr/>
          <p:nvPr/>
        </p:nvSpPr>
        <p:spPr>
          <a:xfrm>
            <a:off x="8412480" y="1417320"/>
            <a:ext cx="3200400" cy="1417320"/>
          </a:xfrm>
          <a:prstGeom prst="roundRect">
            <a:avLst>
              <a:gd name="adj" fmla="val 7742"/>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6" name="Text 3"/>
          <p:cNvSpPr txBox="1"/>
          <p:nvPr/>
        </p:nvSpPr>
        <p:spPr>
          <a:xfrm>
            <a:off x="8686800" y="1645920"/>
            <a:ext cx="2651760" cy="708660"/>
          </a:xfrm>
          <a:prstGeom prst="rect">
            <a:avLst/>
          </a:prstGeom>
          <a:noFill/>
          <a:ln/>
        </p:spPr>
        <p:txBody>
          <a:bodyPr wrap="square" lIns="0" tIns="0" rIns="0" bIns="0" rtlCol="0" anchor="ctr"/>
          <a:lstStyle/>
          <a:p>
            <a:pPr indent="0" marL="0">
              <a:buNone/>
            </a:pPr>
            <a:r>
              <a:rPr lang="en-US" sz="3600" b="1" dirty="0">
                <a:solidFill>
                  <a:schemeClr val="accent1"/>
                </a:solidFill>
                <a:latin typeface="Arial" pitchFamily="34" charset="0"/>
                <a:ea typeface="Arial" pitchFamily="34" charset="-122"/>
                <a:cs typeface="Arial" pitchFamily="34" charset="-120"/>
              </a:rPr>
              <a:t>2,148</a:t>
            </a:r>
            <a:endParaRPr lang="en-US" sz="3600" dirty="0"/>
          </a:p>
        </p:txBody>
      </p:sp>
      <p:sp>
        <p:nvSpPr>
          <p:cNvPr id="7" name="Text 4"/>
          <p:cNvSpPr txBox="1"/>
          <p:nvPr/>
        </p:nvSpPr>
        <p:spPr>
          <a:xfrm>
            <a:off x="8686800" y="2354580"/>
            <a:ext cx="2651760" cy="388620"/>
          </a:xfrm>
          <a:prstGeom prst="rect">
            <a:avLst/>
          </a:prstGeom>
          <a:noFill/>
          <a:ln/>
        </p:spPr>
        <p:txBody>
          <a:bodyPr wrap="square" lIns="0" tIns="0" rIns="0" bIns="0" rtlCol="0" anchor="t"/>
          <a:lstStyle/>
          <a:p>
            <a:pPr indent="0" marL="0">
              <a:buNone/>
            </a:pPr>
            <a:r>
              <a:rPr lang="en-US" sz="1400" dirty="0">
                <a:solidFill>
                  <a:schemeClr val="bg2"/>
                </a:solidFill>
              </a:rPr>
              <a:t>timestamps where ≥ 90% of sensors are silent</a:t>
            </a:r>
            <a:endParaRPr lang="en-US" sz="1400" dirty="0"/>
          </a:p>
        </p:txBody>
      </p:sp>
      <p:sp>
        <p:nvSpPr>
          <p:cNvPr id="8" name="card"/>
          <p:cNvSpPr/>
          <p:nvPr/>
        </p:nvSpPr>
        <p:spPr>
          <a:xfrm>
            <a:off x="8412480" y="2971800"/>
            <a:ext cx="3200400" cy="1417320"/>
          </a:xfrm>
          <a:prstGeom prst="roundRect">
            <a:avLst>
              <a:gd name="adj" fmla="val 7742"/>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9" name="Text 6"/>
          <p:cNvSpPr txBox="1"/>
          <p:nvPr/>
        </p:nvSpPr>
        <p:spPr>
          <a:xfrm>
            <a:off x="8686800" y="3200400"/>
            <a:ext cx="2651760" cy="708660"/>
          </a:xfrm>
          <a:prstGeom prst="rect">
            <a:avLst/>
          </a:prstGeom>
          <a:noFill/>
          <a:ln/>
        </p:spPr>
        <p:txBody>
          <a:bodyPr wrap="square" lIns="0" tIns="0" rIns="0" bIns="0" rtlCol="0" anchor="ctr"/>
          <a:lstStyle/>
          <a:p>
            <a:pPr indent="0" marL="0">
              <a:buNone/>
            </a:pPr>
            <a:r>
              <a:rPr lang="en-US" sz="3600" b="1" dirty="0">
                <a:solidFill>
                  <a:schemeClr val="accent2"/>
                </a:solidFill>
                <a:latin typeface="Arial" pitchFamily="34" charset="0"/>
                <a:ea typeface="Arial" pitchFamily="34" charset="-122"/>
                <a:cs typeface="Arial" pitchFamily="34" charset="-120"/>
              </a:rPr>
              <a:t>12.1%</a:t>
            </a:r>
            <a:endParaRPr lang="en-US" sz="3600" dirty="0"/>
          </a:p>
        </p:txBody>
      </p:sp>
      <p:sp>
        <p:nvSpPr>
          <p:cNvPr id="10" name="Text 7"/>
          <p:cNvSpPr txBox="1"/>
          <p:nvPr/>
        </p:nvSpPr>
        <p:spPr>
          <a:xfrm>
            <a:off x="8686800" y="3909060"/>
            <a:ext cx="2651760" cy="388620"/>
          </a:xfrm>
          <a:prstGeom prst="rect">
            <a:avLst/>
          </a:prstGeom>
          <a:noFill/>
          <a:ln/>
        </p:spPr>
        <p:txBody>
          <a:bodyPr wrap="square" lIns="0" tIns="0" rIns="0" bIns="0" rtlCol="0" anchor="t"/>
          <a:lstStyle/>
          <a:p>
            <a:pPr indent="0" marL="0">
              <a:buNone/>
            </a:pPr>
            <a:r>
              <a:rPr lang="en-US" sz="1400" dirty="0">
                <a:solidFill>
                  <a:schemeClr val="bg2"/>
                </a:solidFill>
              </a:rPr>
              <a:t>missing in the test period vs 7.1% in training</a:t>
            </a:r>
            <a:endParaRPr lang="en-US" sz="1400" dirty="0"/>
          </a:p>
        </p:txBody>
      </p:sp>
      <p:sp>
        <p:nvSpPr>
          <p:cNvPr id="11" name="card"/>
          <p:cNvSpPr/>
          <p:nvPr/>
        </p:nvSpPr>
        <p:spPr>
          <a:xfrm>
            <a:off x="548640" y="4617720"/>
            <a:ext cx="11064240" cy="1554480"/>
          </a:xfrm>
          <a:prstGeom prst="roundRect">
            <a:avLst>
              <a:gd name="adj" fmla="val 7059"/>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12" name="Text 9"/>
          <p:cNvSpPr txBox="1"/>
          <p:nvPr/>
        </p:nvSpPr>
        <p:spPr>
          <a:xfrm>
            <a:off x="868680" y="4846320"/>
            <a:ext cx="10515600" cy="128016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bg1"/>
                </a:solidFill>
              </a:rPr>
              <a:t>Inputs: forward-fill up to 30 minutes (past only), then the training-period average for that sensor and time of day, plus an is_missing flag</a:t>
            </a:r>
            <a:endParaRPr lang="en-US" sz="1500" dirty="0"/>
          </a:p>
          <a:p>
            <a:pPr marL="228600" indent="-228600">
              <a:spcAft>
                <a:spcPts val="800"/>
              </a:spcAft>
              <a:buSzPct val="100000"/>
              <a:buChar char="•"/>
            </a:pPr>
            <a:r>
              <a:rPr lang="en-US" sz="1500" dirty="0">
                <a:solidFill>
                  <a:schemeClr val="bg1"/>
                </a:solidFill>
              </a:rPr>
              <a:t>Targets: never imputed — a model is only scored where the sensor actually reported</a:t>
            </a:r>
            <a:endParaRPr lang="en-US" sz="15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The city breathes twice a day</a:t>
            </a:r>
            <a:endParaRPr lang="en-US" sz="3600" dirty="0"/>
          </a:p>
        </p:txBody>
      </p:sp>
      <p:sp>
        <p:nvSpPr>
          <p:cNvPr id="3" name="figure frame"/>
          <p:cNvSpPr/>
          <p:nvPr/>
        </p:nvSpPr>
        <p:spPr>
          <a:xfrm>
            <a:off x="548640" y="1417320"/>
            <a:ext cx="6949440" cy="4754880"/>
          </a:xfrm>
          <a:prstGeom prst="roundRect">
            <a:avLst>
              <a:gd name="adj" fmla="val 1923"/>
            </a:avLst>
          </a:prstGeom>
          <a:solidFill>
            <a:schemeClr val="bg1"/>
          </a:solidFill>
          <a:ln w="12700">
            <a:solidFill>
              <a:schemeClr val="bg1">
                <a:alpha val="0"/>
              </a:schemeClr>
            </a:solidFill>
            <a:prstDash val="solid"/>
          </a:ln>
          <a:effectLst>
            <a:outerShdw sx="100000" sy="100000" kx="0" ky="0" algn="bl" rotWithShape="0" blurRad="177800" dist="38100" dir="5400000">
              <a:srgbClr val="000000">
                <a:alpha val="45000"/>
              </a:srgbClr>
            </a:outerShdw>
          </a:effectLst>
        </p:spPr>
      </p:sp>
      <p:pic>
        <p:nvPicPr>
          <p:cNvPr id="4" name="Image 0" descr="eda 02 daily profile">    </p:cNvPr>
          <p:cNvPicPr>
            <a:picLocks noChangeAspect="1"/>
          </p:cNvPicPr>
          <p:nvPr/>
        </p:nvPicPr>
        <p:blipFill>
          <a:blip r:embed="rId1"/>
          <a:stretch>
            <a:fillRect/>
          </a:stretch>
        </p:blipFill>
        <p:spPr>
          <a:xfrm>
            <a:off x="658368" y="2112264"/>
            <a:ext cx="6729984" cy="3364992"/>
          </a:xfrm>
          <a:prstGeom prst="rect">
            <a:avLst/>
          </a:prstGeom>
        </p:spPr>
      </p:pic>
      <p:sp>
        <p:nvSpPr>
          <p:cNvPr id="5" name="card"/>
          <p:cNvSpPr/>
          <p:nvPr/>
        </p:nvSpPr>
        <p:spPr>
          <a:xfrm>
            <a:off x="7772400" y="1417320"/>
            <a:ext cx="3840480" cy="1463040"/>
          </a:xfrm>
          <a:prstGeom prst="roundRect">
            <a:avLst>
              <a:gd name="adj" fmla="val 7500"/>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6" name="Text 3"/>
          <p:cNvSpPr txBox="1"/>
          <p:nvPr/>
        </p:nvSpPr>
        <p:spPr>
          <a:xfrm>
            <a:off x="8046720" y="1645920"/>
            <a:ext cx="3291840" cy="731520"/>
          </a:xfrm>
          <a:prstGeom prst="rect">
            <a:avLst/>
          </a:prstGeom>
          <a:noFill/>
          <a:ln/>
        </p:spPr>
        <p:txBody>
          <a:bodyPr wrap="square" lIns="0" tIns="0" rIns="0" bIns="0" rtlCol="0" anchor="ctr"/>
          <a:lstStyle/>
          <a:p>
            <a:pPr indent="0" marL="0">
              <a:buNone/>
            </a:pPr>
            <a:r>
              <a:rPr lang="en-US" sz="3800" b="1" dirty="0">
                <a:solidFill>
                  <a:schemeClr val="accent1"/>
                </a:solidFill>
                <a:latin typeface="Arial" pitchFamily="34" charset="0"/>
                <a:ea typeface="Arial" pitchFamily="34" charset="-122"/>
                <a:cs typeface="Arial" pitchFamily="34" charset="-120"/>
              </a:rPr>
              <a:t>45.3 mph</a:t>
            </a:r>
            <a:endParaRPr lang="en-US" sz="3800" dirty="0"/>
          </a:p>
        </p:txBody>
      </p:sp>
      <p:sp>
        <p:nvSpPr>
          <p:cNvPr id="7" name="Text 4"/>
          <p:cNvSpPr txBox="1"/>
          <p:nvPr/>
        </p:nvSpPr>
        <p:spPr>
          <a:xfrm>
            <a:off x="8046720" y="2377440"/>
            <a:ext cx="3291840" cy="411480"/>
          </a:xfrm>
          <a:prstGeom prst="rect">
            <a:avLst/>
          </a:prstGeom>
          <a:noFill/>
          <a:ln/>
        </p:spPr>
        <p:txBody>
          <a:bodyPr wrap="square" lIns="0" tIns="0" rIns="0" bIns="0" rtlCol="0" anchor="t"/>
          <a:lstStyle/>
          <a:p>
            <a:pPr indent="0" marL="0">
              <a:buNone/>
            </a:pPr>
            <a:r>
              <a:rPr lang="en-US" sz="1400" dirty="0">
                <a:solidFill>
                  <a:schemeClr val="bg2"/>
                </a:solidFill>
              </a:rPr>
              <a:t>weekday low, around 17:30</a:t>
            </a:r>
            <a:endParaRPr lang="en-US" sz="1400" dirty="0"/>
          </a:p>
        </p:txBody>
      </p:sp>
      <p:sp>
        <p:nvSpPr>
          <p:cNvPr id="8" name="card"/>
          <p:cNvSpPr/>
          <p:nvPr/>
        </p:nvSpPr>
        <p:spPr>
          <a:xfrm>
            <a:off x="7772400" y="2999232"/>
            <a:ext cx="3840480" cy="1463040"/>
          </a:xfrm>
          <a:prstGeom prst="roundRect">
            <a:avLst>
              <a:gd name="adj" fmla="val 7500"/>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9" name="Text 6"/>
          <p:cNvSpPr txBox="1"/>
          <p:nvPr/>
        </p:nvSpPr>
        <p:spPr>
          <a:xfrm>
            <a:off x="8046720" y="3227832"/>
            <a:ext cx="3291840" cy="731520"/>
          </a:xfrm>
          <a:prstGeom prst="rect">
            <a:avLst/>
          </a:prstGeom>
          <a:noFill/>
          <a:ln/>
        </p:spPr>
        <p:txBody>
          <a:bodyPr wrap="square" lIns="0" tIns="0" rIns="0" bIns="0" rtlCol="0" anchor="ctr"/>
          <a:lstStyle/>
          <a:p>
            <a:pPr indent="0" marL="0">
              <a:buNone/>
            </a:pPr>
            <a:r>
              <a:rPr lang="en-US" sz="3800" b="1" dirty="0">
                <a:solidFill>
                  <a:schemeClr val="accent3"/>
                </a:solidFill>
                <a:latin typeface="Arial" pitchFamily="34" charset="0"/>
                <a:ea typeface="Arial" pitchFamily="34" charset="-122"/>
                <a:cs typeface="Arial" pitchFamily="34" charset="-120"/>
              </a:rPr>
              <a:t>56.8 mph</a:t>
            </a:r>
            <a:endParaRPr lang="en-US" sz="3800" dirty="0"/>
          </a:p>
        </p:txBody>
      </p:sp>
      <p:sp>
        <p:nvSpPr>
          <p:cNvPr id="10" name="Text 7"/>
          <p:cNvSpPr txBox="1"/>
          <p:nvPr/>
        </p:nvSpPr>
        <p:spPr>
          <a:xfrm>
            <a:off x="8046720" y="3959352"/>
            <a:ext cx="3291840" cy="411480"/>
          </a:xfrm>
          <a:prstGeom prst="rect">
            <a:avLst/>
          </a:prstGeom>
          <a:noFill/>
          <a:ln/>
        </p:spPr>
        <p:txBody>
          <a:bodyPr wrap="square" lIns="0" tIns="0" rIns="0" bIns="0" rtlCol="0" anchor="t"/>
          <a:lstStyle/>
          <a:p>
            <a:pPr indent="0" marL="0">
              <a:buNone/>
            </a:pPr>
            <a:r>
              <a:rPr lang="en-US" sz="1400" dirty="0">
                <a:solidFill>
                  <a:schemeClr val="bg2"/>
                </a:solidFill>
              </a:rPr>
              <a:t>weekend low — rush hours vanish</a:t>
            </a:r>
            <a:endParaRPr lang="en-US" sz="1400" dirty="0"/>
          </a:p>
        </p:txBody>
      </p:sp>
      <p:sp>
        <p:nvSpPr>
          <p:cNvPr id="11" name="card"/>
          <p:cNvSpPr/>
          <p:nvPr/>
        </p:nvSpPr>
        <p:spPr>
          <a:xfrm>
            <a:off x="7772400" y="4709160"/>
            <a:ext cx="3840480" cy="1463040"/>
          </a:xfrm>
          <a:prstGeom prst="roundRect">
            <a:avLst>
              <a:gd name="adj" fmla="val 7500"/>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12" name="Text 9"/>
          <p:cNvSpPr txBox="1"/>
          <p:nvPr/>
        </p:nvSpPr>
        <p:spPr>
          <a:xfrm>
            <a:off x="8046720" y="4937760"/>
            <a:ext cx="3291840" cy="731520"/>
          </a:xfrm>
          <a:prstGeom prst="rect">
            <a:avLst/>
          </a:prstGeom>
          <a:noFill/>
          <a:ln/>
        </p:spPr>
        <p:txBody>
          <a:bodyPr wrap="square" lIns="0" tIns="0" rIns="0" bIns="0" rtlCol="0" anchor="ctr"/>
          <a:lstStyle/>
          <a:p>
            <a:pPr indent="0" marL="0">
              <a:buNone/>
            </a:pPr>
            <a:r>
              <a:rPr lang="en-US" sz="3400" b="1" dirty="0">
                <a:solidFill>
                  <a:schemeClr val="accent2"/>
                </a:solidFill>
                <a:latin typeface="Arial" pitchFamily="34" charset="0"/>
                <a:ea typeface="Arial" pitchFamily="34" charset="-122"/>
                <a:cs typeface="Arial" pitchFamily="34" charset="-120"/>
              </a:rPr>
              <a:t>42.5–65.7</a:t>
            </a:r>
            <a:endParaRPr lang="en-US" sz="3400" dirty="0"/>
          </a:p>
        </p:txBody>
      </p:sp>
      <p:sp>
        <p:nvSpPr>
          <p:cNvPr id="13" name="Text 10"/>
          <p:cNvSpPr txBox="1"/>
          <p:nvPr/>
        </p:nvSpPr>
        <p:spPr>
          <a:xfrm>
            <a:off x="8046720" y="5669280"/>
            <a:ext cx="3291840" cy="411480"/>
          </a:xfrm>
          <a:prstGeom prst="rect">
            <a:avLst/>
          </a:prstGeom>
          <a:noFill/>
          <a:ln/>
        </p:spPr>
        <p:txBody>
          <a:bodyPr wrap="square" lIns="0" tIns="0" rIns="0" bIns="0" rtlCol="0" anchor="t"/>
          <a:lstStyle/>
          <a:p>
            <a:pPr indent="0" marL="0">
              <a:buNone/>
            </a:pPr>
            <a:r>
              <a:rPr lang="en-US" sz="1400" dirty="0">
                <a:solidFill>
                  <a:schemeClr val="bg2"/>
                </a:solidFill>
              </a:rPr>
              <a:t>mph range of weekly time-slot averages</a:t>
            </a:r>
            <a:endParaRPr lang="en-US" sz="14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Turning roads into a graph</a:t>
            </a:r>
            <a:endParaRPr lang="en-US" sz="3600" dirty="0"/>
          </a:p>
        </p:txBody>
      </p:sp>
      <p:sp>
        <p:nvSpPr>
          <p:cNvPr id="3" name="card"/>
          <p:cNvSpPr/>
          <p:nvPr/>
        </p:nvSpPr>
        <p:spPr>
          <a:xfrm>
            <a:off x="548640" y="1417320"/>
            <a:ext cx="5212080" cy="4754880"/>
          </a:xfrm>
          <a:prstGeom prst="roundRect">
            <a:avLst>
              <a:gd name="adj" fmla="val 2308"/>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4" name="Text 2"/>
          <p:cNvSpPr txBox="1"/>
          <p:nvPr/>
        </p:nvSpPr>
        <p:spPr>
          <a:xfrm>
            <a:off x="868680" y="1691640"/>
            <a:ext cx="4663440" cy="320040"/>
          </a:xfrm>
          <a:prstGeom prst="rect">
            <a:avLst/>
          </a:prstGeom>
          <a:noFill/>
          <a:ln/>
        </p:spPr>
        <p:txBody>
          <a:bodyPr wrap="square" lIns="0" tIns="0" rIns="0" bIns="0" rtlCol="0" anchor="t"/>
          <a:lstStyle/>
          <a:p>
            <a:pPr indent="0" marL="0">
              <a:buNone/>
            </a:pPr>
            <a:r>
              <a:rPr lang="en-US" sz="1400" b="1" spc="300" kern="0" dirty="0">
                <a:solidFill>
                  <a:schemeClr val="accent2"/>
                </a:solidFill>
              </a:rPr>
              <a:t>THRESHOLDED GAUSSIAN KERNEL</a:t>
            </a:r>
            <a:endParaRPr lang="en-US" sz="1400" dirty="0"/>
          </a:p>
        </p:txBody>
      </p:sp>
      <p:sp>
        <p:nvSpPr>
          <p:cNvPr id="5" name="Shape 3"/>
          <p:cNvSpPr/>
          <p:nvPr/>
        </p:nvSpPr>
        <p:spPr>
          <a:xfrm>
            <a:off x="868680" y="2148840"/>
            <a:ext cx="4572000" cy="868680"/>
          </a:xfrm>
          <a:prstGeom prst="roundRect">
            <a:avLst>
              <a:gd name="adj" fmla="val 8421"/>
            </a:avLst>
          </a:prstGeom>
          <a:solidFill>
            <a:srgbClr val="0A0F1E">
              <a:alpha val="80000"/>
            </a:srgbClr>
          </a:solidFill>
          <a:ln w="9525">
            <a:solidFill>
              <a:schemeClr val="accent5"/>
            </a:solidFill>
            <a:prstDash val="solid"/>
          </a:ln>
        </p:spPr>
      </p:sp>
      <p:sp>
        <p:nvSpPr>
          <p:cNvPr id="6" name="Text 4"/>
          <p:cNvSpPr txBox="1"/>
          <p:nvPr/>
        </p:nvSpPr>
        <p:spPr>
          <a:xfrm>
            <a:off x="868680" y="2148840"/>
            <a:ext cx="4572000" cy="868680"/>
          </a:xfrm>
          <a:prstGeom prst="rect">
            <a:avLst/>
          </a:prstGeom>
          <a:noFill/>
          <a:ln/>
        </p:spPr>
        <p:txBody>
          <a:bodyPr wrap="square" lIns="0" tIns="0" rIns="0" bIns="0" rtlCol="0" anchor="ctr"/>
          <a:lstStyle/>
          <a:p>
            <a:pPr algn="ctr" indent="0" marL="0">
              <a:buNone/>
            </a:pPr>
            <a:r>
              <a:rPr lang="en-US" sz="2000" dirty="0">
                <a:solidFill>
                  <a:schemeClr val="bg1"/>
                </a:solidFill>
                <a:latin typeface="Cambria" pitchFamily="34" charset="0"/>
                <a:ea typeface="Cambria" pitchFamily="34" charset="-122"/>
                <a:cs typeface="Cambria" pitchFamily="34" charset="-120"/>
              </a:rPr>
              <a:t>Wᵢⱼ = exp(−(dᵢⱼ / σ)²)   if ≥ κ, else 0</a:t>
            </a:r>
            <a:endParaRPr lang="en-US" sz="2000" dirty="0"/>
          </a:p>
        </p:txBody>
      </p:sp>
      <p:sp>
        <p:nvSpPr>
          <p:cNvPr id="7" name="Text 5"/>
          <p:cNvSpPr txBox="1"/>
          <p:nvPr/>
        </p:nvSpPr>
        <p:spPr>
          <a:xfrm>
            <a:off x="868680" y="3246120"/>
            <a:ext cx="4663440" cy="274320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bg1"/>
                </a:solidFill>
              </a:rPr>
              <a:t>dᵢⱼ = directed road distance (metres)</a:t>
            </a:r>
            <a:endParaRPr lang="en-US" sz="1600" dirty="0"/>
          </a:p>
          <a:p>
            <a:pPr marL="228600" indent="-228600">
              <a:spcAft>
                <a:spcPts val="800"/>
              </a:spcAft>
              <a:buSzPct val="100000"/>
              <a:buChar char="•"/>
            </a:pPr>
            <a:r>
              <a:rPr lang="en-US" sz="1600" dirty="0">
                <a:solidFill>
                  <a:schemeClr val="bg1"/>
                </a:solidFill>
              </a:rPr>
              <a:t>σ = 2,584 m (spread of all distances), κ = 0.1</a:t>
            </a:r>
            <a:endParaRPr lang="en-US" sz="1600" dirty="0"/>
          </a:p>
          <a:p>
            <a:pPr marL="228600" indent="-228600">
              <a:spcAft>
                <a:spcPts val="800"/>
              </a:spcAft>
              <a:buSzPct val="100000"/>
              <a:buChar char="•"/>
            </a:pPr>
            <a:r>
              <a:rPr lang="en-US" sz="1600" dirty="0">
                <a:solidFill>
                  <a:schemeClr val="bg1"/>
                </a:solidFill>
              </a:rPr>
              <a:t>Rebuilt matrix equals the published one to 1.0 × 10⁻⁷</a:t>
            </a:r>
            <a:endParaRPr lang="en-US" sz="1600" dirty="0"/>
          </a:p>
          <a:p>
            <a:pPr marL="228600" indent="-228600">
              <a:spcAft>
                <a:spcPts val="800"/>
              </a:spcAft>
              <a:buSzPct val="100000"/>
              <a:buChar char="•"/>
            </a:pPr>
            <a:r>
              <a:rPr lang="en-US" sz="1600" dirty="0">
                <a:solidFill>
                  <a:schemeClr val="bg1"/>
                </a:solidFill>
              </a:rPr>
              <a:t>Default model graph: both directions, W + Wᵀ</a:t>
            </a:r>
            <a:endParaRPr lang="en-US" sz="1600" dirty="0"/>
          </a:p>
        </p:txBody>
      </p:sp>
      <p:sp>
        <p:nvSpPr>
          <p:cNvPr id="8" name="figure frame"/>
          <p:cNvSpPr/>
          <p:nvPr/>
        </p:nvSpPr>
        <p:spPr>
          <a:xfrm>
            <a:off x="6035040" y="1417320"/>
            <a:ext cx="5577840" cy="3154680"/>
          </a:xfrm>
          <a:prstGeom prst="roundRect">
            <a:avLst>
              <a:gd name="adj" fmla="val 2899"/>
            </a:avLst>
          </a:prstGeom>
          <a:solidFill>
            <a:schemeClr val="bg1"/>
          </a:solidFill>
          <a:ln w="12700">
            <a:solidFill>
              <a:schemeClr val="bg1">
                <a:alpha val="0"/>
              </a:schemeClr>
            </a:solidFill>
            <a:prstDash val="solid"/>
          </a:ln>
          <a:effectLst>
            <a:outerShdw sx="100000" sy="100000" kx="0" ky="0" algn="bl" rotWithShape="0" blurRad="177800" dist="38100" dir="5400000">
              <a:srgbClr val="000000">
                <a:alpha val="45000"/>
              </a:srgbClr>
            </a:outerShdw>
          </a:effectLst>
        </p:spPr>
      </p:sp>
      <p:pic>
        <p:nvPicPr>
          <p:cNvPr id="9" name="Image 0" descr="eda 06 corr vs hops">    </p:cNvPr>
          <p:cNvPicPr>
            <a:picLocks noChangeAspect="1"/>
          </p:cNvPicPr>
          <p:nvPr/>
        </p:nvPicPr>
        <p:blipFill>
          <a:blip r:embed="rId1"/>
          <a:stretch>
            <a:fillRect/>
          </a:stretch>
        </p:blipFill>
        <p:spPr>
          <a:xfrm>
            <a:off x="6214872" y="1527048"/>
            <a:ext cx="5218176" cy="2935224"/>
          </a:xfrm>
          <a:prstGeom prst="rect">
            <a:avLst/>
          </a:prstGeom>
        </p:spPr>
      </p:pic>
      <p:sp>
        <p:nvSpPr>
          <p:cNvPr id="10" name="card"/>
          <p:cNvSpPr/>
          <p:nvPr/>
        </p:nvSpPr>
        <p:spPr>
          <a:xfrm>
            <a:off x="6035040" y="4754880"/>
            <a:ext cx="5577840" cy="1417320"/>
          </a:xfrm>
          <a:prstGeom prst="roundRect">
            <a:avLst>
              <a:gd name="adj" fmla="val 7742"/>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11" name="Text 8"/>
          <p:cNvSpPr txBox="1"/>
          <p:nvPr/>
        </p:nvSpPr>
        <p:spPr>
          <a:xfrm>
            <a:off x="6309360" y="4937760"/>
            <a:ext cx="5029200" cy="1097280"/>
          </a:xfrm>
          <a:prstGeom prst="rect">
            <a:avLst/>
          </a:prstGeom>
          <a:noFill/>
          <a:ln/>
        </p:spPr>
        <p:txBody>
          <a:bodyPr wrap="square" lIns="0" tIns="0" rIns="0" bIns="0" rtlCol="0" anchor="ctr"/>
          <a:lstStyle/>
          <a:p>
            <a:pPr indent="0" marL="0">
              <a:buNone/>
            </a:pPr>
            <a:r>
              <a:rPr lang="en-US" sz="1600" dirty="0">
                <a:solidFill>
                  <a:schemeClr val="bg2"/>
                </a:solidFill>
              </a:rPr>
              <a:t>Neighbours really are related: </a:t>
            </a:r>
            <a:pPr indent="0" marL="0">
              <a:buNone/>
            </a:pPr>
            <a:r>
              <a:rPr lang="en-US" sz="1600" b="1" dirty="0">
                <a:solidFill>
                  <a:schemeClr val="bg1"/>
                </a:solidFill>
              </a:rPr>
              <a:t>median correlation 0.45 at 1 hop → 0.25 at 2 hops → 0.14 at 8 hops</a:t>
            </a:r>
            <a:endParaRPr lang="en-US" sz="16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Does congestion really travel upstream?</a:t>
            </a:r>
            <a:endParaRPr lang="en-US" sz="3600" dirty="0"/>
          </a:p>
        </p:txBody>
      </p:sp>
      <p:sp>
        <p:nvSpPr>
          <p:cNvPr id="3" name="figure frame"/>
          <p:cNvSpPr/>
          <p:nvPr/>
        </p:nvSpPr>
        <p:spPr>
          <a:xfrm>
            <a:off x="548640" y="1417320"/>
            <a:ext cx="6309360" cy="3611880"/>
          </a:xfrm>
          <a:prstGeom prst="roundRect">
            <a:avLst>
              <a:gd name="adj" fmla="val 2532"/>
            </a:avLst>
          </a:prstGeom>
          <a:solidFill>
            <a:schemeClr val="bg1"/>
          </a:solidFill>
          <a:ln w="12700">
            <a:solidFill>
              <a:schemeClr val="bg1">
                <a:alpha val="0"/>
              </a:schemeClr>
            </a:solidFill>
            <a:prstDash val="solid"/>
          </a:ln>
          <a:effectLst>
            <a:outerShdw sx="100000" sy="100000" kx="0" ky="0" algn="bl" rotWithShape="0" blurRad="177800" dist="38100" dir="5400000">
              <a:srgbClr val="000000">
                <a:alpha val="45000"/>
              </a:srgbClr>
            </a:outerShdw>
          </a:effectLst>
        </p:spPr>
      </p:sp>
      <p:pic>
        <p:nvPicPr>
          <p:cNvPr id="4" name="Image 0" descr="eda 07b peak lag hist">    </p:cNvPr>
          <p:cNvPicPr>
            <a:picLocks noChangeAspect="1"/>
          </p:cNvPicPr>
          <p:nvPr/>
        </p:nvPicPr>
        <p:blipFill>
          <a:blip r:embed="rId1"/>
          <a:stretch>
            <a:fillRect/>
          </a:stretch>
        </p:blipFill>
        <p:spPr>
          <a:xfrm>
            <a:off x="734949" y="1527048"/>
            <a:ext cx="5936742" cy="3392424"/>
          </a:xfrm>
          <a:prstGeom prst="rect">
            <a:avLst/>
          </a:prstGeom>
        </p:spPr>
      </p:pic>
      <p:sp>
        <p:nvSpPr>
          <p:cNvPr id="5" name="card"/>
          <p:cNvSpPr/>
          <p:nvPr/>
        </p:nvSpPr>
        <p:spPr>
          <a:xfrm>
            <a:off x="7132320" y="1417320"/>
            <a:ext cx="2148840" cy="1737360"/>
          </a:xfrm>
          <a:prstGeom prst="roundRect">
            <a:avLst>
              <a:gd name="adj" fmla="val 6316"/>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6" name="Text 3"/>
          <p:cNvSpPr txBox="1"/>
          <p:nvPr/>
        </p:nvSpPr>
        <p:spPr>
          <a:xfrm>
            <a:off x="7406640" y="1645920"/>
            <a:ext cx="1600200" cy="868680"/>
          </a:xfrm>
          <a:prstGeom prst="rect">
            <a:avLst/>
          </a:prstGeom>
          <a:noFill/>
          <a:ln/>
        </p:spPr>
        <p:txBody>
          <a:bodyPr wrap="square" lIns="0" tIns="0" rIns="0" bIns="0" rtlCol="0" anchor="ctr"/>
          <a:lstStyle/>
          <a:p>
            <a:pPr indent="0" marL="0">
              <a:buNone/>
            </a:pPr>
            <a:r>
              <a:rPr lang="en-US" sz="3600" b="1" dirty="0">
                <a:solidFill>
                  <a:schemeClr val="accent3"/>
                </a:solidFill>
                <a:latin typeface="Arial" pitchFamily="34" charset="0"/>
                <a:ea typeface="Arial" pitchFamily="34" charset="-122"/>
                <a:cs typeface="Arial" pitchFamily="34" charset="-120"/>
              </a:rPr>
              <a:t>50%</a:t>
            </a:r>
            <a:endParaRPr lang="en-US" sz="3600" dirty="0"/>
          </a:p>
        </p:txBody>
      </p:sp>
      <p:sp>
        <p:nvSpPr>
          <p:cNvPr id="7" name="Text 4"/>
          <p:cNvSpPr txBox="1"/>
          <p:nvPr/>
        </p:nvSpPr>
        <p:spPr>
          <a:xfrm>
            <a:off x="7406640" y="2514600"/>
            <a:ext cx="1600200" cy="548640"/>
          </a:xfrm>
          <a:prstGeom prst="rect">
            <a:avLst/>
          </a:prstGeom>
          <a:noFill/>
          <a:ln/>
        </p:spPr>
        <p:txBody>
          <a:bodyPr wrap="square" lIns="0" tIns="0" rIns="0" bIns="0" rtlCol="0" anchor="t"/>
          <a:lstStyle/>
          <a:p>
            <a:pPr indent="0" marL="0">
              <a:buNone/>
            </a:pPr>
            <a:r>
              <a:rPr lang="en-US" sz="1400" dirty="0">
                <a:solidFill>
                  <a:schemeClr val="bg2"/>
                </a:solidFill>
              </a:rPr>
              <a:t>of pairs: upstream reacts later</a:t>
            </a:r>
            <a:endParaRPr lang="en-US" sz="1400" dirty="0"/>
          </a:p>
        </p:txBody>
      </p:sp>
      <p:sp>
        <p:nvSpPr>
          <p:cNvPr id="8" name="card"/>
          <p:cNvSpPr/>
          <p:nvPr/>
        </p:nvSpPr>
        <p:spPr>
          <a:xfrm>
            <a:off x="9464040" y="1417320"/>
            <a:ext cx="2148840" cy="1737360"/>
          </a:xfrm>
          <a:prstGeom prst="roundRect">
            <a:avLst>
              <a:gd name="adj" fmla="val 6316"/>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9" name="Text 6"/>
          <p:cNvSpPr txBox="1"/>
          <p:nvPr/>
        </p:nvSpPr>
        <p:spPr>
          <a:xfrm>
            <a:off x="9738360" y="1645920"/>
            <a:ext cx="1600200" cy="868680"/>
          </a:xfrm>
          <a:prstGeom prst="rect">
            <a:avLst/>
          </a:prstGeom>
          <a:noFill/>
          <a:ln/>
        </p:spPr>
        <p:txBody>
          <a:bodyPr wrap="square" lIns="0" tIns="0" rIns="0" bIns="0" rtlCol="0" anchor="ctr"/>
          <a:lstStyle/>
          <a:p>
            <a:pPr indent="0" marL="0">
              <a:buNone/>
            </a:pPr>
            <a:r>
              <a:rPr lang="en-US" sz="3600" b="1" dirty="0">
                <a:solidFill>
                  <a:schemeClr val="accent1"/>
                </a:solidFill>
                <a:latin typeface="Arial" pitchFamily="34" charset="0"/>
                <a:ea typeface="Arial" pitchFamily="34" charset="-122"/>
                <a:cs typeface="Arial" pitchFamily="34" charset="-120"/>
              </a:rPr>
              <a:t>38%</a:t>
            </a:r>
            <a:endParaRPr lang="en-US" sz="3600" dirty="0"/>
          </a:p>
        </p:txBody>
      </p:sp>
      <p:sp>
        <p:nvSpPr>
          <p:cNvPr id="10" name="Text 7"/>
          <p:cNvSpPr txBox="1"/>
          <p:nvPr/>
        </p:nvSpPr>
        <p:spPr>
          <a:xfrm>
            <a:off x="9738360" y="2514600"/>
            <a:ext cx="1600200" cy="548640"/>
          </a:xfrm>
          <a:prstGeom prst="rect">
            <a:avLst/>
          </a:prstGeom>
          <a:noFill/>
          <a:ln/>
        </p:spPr>
        <p:txBody>
          <a:bodyPr wrap="square" lIns="0" tIns="0" rIns="0" bIns="0" rtlCol="0" anchor="t"/>
          <a:lstStyle/>
          <a:p>
            <a:pPr indent="0" marL="0">
              <a:buNone/>
            </a:pPr>
            <a:r>
              <a:rPr lang="en-US" sz="1400" dirty="0">
                <a:solidFill>
                  <a:schemeClr val="bg2"/>
                </a:solidFill>
              </a:rPr>
              <a:t>of pairs: the opposite</a:t>
            </a:r>
            <a:endParaRPr lang="en-US" sz="1400" dirty="0"/>
          </a:p>
        </p:txBody>
      </p:sp>
      <p:sp>
        <p:nvSpPr>
          <p:cNvPr id="11" name="card"/>
          <p:cNvSpPr/>
          <p:nvPr/>
        </p:nvSpPr>
        <p:spPr>
          <a:xfrm>
            <a:off x="7132320" y="3337560"/>
            <a:ext cx="4480560" cy="1691640"/>
          </a:xfrm>
          <a:prstGeom prst="roundRect">
            <a:avLst>
              <a:gd name="adj" fmla="val 6486"/>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12" name="Text 9"/>
          <p:cNvSpPr txBox="1"/>
          <p:nvPr/>
        </p:nvSpPr>
        <p:spPr>
          <a:xfrm>
            <a:off x="7406640" y="3520440"/>
            <a:ext cx="3931920" cy="1371600"/>
          </a:xfrm>
          <a:prstGeom prst="rect">
            <a:avLst/>
          </a:prstGeom>
          <a:noFill/>
          <a:ln/>
        </p:spPr>
        <p:txBody>
          <a:bodyPr wrap="square" lIns="0" tIns="0" rIns="0" bIns="0" rtlCol="0" anchor="t"/>
          <a:lstStyle/>
          <a:p>
            <a:pPr indent="0" marL="0">
              <a:buNone/>
            </a:pPr>
            <a:r>
              <a:rPr lang="en-US" sz="1500" dirty="0">
                <a:solidFill>
                  <a:schemeClr val="bg2"/>
                </a:solidFill>
              </a:rPr>
              <a:t>Peak hours, all 1,228 adjacent sensor pairs, lag measured in 5-minute steps.</a:t>
            </a:r>
            <a:endParaRPr lang="en-US" sz="1500" dirty="0"/>
          </a:p>
        </p:txBody>
      </p:sp>
      <p:sp>
        <p:nvSpPr>
          <p:cNvPr id="13" name="card"/>
          <p:cNvSpPr/>
          <p:nvPr/>
        </p:nvSpPr>
        <p:spPr>
          <a:xfrm>
            <a:off x="548640" y="5257800"/>
            <a:ext cx="11064240" cy="914400"/>
          </a:xfrm>
          <a:prstGeom prst="roundRect">
            <a:avLst>
              <a:gd name="adj" fmla="val 12000"/>
            </a:avLst>
          </a:prstGeom>
          <a:solidFill>
            <a:srgbClr val="3A1E28"/>
          </a:solidFill>
          <a:ln w="12700">
            <a:solidFill>
              <a:srgbClr val="3A1E28">
                <a:alpha val="0"/>
              </a:srgbClr>
            </a:solidFill>
            <a:prstDash val="solid"/>
          </a:ln>
          <a:effectLst>
            <a:outerShdw sx="100000" sy="100000" kx="0" ky="0" algn="bl" rotWithShape="0" blurRad="177800" dist="38100" dir="5400000">
              <a:srgbClr val="000000">
                <a:alpha val="45000"/>
              </a:srgbClr>
            </a:outerShdw>
          </a:effectLst>
        </p:spPr>
      </p:sp>
      <p:sp>
        <p:nvSpPr>
          <p:cNvPr id="14" name="Text 11"/>
          <p:cNvSpPr txBox="1"/>
          <p:nvPr/>
        </p:nvSpPr>
        <p:spPr>
          <a:xfrm>
            <a:off x="868680" y="5257800"/>
            <a:ext cx="10515600" cy="914400"/>
          </a:xfrm>
          <a:prstGeom prst="rect">
            <a:avLst/>
          </a:prstGeom>
          <a:noFill/>
          <a:ln/>
        </p:spPr>
        <p:txBody>
          <a:bodyPr wrap="square" lIns="0" tIns="0" rIns="0" bIns="0" rtlCol="0" anchor="ctr"/>
          <a:lstStyle/>
          <a:p>
            <a:pPr indent="0" marL="0">
              <a:buNone/>
            </a:pPr>
            <a:r>
              <a:rPr lang="en-US" sz="1600" b="1" dirty="0">
                <a:solidFill>
                  <a:schemeClr val="accent2"/>
                </a:solidFill>
              </a:rPr>
              <a:t>Honest reading: </a:t>
            </a:r>
            <a:pPr indent="0" marL="0">
              <a:buNone/>
            </a:pPr>
            <a:r>
              <a:rPr lang="en-US" sz="1600" dirty="0">
                <a:solidFill>
                  <a:schemeClr val="bg1"/>
                </a:solidFill>
              </a:rPr>
              <a:t>spatial dependence is clear, directional propagation is only modestly supported. So the graph's benefit must be tested, not assumed.</a:t>
            </a:r>
            <a:endParaRPr lang="en-US" sz="16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731520" y="1737360"/>
            <a:ext cx="7315200" cy="457200"/>
          </a:xfrm>
          <a:prstGeom prst="rect">
            <a:avLst/>
          </a:prstGeom>
          <a:noFill/>
          <a:ln/>
        </p:spPr>
        <p:txBody>
          <a:bodyPr wrap="square" lIns="0" tIns="0" rIns="0" bIns="0" rtlCol="0"/>
          <a:lstStyle/>
          <a:p>
            <a:pPr algn="l" indent="0" marL="0">
              <a:buNone/>
            </a:pPr>
            <a:r>
              <a:rPr lang="en-US" sz="1600" b="1" spc="400" kern="0" dirty="0">
                <a:solidFill>
                  <a:schemeClr val="accent2"/>
                </a:solidFill>
              </a:rPr>
              <a:t>CHAPTER 02</a:t>
            </a:r>
            <a:endParaRPr lang="en-US" sz="1600" dirty="0"/>
          </a:p>
        </p:txBody>
      </p:sp>
      <p:sp>
        <p:nvSpPr>
          <p:cNvPr id="3" name="Text 0"/>
          <p:cNvSpPr/>
          <p:nvPr>
            <p:ph idx="101" type="title" hasCustomPrompt="1"/>
          </p:nvPr>
        </p:nvSpPr>
        <p:spPr>
          <a:xfrm>
            <a:off x="731520" y="2194560"/>
            <a:ext cx="10698480" cy="1280160"/>
          </a:xfrm>
          <a:prstGeom prst="rect">
            <a:avLst/>
          </a:prstGeom>
          <a:noFill/>
          <a:ln/>
        </p:spPr>
        <p:txBody>
          <a:bodyPr wrap="square" lIns="0" tIns="0" rIns="0" bIns="0" rtlCol="0" anchor="t"/>
          <a:lstStyle/>
          <a:p>
            <a:pPr algn="l" indent="0" marL="0">
              <a:buNone/>
            </a:pPr>
            <a:r>
              <a:rPr lang="en-US" sz="5000" b="1" dirty="0">
                <a:solidFill>
                  <a:schemeClr val="bg1"/>
                </a:solidFill>
              </a:rPr>
              <a:t>A fair fight</a:t>
            </a:r>
            <a:endParaRPr lang="en-US" sz="5000" dirty="0"/>
          </a:p>
        </p:txBody>
      </p:sp>
      <p:sp>
        <p:nvSpPr>
          <p:cNvPr id="4" name="Text 0"/>
          <p:cNvSpPr/>
          <p:nvPr>
            <p:ph idx="102" type="body" hasCustomPrompt="1"/>
          </p:nvPr>
        </p:nvSpPr>
        <p:spPr>
          <a:xfrm>
            <a:off x="731520" y="3520440"/>
            <a:ext cx="9601200" cy="1097280"/>
          </a:xfrm>
          <a:prstGeom prst="rect">
            <a:avLst/>
          </a:prstGeom>
          <a:noFill/>
          <a:ln/>
        </p:spPr>
        <p:txBody>
          <a:bodyPr wrap="square" lIns="0" tIns="0" rIns="0" bIns="0" rtlCol="0" anchor="t"/>
          <a:lstStyle/>
          <a:p>
            <a:pPr algn="l" indent="0" marL="0">
              <a:buNone/>
            </a:pPr>
            <a:r>
              <a:rPr lang="en-US" sz="2200" dirty="0">
                <a:solidFill>
                  <a:schemeClr val="bg2"/>
                </a:solidFill>
              </a:rPr>
              <a:t>No peeking into the future, the same test for every model, and statistics that respect time.</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No peeking into the future</a:t>
            </a:r>
            <a:endParaRPr lang="en-US" sz="3600" dirty="0"/>
          </a:p>
        </p:txBody>
      </p:sp>
      <p:sp>
        <p:nvSpPr>
          <p:cNvPr id="3" name="Shape 1"/>
          <p:cNvSpPr/>
          <p:nvPr/>
        </p:nvSpPr>
        <p:spPr>
          <a:xfrm>
            <a:off x="548640" y="1508760"/>
            <a:ext cx="7689975" cy="777240"/>
          </a:xfrm>
          <a:prstGeom prst="roundRect">
            <a:avLst>
              <a:gd name="adj" fmla="val 9412"/>
            </a:avLst>
          </a:prstGeom>
          <a:solidFill>
            <a:schemeClr val="accent3"/>
          </a:solidFill>
          <a:ln w="12700">
            <a:solidFill>
              <a:schemeClr val="accent3">
                <a:alpha val="0"/>
              </a:schemeClr>
            </a:solidFill>
            <a:prstDash val="solid"/>
          </a:ln>
        </p:spPr>
      </p:sp>
      <p:sp>
        <p:nvSpPr>
          <p:cNvPr id="4" name="Text 2"/>
          <p:cNvSpPr txBox="1"/>
          <p:nvPr/>
        </p:nvSpPr>
        <p:spPr>
          <a:xfrm>
            <a:off x="685800" y="1508760"/>
            <a:ext cx="7415655" cy="777240"/>
          </a:xfrm>
          <a:prstGeom prst="rect">
            <a:avLst/>
          </a:prstGeom>
          <a:noFill/>
          <a:ln/>
        </p:spPr>
        <p:txBody>
          <a:bodyPr wrap="square" lIns="0" tIns="0" rIns="0" bIns="0" rtlCol="0" anchor="ctr"/>
          <a:lstStyle/>
          <a:p>
            <a:pPr indent="0" marL="0">
              <a:buNone/>
            </a:pPr>
            <a:r>
              <a:rPr lang="en-US" sz="1600" b="1" dirty="0">
                <a:solidFill>
                  <a:srgbClr val="0A0F1E"/>
                </a:solidFill>
              </a:rPr>
              <a:t>TRAIN</a:t>
            </a:r>
            <a:endParaRPr lang="en-US" sz="1600" dirty="0"/>
          </a:p>
        </p:txBody>
      </p:sp>
      <p:sp>
        <p:nvSpPr>
          <p:cNvPr id="5" name="Text 3"/>
          <p:cNvSpPr txBox="1"/>
          <p:nvPr/>
        </p:nvSpPr>
        <p:spPr>
          <a:xfrm>
            <a:off x="548640" y="2377440"/>
            <a:ext cx="7689975" cy="868680"/>
          </a:xfrm>
          <a:prstGeom prst="rect">
            <a:avLst/>
          </a:prstGeom>
          <a:noFill/>
          <a:ln/>
        </p:spPr>
        <p:txBody>
          <a:bodyPr wrap="square" lIns="0" tIns="0" rIns="0" bIns="0" rtlCol="0" anchor="t"/>
          <a:lstStyle/>
          <a:p>
            <a:pPr indent="0" marL="0">
              <a:buNone/>
            </a:pPr>
            <a:r>
              <a:rPr lang="en-US" sz="1300" b="1" dirty="0">
                <a:solidFill>
                  <a:schemeClr val="bg1"/>
                </a:solidFill>
              </a:rPr>
              <a:t>Mar 1 –</a:t>
            </a:r>
            <a:endParaRPr lang="en-US" sz="1300" dirty="0"/>
          </a:p>
          <a:p>
            <a:pPr indent="0" marL="0">
              <a:buNone/>
            </a:pPr>
            <a:r>
              <a:rPr lang="en-US" sz="1300" b="1" dirty="0">
                <a:solidFill>
                  <a:schemeClr val="bg1"/>
                </a:solidFill>
              </a:rPr>
              <a:t>May 23</a:t>
            </a:r>
            <a:endParaRPr lang="en-US" sz="1300" dirty="0"/>
          </a:p>
          <a:p>
            <a:pPr indent="0" marL="0">
              <a:buNone/>
            </a:pPr>
            <a:r>
              <a:rPr lang="en-US" sz="1300" dirty="0">
                <a:solidFill>
                  <a:schemeClr val="bg2"/>
                </a:solidFill>
              </a:rPr>
              <a:t>23,967 windows</a:t>
            </a:r>
            <a:endParaRPr lang="en-US" sz="1300" dirty="0"/>
          </a:p>
        </p:txBody>
      </p:sp>
      <p:sp>
        <p:nvSpPr>
          <p:cNvPr id="6" name="Shape 4"/>
          <p:cNvSpPr/>
          <p:nvPr/>
        </p:nvSpPr>
        <p:spPr>
          <a:xfrm>
            <a:off x="8293479" y="1508760"/>
            <a:ext cx="1051495" cy="777240"/>
          </a:xfrm>
          <a:prstGeom prst="roundRect">
            <a:avLst>
              <a:gd name="adj" fmla="val 9412"/>
            </a:avLst>
          </a:prstGeom>
          <a:solidFill>
            <a:schemeClr val="accent2"/>
          </a:solidFill>
          <a:ln w="12700">
            <a:solidFill>
              <a:schemeClr val="accent2">
                <a:alpha val="0"/>
              </a:schemeClr>
            </a:solidFill>
            <a:prstDash val="solid"/>
          </a:ln>
        </p:spPr>
      </p:sp>
      <p:sp>
        <p:nvSpPr>
          <p:cNvPr id="7" name="Text 5"/>
          <p:cNvSpPr txBox="1"/>
          <p:nvPr/>
        </p:nvSpPr>
        <p:spPr>
          <a:xfrm>
            <a:off x="8430639" y="1508760"/>
            <a:ext cx="777175" cy="777240"/>
          </a:xfrm>
          <a:prstGeom prst="rect">
            <a:avLst/>
          </a:prstGeom>
          <a:noFill/>
          <a:ln/>
        </p:spPr>
        <p:txBody>
          <a:bodyPr wrap="square" lIns="0" tIns="0" rIns="0" bIns="0" rtlCol="0" anchor="ctr"/>
          <a:lstStyle/>
          <a:p>
            <a:pPr indent="0" marL="0">
              <a:buNone/>
            </a:pPr>
            <a:r>
              <a:rPr lang="en-US" sz="1600" b="1" dirty="0">
                <a:solidFill>
                  <a:srgbClr val="0A0F1E"/>
                </a:solidFill>
              </a:rPr>
              <a:t>VAL</a:t>
            </a:r>
            <a:endParaRPr lang="en-US" sz="1600" dirty="0"/>
          </a:p>
        </p:txBody>
      </p:sp>
      <p:sp>
        <p:nvSpPr>
          <p:cNvPr id="8" name="Text 6"/>
          <p:cNvSpPr txBox="1"/>
          <p:nvPr/>
        </p:nvSpPr>
        <p:spPr>
          <a:xfrm>
            <a:off x="8293479" y="2377440"/>
            <a:ext cx="1051495" cy="868680"/>
          </a:xfrm>
          <a:prstGeom prst="rect">
            <a:avLst/>
          </a:prstGeom>
          <a:noFill/>
          <a:ln/>
        </p:spPr>
        <p:txBody>
          <a:bodyPr wrap="square" lIns="0" tIns="0" rIns="0" bIns="0" rtlCol="0" anchor="t"/>
          <a:lstStyle/>
          <a:p>
            <a:pPr indent="0" marL="0">
              <a:buNone/>
            </a:pPr>
            <a:r>
              <a:rPr lang="en-US" sz="1300" b="1" dirty="0">
                <a:solidFill>
                  <a:schemeClr val="bg1"/>
                </a:solidFill>
              </a:rPr>
              <a:t>May 23 –</a:t>
            </a:r>
            <a:endParaRPr lang="en-US" sz="1300" dirty="0"/>
          </a:p>
          <a:p>
            <a:pPr indent="0" marL="0">
              <a:buNone/>
            </a:pPr>
            <a:r>
              <a:rPr lang="en-US" sz="1300" b="1" dirty="0">
                <a:solidFill>
                  <a:schemeClr val="bg1"/>
                </a:solidFill>
              </a:rPr>
              <a:t>Jun 4</a:t>
            </a:r>
            <a:endParaRPr lang="en-US" sz="1300" dirty="0"/>
          </a:p>
          <a:p>
            <a:pPr indent="0" marL="0">
              <a:buNone/>
            </a:pPr>
            <a:r>
              <a:rPr lang="en-US" sz="1300" dirty="0">
                <a:solidFill>
                  <a:schemeClr val="bg2"/>
                </a:solidFill>
              </a:rPr>
              <a:t>3,404</a:t>
            </a:r>
            <a:endParaRPr lang="en-US" sz="1300" dirty="0"/>
          </a:p>
        </p:txBody>
      </p:sp>
      <p:sp>
        <p:nvSpPr>
          <p:cNvPr id="9" name="Shape 7"/>
          <p:cNvSpPr/>
          <p:nvPr/>
        </p:nvSpPr>
        <p:spPr>
          <a:xfrm>
            <a:off x="9399838" y="1508760"/>
            <a:ext cx="2158178" cy="777240"/>
          </a:xfrm>
          <a:prstGeom prst="roundRect">
            <a:avLst>
              <a:gd name="adj" fmla="val 9412"/>
            </a:avLst>
          </a:prstGeom>
          <a:solidFill>
            <a:schemeClr val="accent1"/>
          </a:solidFill>
          <a:ln w="12700">
            <a:solidFill>
              <a:schemeClr val="accent1">
                <a:alpha val="0"/>
              </a:schemeClr>
            </a:solidFill>
            <a:prstDash val="solid"/>
          </a:ln>
        </p:spPr>
      </p:sp>
      <p:sp>
        <p:nvSpPr>
          <p:cNvPr id="10" name="Text 8"/>
          <p:cNvSpPr txBox="1"/>
          <p:nvPr/>
        </p:nvSpPr>
        <p:spPr>
          <a:xfrm>
            <a:off x="9536998" y="1508760"/>
            <a:ext cx="1883858" cy="777240"/>
          </a:xfrm>
          <a:prstGeom prst="rect">
            <a:avLst/>
          </a:prstGeom>
          <a:noFill/>
          <a:ln/>
        </p:spPr>
        <p:txBody>
          <a:bodyPr wrap="square" lIns="0" tIns="0" rIns="0" bIns="0" rtlCol="0" anchor="ctr"/>
          <a:lstStyle/>
          <a:p>
            <a:pPr indent="0" marL="0">
              <a:buNone/>
            </a:pPr>
            <a:r>
              <a:rPr lang="en-US" sz="1600" b="1" dirty="0">
                <a:solidFill>
                  <a:srgbClr val="0A0F1E"/>
                </a:solidFill>
              </a:rPr>
              <a:t>TEST</a:t>
            </a:r>
            <a:endParaRPr lang="en-US" sz="1600" dirty="0"/>
          </a:p>
        </p:txBody>
      </p:sp>
      <p:sp>
        <p:nvSpPr>
          <p:cNvPr id="11" name="Text 9"/>
          <p:cNvSpPr txBox="1"/>
          <p:nvPr/>
        </p:nvSpPr>
        <p:spPr>
          <a:xfrm>
            <a:off x="9399838" y="2377440"/>
            <a:ext cx="2158178" cy="868680"/>
          </a:xfrm>
          <a:prstGeom prst="rect">
            <a:avLst/>
          </a:prstGeom>
          <a:noFill/>
          <a:ln/>
        </p:spPr>
        <p:txBody>
          <a:bodyPr wrap="square" lIns="0" tIns="0" rIns="0" bIns="0" rtlCol="0" anchor="t"/>
          <a:lstStyle/>
          <a:p>
            <a:pPr indent="0" marL="0">
              <a:buNone/>
            </a:pPr>
            <a:r>
              <a:rPr lang="en-US" sz="1300" b="1" dirty="0">
                <a:solidFill>
                  <a:schemeClr val="bg1"/>
                </a:solidFill>
              </a:rPr>
              <a:t>Jun 4 –</a:t>
            </a:r>
            <a:endParaRPr lang="en-US" sz="1300" dirty="0"/>
          </a:p>
          <a:p>
            <a:pPr indent="0" marL="0">
              <a:buNone/>
            </a:pPr>
            <a:r>
              <a:rPr lang="en-US" sz="1300" b="1" dirty="0">
                <a:solidFill>
                  <a:schemeClr val="bg1"/>
                </a:solidFill>
              </a:rPr>
              <a:t>Jun 27</a:t>
            </a:r>
            <a:endParaRPr lang="en-US" sz="1300" dirty="0"/>
          </a:p>
          <a:p>
            <a:pPr indent="0" marL="0">
              <a:buNone/>
            </a:pPr>
            <a:r>
              <a:rPr lang="en-US" sz="1300" dirty="0">
                <a:solidFill>
                  <a:schemeClr val="bg2"/>
                </a:solidFill>
              </a:rPr>
              <a:t>6,832</a:t>
            </a:r>
            <a:endParaRPr lang="en-US" sz="1300" dirty="0"/>
          </a:p>
        </p:txBody>
      </p:sp>
      <p:sp>
        <p:nvSpPr>
          <p:cNvPr id="12" name="card"/>
          <p:cNvSpPr/>
          <p:nvPr/>
        </p:nvSpPr>
        <p:spPr>
          <a:xfrm>
            <a:off x="548640" y="3337560"/>
            <a:ext cx="3520440" cy="2834640"/>
          </a:xfrm>
          <a:prstGeom prst="roundRect">
            <a:avLst>
              <a:gd name="adj" fmla="val 3871"/>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13" name="Text 11"/>
          <p:cNvSpPr txBox="1"/>
          <p:nvPr/>
        </p:nvSpPr>
        <p:spPr>
          <a:xfrm>
            <a:off x="822960" y="3611880"/>
            <a:ext cx="2971800" cy="365760"/>
          </a:xfrm>
          <a:prstGeom prst="rect">
            <a:avLst/>
          </a:prstGeom>
          <a:noFill/>
          <a:ln/>
        </p:spPr>
        <p:txBody>
          <a:bodyPr wrap="square" lIns="0" tIns="0" rIns="0" bIns="0" rtlCol="0" anchor="t"/>
          <a:lstStyle/>
          <a:p>
            <a:pPr indent="0" marL="0">
              <a:buNone/>
            </a:pPr>
            <a:r>
              <a:rPr lang="en-US" sz="1400" b="1" spc="200" kern="0" dirty="0">
                <a:solidFill>
                  <a:schemeClr val="accent2"/>
                </a:solidFill>
              </a:rPr>
              <a:t>CHRONOLOGICAL</a:t>
            </a:r>
            <a:endParaRPr lang="en-US" sz="1400" dirty="0"/>
          </a:p>
        </p:txBody>
      </p:sp>
      <p:sp>
        <p:nvSpPr>
          <p:cNvPr id="14" name="Text 12"/>
          <p:cNvSpPr txBox="1"/>
          <p:nvPr/>
        </p:nvSpPr>
        <p:spPr>
          <a:xfrm>
            <a:off x="822960" y="4069080"/>
            <a:ext cx="2971800" cy="1920240"/>
          </a:xfrm>
          <a:prstGeom prst="rect">
            <a:avLst/>
          </a:prstGeom>
          <a:noFill/>
          <a:ln/>
        </p:spPr>
        <p:txBody>
          <a:bodyPr wrap="square" lIns="0" tIns="0" rIns="0" bIns="0" rtlCol="0" anchor="t"/>
          <a:lstStyle/>
          <a:p>
            <a:pPr indent="0" marL="0">
              <a:buNone/>
            </a:pPr>
            <a:r>
              <a:rPr lang="en-US" sz="1600" dirty="0">
                <a:solidFill>
                  <a:schemeClr val="bg1"/>
                </a:solidFill>
              </a:rPr>
              <a:t>Split by time 70/10/20. Windows are built inside each split, so no input or target crosses a boundary (unit-tested).</a:t>
            </a:r>
            <a:endParaRPr lang="en-US" sz="1600" dirty="0"/>
          </a:p>
        </p:txBody>
      </p:sp>
      <p:sp>
        <p:nvSpPr>
          <p:cNvPr id="15" name="card"/>
          <p:cNvSpPr/>
          <p:nvPr/>
        </p:nvSpPr>
        <p:spPr>
          <a:xfrm>
            <a:off x="4320540" y="3337560"/>
            <a:ext cx="3520440" cy="2834640"/>
          </a:xfrm>
          <a:prstGeom prst="roundRect">
            <a:avLst>
              <a:gd name="adj" fmla="val 3871"/>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16" name="Text 14"/>
          <p:cNvSpPr txBox="1"/>
          <p:nvPr/>
        </p:nvSpPr>
        <p:spPr>
          <a:xfrm>
            <a:off x="4594860" y="3611880"/>
            <a:ext cx="2971800" cy="365760"/>
          </a:xfrm>
          <a:prstGeom prst="rect">
            <a:avLst/>
          </a:prstGeom>
          <a:noFill/>
          <a:ln/>
        </p:spPr>
        <p:txBody>
          <a:bodyPr wrap="square" lIns="0" tIns="0" rIns="0" bIns="0" rtlCol="0" anchor="t"/>
          <a:lstStyle/>
          <a:p>
            <a:pPr indent="0" marL="0">
              <a:buNone/>
            </a:pPr>
            <a:r>
              <a:rPr lang="en-US" sz="1400" b="1" spc="200" kern="0" dirty="0">
                <a:solidFill>
                  <a:schemeClr val="accent2"/>
                </a:solidFill>
              </a:rPr>
              <a:t>TRAIN-ONLY STATISTICS</a:t>
            </a:r>
            <a:endParaRPr lang="en-US" sz="1400" dirty="0"/>
          </a:p>
        </p:txBody>
      </p:sp>
      <p:sp>
        <p:nvSpPr>
          <p:cNvPr id="17" name="Text 15"/>
          <p:cNvSpPr txBox="1"/>
          <p:nvPr/>
        </p:nvSpPr>
        <p:spPr>
          <a:xfrm>
            <a:off x="4594860" y="4069080"/>
            <a:ext cx="2971800" cy="1920240"/>
          </a:xfrm>
          <a:prstGeom prst="rect">
            <a:avLst/>
          </a:prstGeom>
          <a:noFill/>
          <a:ln/>
        </p:spPr>
        <p:txBody>
          <a:bodyPr wrap="square" lIns="0" tIns="0" rIns="0" bIns="0" rtlCol="0" anchor="t"/>
          <a:lstStyle/>
          <a:p>
            <a:pPr indent="0" marL="0">
              <a:buNone/>
            </a:pPr>
            <a:r>
              <a:rPr lang="en-US" sz="1600" dirty="0">
                <a:solidFill>
                  <a:schemeClr val="bg1"/>
                </a:solidFill>
              </a:rPr>
              <a:t>Scaler 58.58 ± 12.82 mph, imputation means and the history table all come from training time only.</a:t>
            </a:r>
            <a:endParaRPr lang="en-US" sz="1600" dirty="0"/>
          </a:p>
        </p:txBody>
      </p:sp>
      <p:sp>
        <p:nvSpPr>
          <p:cNvPr id="18" name="card"/>
          <p:cNvSpPr/>
          <p:nvPr/>
        </p:nvSpPr>
        <p:spPr>
          <a:xfrm>
            <a:off x="8092440" y="3337560"/>
            <a:ext cx="3520440" cy="2834640"/>
          </a:xfrm>
          <a:prstGeom prst="roundRect">
            <a:avLst>
              <a:gd name="adj" fmla="val 3871"/>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19" name="Text 17"/>
          <p:cNvSpPr txBox="1"/>
          <p:nvPr/>
        </p:nvSpPr>
        <p:spPr>
          <a:xfrm>
            <a:off x="8366760" y="3611880"/>
            <a:ext cx="2971800" cy="365760"/>
          </a:xfrm>
          <a:prstGeom prst="rect">
            <a:avLst/>
          </a:prstGeom>
          <a:noFill/>
          <a:ln/>
        </p:spPr>
        <p:txBody>
          <a:bodyPr wrap="square" lIns="0" tIns="0" rIns="0" bIns="0" rtlCol="0" anchor="t"/>
          <a:lstStyle/>
          <a:p>
            <a:pPr indent="0" marL="0">
              <a:buNone/>
            </a:pPr>
            <a:r>
              <a:rPr lang="en-US" sz="1400" b="1" spc="200" kern="0" dirty="0">
                <a:solidFill>
                  <a:schemeClr val="accent2"/>
                </a:solidFill>
              </a:rPr>
              <a:t>MASKED METRICS</a:t>
            </a:r>
            <a:endParaRPr lang="en-US" sz="1400" dirty="0"/>
          </a:p>
        </p:txBody>
      </p:sp>
      <p:sp>
        <p:nvSpPr>
          <p:cNvPr id="20" name="Text 18"/>
          <p:cNvSpPr txBox="1"/>
          <p:nvPr/>
        </p:nvSpPr>
        <p:spPr>
          <a:xfrm>
            <a:off x="8366760" y="4069080"/>
            <a:ext cx="2971800" cy="1920240"/>
          </a:xfrm>
          <a:prstGeom prst="rect">
            <a:avLst/>
          </a:prstGeom>
          <a:noFill/>
          <a:ln/>
        </p:spPr>
        <p:txBody>
          <a:bodyPr wrap="square" lIns="0" tIns="0" rIns="0" bIns="0" rtlCol="0" anchor="t"/>
          <a:lstStyle/>
          <a:p>
            <a:pPr indent="0" marL="0">
              <a:buNone/>
            </a:pPr>
            <a:r>
              <a:rPr lang="en-US" sz="1600" dirty="0">
                <a:solidFill>
                  <a:schemeClr val="bg1"/>
                </a:solidFill>
              </a:rPr>
              <a:t>MAE, RMSE, MAPE in mph on observed targets; sliced by horizon, peak / off-peak / weekend, congested / free-flow.</a:t>
            </a:r>
            <a:endParaRPr lang="en-US" sz="16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Statistics that respect time</a:t>
            </a:r>
            <a:endParaRPr lang="en-US" sz="3600" dirty="0"/>
          </a:p>
        </p:txBody>
      </p:sp>
      <p:sp>
        <p:nvSpPr>
          <p:cNvPr id="3" name="card"/>
          <p:cNvSpPr/>
          <p:nvPr/>
        </p:nvSpPr>
        <p:spPr>
          <a:xfrm>
            <a:off x="548640" y="1417320"/>
            <a:ext cx="5394960" cy="4754880"/>
          </a:xfrm>
          <a:prstGeom prst="roundRect">
            <a:avLst>
              <a:gd name="adj" fmla="val 2308"/>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4" name="Text 2"/>
          <p:cNvSpPr txBox="1"/>
          <p:nvPr/>
        </p:nvSpPr>
        <p:spPr>
          <a:xfrm>
            <a:off x="868680" y="1691640"/>
            <a:ext cx="4846320" cy="320040"/>
          </a:xfrm>
          <a:prstGeom prst="rect">
            <a:avLst/>
          </a:prstGeom>
          <a:noFill/>
          <a:ln/>
        </p:spPr>
        <p:txBody>
          <a:bodyPr wrap="square" lIns="0" tIns="0" rIns="0" bIns="0" rtlCol="0" anchor="t"/>
          <a:lstStyle/>
          <a:p>
            <a:pPr indent="0" marL="0">
              <a:buNone/>
            </a:pPr>
            <a:r>
              <a:rPr lang="en-US" sz="1400" b="1" spc="300" kern="0" dirty="0">
                <a:solidFill>
                  <a:schemeClr val="accent2"/>
                </a:solidFill>
              </a:rPr>
              <a:t>DIEBOLD–MARIANO TEST</a:t>
            </a:r>
            <a:endParaRPr lang="en-US" sz="1400" dirty="0"/>
          </a:p>
        </p:txBody>
      </p:sp>
      <p:sp>
        <p:nvSpPr>
          <p:cNvPr id="5" name="Text 3"/>
          <p:cNvSpPr txBox="1"/>
          <p:nvPr/>
        </p:nvSpPr>
        <p:spPr>
          <a:xfrm>
            <a:off x="868680" y="2148840"/>
            <a:ext cx="4846320" cy="219456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bg1"/>
                </a:solidFill>
              </a:rPr>
              <a:t>Compares two models' error series hour by hour</a:t>
            </a:r>
            <a:endParaRPr lang="en-US" sz="1600" dirty="0"/>
          </a:p>
          <a:p>
            <a:pPr marL="228600" indent="-228600">
              <a:spcAft>
                <a:spcPts val="800"/>
              </a:spcAft>
              <a:buSzPct val="100000"/>
              <a:buChar char="•"/>
            </a:pPr>
            <a:r>
              <a:rPr lang="en-US" sz="1600" dirty="0">
                <a:solidFill>
                  <a:schemeClr val="bg1"/>
                </a:solidFill>
              </a:rPr>
              <a:t>Errors are autocorrelated, so the variance uses a Newey–West (HAC) estimate</a:t>
            </a:r>
            <a:endParaRPr lang="en-US" sz="1600" dirty="0"/>
          </a:p>
          <a:p>
            <a:pPr marL="228600" indent="-228600">
              <a:spcAft>
                <a:spcPts val="800"/>
              </a:spcAft>
              <a:buSzPct val="100000"/>
              <a:buChar char="•"/>
            </a:pPr>
            <a:r>
              <a:rPr lang="en-US" sz="1600" dirty="0">
                <a:solidFill>
                  <a:schemeClr val="bg1"/>
                </a:solidFill>
              </a:rPr>
              <a:t>Small-sample correction; for 3-seed models we report the worst p-value</a:t>
            </a:r>
            <a:endParaRPr lang="en-US" sz="1600" dirty="0"/>
          </a:p>
        </p:txBody>
      </p:sp>
      <p:sp>
        <p:nvSpPr>
          <p:cNvPr id="6" name="Text 4"/>
          <p:cNvSpPr txBox="1"/>
          <p:nvPr/>
        </p:nvSpPr>
        <p:spPr>
          <a:xfrm>
            <a:off x="868680" y="4251960"/>
            <a:ext cx="4846320" cy="320040"/>
          </a:xfrm>
          <a:prstGeom prst="rect">
            <a:avLst/>
          </a:prstGeom>
          <a:noFill/>
          <a:ln/>
        </p:spPr>
        <p:txBody>
          <a:bodyPr wrap="square" lIns="0" tIns="0" rIns="0" bIns="0" rtlCol="0" anchor="t"/>
          <a:lstStyle/>
          <a:p>
            <a:pPr indent="0" marL="0">
              <a:buNone/>
            </a:pPr>
            <a:r>
              <a:rPr lang="en-US" sz="1400" b="1" spc="300" kern="0" dirty="0">
                <a:solidFill>
                  <a:schemeClr val="accent3"/>
                </a:solidFill>
              </a:rPr>
              <a:t>DAY-BLOCK BOOTSTRAP</a:t>
            </a:r>
            <a:endParaRPr lang="en-US" sz="1400" dirty="0"/>
          </a:p>
        </p:txBody>
      </p:sp>
      <p:sp>
        <p:nvSpPr>
          <p:cNvPr id="7" name="Text 5"/>
          <p:cNvSpPr txBox="1"/>
          <p:nvPr/>
        </p:nvSpPr>
        <p:spPr>
          <a:xfrm>
            <a:off x="868680" y="4663440"/>
            <a:ext cx="4846320" cy="1280160"/>
          </a:xfrm>
          <a:prstGeom prst="rect">
            <a:avLst/>
          </a:prstGeom>
          <a:noFill/>
          <a:ln/>
        </p:spPr>
        <p:txBody>
          <a:bodyPr wrap="square" lIns="0" tIns="0" rIns="0" bIns="0" rtlCol="0" anchor="t"/>
          <a:lstStyle/>
          <a:p>
            <a:pPr indent="0" marL="0">
              <a:buNone/>
            </a:pPr>
            <a:r>
              <a:rPr lang="en-US" sz="1600" dirty="0">
                <a:solidFill>
                  <a:schemeClr val="bg1"/>
                </a:solidFill>
              </a:rPr>
              <a:t>Resample whole days (1,000×) for 95% intervals; paired for model differences.</a:t>
            </a:r>
            <a:endParaRPr lang="en-US" sz="1600" dirty="0"/>
          </a:p>
        </p:txBody>
      </p:sp>
      <p:graphicFrame>
        <p:nvGraphicFramePr>
          <p:cNvPr id="8" name="Chart 0" descr=""/>
          <p:cNvGraphicFramePr/>
          <p:nvPr/>
        </p:nvGraphicFramePr>
        <p:xfrm>
          <a:off x="6217920" y="1417320"/>
          <a:ext cx="5394960" cy="3931920"/>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6309360" y="5486400"/>
            <a:ext cx="5303520" cy="685800"/>
          </a:xfrm>
          <a:prstGeom prst="rect">
            <a:avLst/>
          </a:prstGeom>
          <a:noFill/>
          <a:ln/>
        </p:spPr>
        <p:txBody>
          <a:bodyPr wrap="square" lIns="0" tIns="0" rIns="0" bIns="0" rtlCol="0" anchor="t"/>
          <a:lstStyle/>
          <a:p>
            <a:pPr indent="0" marL="0">
              <a:buNone/>
            </a:pPr>
            <a:r>
              <a:rPr lang="en-US" sz="1400" dirty="0">
                <a:solidFill>
                  <a:schemeClr val="bg2"/>
                </a:solidFill>
              </a:rPr>
              <a:t>Historical average 4.19 mph vs 4.16 in the DCRNN paper — an external check of our pipeline.</a:t>
            </a:r>
            <a:endParaRPr lang="en-US" sz="14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731520" y="1737360"/>
            <a:ext cx="7315200" cy="457200"/>
          </a:xfrm>
          <a:prstGeom prst="rect">
            <a:avLst/>
          </a:prstGeom>
          <a:noFill/>
          <a:ln/>
        </p:spPr>
        <p:txBody>
          <a:bodyPr wrap="square" lIns="0" tIns="0" rIns="0" bIns="0" rtlCol="0"/>
          <a:lstStyle/>
          <a:p>
            <a:pPr algn="l" indent="0" marL="0">
              <a:buNone/>
            </a:pPr>
            <a:r>
              <a:rPr lang="en-US" sz="1600" b="1" spc="400" kern="0" dirty="0">
                <a:solidFill>
                  <a:schemeClr val="accent2"/>
                </a:solidFill>
              </a:rPr>
              <a:t>CHAPTER 03</a:t>
            </a:r>
            <a:endParaRPr lang="en-US" sz="1600" dirty="0"/>
          </a:p>
        </p:txBody>
      </p:sp>
      <p:sp>
        <p:nvSpPr>
          <p:cNvPr id="3" name="Text 0"/>
          <p:cNvSpPr/>
          <p:nvPr>
            <p:ph idx="101" type="title" hasCustomPrompt="1"/>
          </p:nvPr>
        </p:nvSpPr>
        <p:spPr>
          <a:xfrm>
            <a:off x="731520" y="2194560"/>
            <a:ext cx="10698480" cy="1280160"/>
          </a:xfrm>
          <a:prstGeom prst="rect">
            <a:avLst/>
          </a:prstGeom>
          <a:noFill/>
          <a:ln/>
        </p:spPr>
        <p:txBody>
          <a:bodyPr wrap="square" lIns="0" tIns="0" rIns="0" bIns="0" rtlCol="0" anchor="t"/>
          <a:lstStyle/>
          <a:p>
            <a:pPr algn="l" indent="0" marL="0">
              <a:buNone/>
            </a:pPr>
            <a:r>
              <a:rPr lang="en-US" sz="5000" b="1" dirty="0">
                <a:solidFill>
                  <a:schemeClr val="bg1"/>
                </a:solidFill>
              </a:rPr>
              <a:t>Trees that read the clock</a:t>
            </a:r>
            <a:endParaRPr lang="en-US" sz="5000" dirty="0"/>
          </a:p>
        </p:txBody>
      </p:sp>
      <p:sp>
        <p:nvSpPr>
          <p:cNvPr id="4" name="Text 0"/>
          <p:cNvSpPr/>
          <p:nvPr>
            <p:ph idx="102" type="body" hasCustomPrompt="1"/>
          </p:nvPr>
        </p:nvSpPr>
        <p:spPr>
          <a:xfrm>
            <a:off x="731520" y="3520440"/>
            <a:ext cx="9601200" cy="1097280"/>
          </a:xfrm>
          <a:prstGeom prst="rect">
            <a:avLst/>
          </a:prstGeom>
          <a:noFill/>
          <a:ln/>
        </p:spPr>
        <p:txBody>
          <a:bodyPr wrap="square" lIns="0" tIns="0" rIns="0" bIns="0" rtlCol="0" anchor="t"/>
          <a:lstStyle/>
          <a:p>
            <a:pPr algn="l" indent="0" marL="0">
              <a:buNone/>
            </a:pPr>
            <a:r>
              <a:rPr lang="en-US" sz="2200" dirty="0">
                <a:solidFill>
                  <a:schemeClr val="bg2"/>
                </a:solidFill>
              </a:rPr>
              <a:t>Gradient-boosted trees with 45–59 hand-made features: how far does per-segment learning go?</a:t>
            </a:r>
            <a:endParaRPr lang="en-US" sz="2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Four tree models, one recipe</a:t>
            </a:r>
            <a:endParaRPr lang="en-US" sz="3600" dirty="0"/>
          </a:p>
        </p:txBody>
      </p:sp>
      <p:sp>
        <p:nvSpPr>
          <p:cNvPr id="3" name="card"/>
          <p:cNvSpPr/>
          <p:nvPr/>
        </p:nvSpPr>
        <p:spPr>
          <a:xfrm>
            <a:off x="548640" y="1417320"/>
            <a:ext cx="4572000" cy="4754880"/>
          </a:xfrm>
          <a:prstGeom prst="roundRect">
            <a:avLst>
              <a:gd name="adj" fmla="val 2400"/>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4" name="Text 2"/>
          <p:cNvSpPr txBox="1"/>
          <p:nvPr/>
        </p:nvSpPr>
        <p:spPr>
          <a:xfrm>
            <a:off x="868680" y="1691640"/>
            <a:ext cx="4023360" cy="320040"/>
          </a:xfrm>
          <a:prstGeom prst="rect">
            <a:avLst/>
          </a:prstGeom>
          <a:noFill/>
          <a:ln/>
        </p:spPr>
        <p:txBody>
          <a:bodyPr wrap="square" lIns="0" tIns="0" rIns="0" bIns="0" rtlCol="0" anchor="t"/>
          <a:lstStyle/>
          <a:p>
            <a:pPr indent="0" marL="0">
              <a:buNone/>
            </a:pPr>
            <a:r>
              <a:rPr lang="en-US" sz="1400" b="1" spc="300" kern="0" dirty="0">
                <a:solidFill>
                  <a:schemeClr val="accent2"/>
                </a:solidFill>
              </a:rPr>
              <a:t>FEATURE RECIPE</a:t>
            </a:r>
            <a:endParaRPr lang="en-US" sz="1400" dirty="0"/>
          </a:p>
        </p:txBody>
      </p:sp>
      <p:sp>
        <p:nvSpPr>
          <p:cNvPr id="5" name="Text 3"/>
          <p:cNvSpPr txBox="1"/>
          <p:nvPr/>
        </p:nvSpPr>
        <p:spPr>
          <a:xfrm>
            <a:off x="868680" y="2148840"/>
            <a:ext cx="4023360" cy="384048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bg1"/>
                </a:solidFill>
              </a:rPr>
              <a:t>12 lags + rolling mean / std / min / max</a:t>
            </a:r>
            <a:endParaRPr lang="en-US" sz="1500" dirty="0"/>
          </a:p>
          <a:p>
            <a:pPr marL="228600" indent="-228600">
              <a:spcAft>
                <a:spcPts val="800"/>
              </a:spcAft>
              <a:buSzPct val="100000"/>
              <a:buChar char="•"/>
            </a:pPr>
            <a:r>
              <a:rPr lang="en-US" sz="1500" dirty="0">
                <a:solidFill>
                  <a:schemeClr val="bg1"/>
                </a:solidFill>
              </a:rPr>
              <a:t>Missing flags, cyclic time-of-day and day-of-week</a:t>
            </a:r>
            <a:endParaRPr lang="en-US" sz="1500" dirty="0"/>
          </a:p>
          <a:p>
            <a:pPr marL="228600" indent="-228600">
              <a:spcAft>
                <a:spcPts val="800"/>
              </a:spcAft>
              <a:buSzPct val="100000"/>
              <a:buChar char="•"/>
            </a:pPr>
            <a:r>
              <a:rPr lang="en-US" sz="1500" dirty="0">
                <a:solidFill>
                  <a:schemeClr val="bg1"/>
                </a:solidFill>
              </a:rPr>
              <a:t>Pooled: + sensor id, location, degree (50)</a:t>
            </a:r>
            <a:endParaRPr lang="en-US" sz="1500" dirty="0"/>
          </a:p>
          <a:p>
            <a:pPr marL="228600" indent="-228600">
              <a:spcAft>
                <a:spcPts val="800"/>
              </a:spcAft>
              <a:buSzPct val="100000"/>
              <a:buChar char="•"/>
            </a:pPr>
            <a:r>
              <a:rPr lang="en-US" sz="1500" dirty="0">
                <a:solidFill>
                  <a:schemeClr val="bg1"/>
                </a:solidFill>
              </a:rPr>
              <a:t>Spatial: + upstream / downstream neighbour speeds (59)</a:t>
            </a:r>
            <a:endParaRPr lang="en-US" sz="1500" dirty="0"/>
          </a:p>
          <a:p>
            <a:pPr marL="228600" indent="-228600">
              <a:spcAft>
                <a:spcPts val="800"/>
              </a:spcAft>
              <a:buSzPct val="100000"/>
              <a:buChar char="•"/>
            </a:pPr>
            <a:r>
              <a:rPr lang="en-US" sz="1500" dirty="0">
                <a:solidFill>
                  <a:schemeClr val="bg1"/>
                </a:solidFill>
              </a:rPr>
              <a:t>Optuna, 15 trials, validation only — absolute-error loss won</a:t>
            </a:r>
            <a:endParaRPr lang="en-US" sz="1500" dirty="0"/>
          </a:p>
        </p:txBody>
      </p:sp>
      <p:graphicFrame>
        <p:nvGraphicFramePr>
          <p:cNvPr id="6" name="Chart 0" descr=""/>
          <p:cNvGraphicFramePr/>
          <p:nvPr/>
        </p:nvGraphicFramePr>
        <p:xfrm>
          <a:off x="5394960" y="1417320"/>
          <a:ext cx="6217920" cy="475488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Do neighbours help the trees?</a:t>
            </a:r>
            <a:endParaRPr lang="en-US" sz="3600" dirty="0"/>
          </a:p>
        </p:txBody>
      </p:sp>
      <p:graphicFrame>
        <p:nvGraphicFramePr>
          <p:cNvPr id="3" name="Chart 0" descr=""/>
          <p:cNvGraphicFramePr/>
          <p:nvPr/>
        </p:nvGraphicFramePr>
        <p:xfrm>
          <a:off x="548640" y="1417320"/>
          <a:ext cx="6949440" cy="4754880"/>
        </p:xfrm>
        <a:graphic xmlns:a="http://schemas.openxmlformats.org/drawingml/2006/main">
          <a:graphicData uri="http://schemas.openxmlformats.org/drawingml/2006/chart">
            <c:chart xmlns:c="http://schemas.openxmlformats.org/drawingml/2006/chart" r:id="rId1"/>
          </a:graphicData>
        </a:graphic>
      </p:graphicFrame>
      <p:sp>
        <p:nvSpPr>
          <p:cNvPr id="4" name="card"/>
          <p:cNvSpPr/>
          <p:nvPr/>
        </p:nvSpPr>
        <p:spPr>
          <a:xfrm>
            <a:off x="7772400" y="1417320"/>
            <a:ext cx="3840480" cy="1828800"/>
          </a:xfrm>
          <a:prstGeom prst="roundRect">
            <a:avLst>
              <a:gd name="adj" fmla="val 6000"/>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5" name="Text 2"/>
          <p:cNvSpPr txBox="1"/>
          <p:nvPr/>
        </p:nvSpPr>
        <p:spPr>
          <a:xfrm>
            <a:off x="8046720" y="1645920"/>
            <a:ext cx="3291840" cy="914400"/>
          </a:xfrm>
          <a:prstGeom prst="rect">
            <a:avLst/>
          </a:prstGeom>
          <a:noFill/>
          <a:ln/>
        </p:spPr>
        <p:txBody>
          <a:bodyPr wrap="square" lIns="0" tIns="0" rIns="0" bIns="0" rtlCol="0" anchor="ctr"/>
          <a:lstStyle/>
          <a:p>
            <a:pPr indent="0" marL="0">
              <a:buNone/>
            </a:pPr>
            <a:r>
              <a:rPr lang="en-US" sz="4000" b="1" dirty="0">
                <a:solidFill>
                  <a:schemeClr val="accent1"/>
                </a:solidFill>
                <a:latin typeface="Arial" pitchFamily="34" charset="0"/>
                <a:ea typeface="Arial" pitchFamily="34" charset="-122"/>
                <a:cs typeface="Arial" pitchFamily="34" charset="-120"/>
              </a:rPr>
              <a:t>+0.56 mph</a:t>
            </a:r>
            <a:endParaRPr lang="en-US" sz="4000" dirty="0"/>
          </a:p>
        </p:txBody>
      </p:sp>
      <p:sp>
        <p:nvSpPr>
          <p:cNvPr id="6" name="Text 3"/>
          <p:cNvSpPr txBox="1"/>
          <p:nvPr/>
        </p:nvSpPr>
        <p:spPr>
          <a:xfrm>
            <a:off x="8046720" y="2560320"/>
            <a:ext cx="3291840" cy="594360"/>
          </a:xfrm>
          <a:prstGeom prst="rect">
            <a:avLst/>
          </a:prstGeom>
          <a:noFill/>
          <a:ln/>
        </p:spPr>
        <p:txBody>
          <a:bodyPr wrap="square" lIns="0" tIns="0" rIns="0" bIns="0" rtlCol="0" anchor="t"/>
          <a:lstStyle/>
          <a:p>
            <a:pPr indent="0" marL="0">
              <a:buNone/>
            </a:pPr>
            <a:r>
              <a:rPr lang="en-US" sz="1400" dirty="0">
                <a:solidFill>
                  <a:schemeClr val="bg2"/>
                </a:solidFill>
              </a:rPr>
              <a:t>gain in congestion at 30 min — 3–4× the overall gain</a:t>
            </a:r>
            <a:endParaRPr lang="en-US" sz="1400" dirty="0"/>
          </a:p>
        </p:txBody>
      </p:sp>
      <p:sp>
        <p:nvSpPr>
          <p:cNvPr id="7" name="card"/>
          <p:cNvSpPr/>
          <p:nvPr/>
        </p:nvSpPr>
        <p:spPr>
          <a:xfrm>
            <a:off x="7772400" y="3429000"/>
            <a:ext cx="3840480" cy="2743200"/>
          </a:xfrm>
          <a:prstGeom prst="roundRect">
            <a:avLst>
              <a:gd name="adj" fmla="val 4000"/>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8" name="Text 5"/>
          <p:cNvSpPr txBox="1"/>
          <p:nvPr/>
        </p:nvSpPr>
        <p:spPr>
          <a:xfrm>
            <a:off x="8046720" y="3657600"/>
            <a:ext cx="3383280" cy="237744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bg1"/>
                </a:solidFill>
              </a:rPr>
              <a:t>Significant in almost every slice (DM test, paired bootstrap)</a:t>
            </a:r>
            <a:endParaRPr lang="en-US" sz="1500" dirty="0"/>
          </a:p>
          <a:p>
            <a:pPr marL="228600" indent="-228600">
              <a:spcAft>
                <a:spcPts val="800"/>
              </a:spcAft>
              <a:buSzPct val="100000"/>
              <a:buChar char="•"/>
            </a:pPr>
            <a:r>
              <a:rPr lang="en-US" sz="1500" dirty="0">
                <a:solidFill>
                  <a:schemeClr val="bg1"/>
                </a:solidFill>
              </a:rPr>
              <a:t>Biggest at peaks and in jams — as the hypothesis predicts</a:t>
            </a:r>
            <a:endParaRPr lang="en-US" sz="1500" dirty="0"/>
          </a:p>
          <a:p>
            <a:pPr marL="228600" indent="-228600">
              <a:spcAft>
                <a:spcPts val="800"/>
              </a:spcAft>
              <a:buSzPct val="100000"/>
              <a:buChar char="•"/>
            </a:pPr>
            <a:r>
              <a:rPr lang="en-US" sz="1500" b="1" dirty="0">
                <a:solidFill>
                  <a:schemeClr val="accent2"/>
                </a:solidFill>
              </a:rPr>
              <a:t>But the gain does not grow with horizon</a:t>
            </a:r>
            <a:endParaRPr lang="en-US" sz="15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What the trees actually look at</a:t>
            </a:r>
            <a:endParaRPr lang="en-US" sz="3600" dirty="0"/>
          </a:p>
        </p:txBody>
      </p:sp>
      <p:sp>
        <p:nvSpPr>
          <p:cNvPr id="3" name="figure frame"/>
          <p:cNvSpPr/>
          <p:nvPr/>
        </p:nvSpPr>
        <p:spPr>
          <a:xfrm>
            <a:off x="548640" y="1417320"/>
            <a:ext cx="5074920" cy="4754880"/>
          </a:xfrm>
          <a:prstGeom prst="roundRect">
            <a:avLst>
              <a:gd name="adj" fmla="val 1923"/>
            </a:avLst>
          </a:prstGeom>
          <a:solidFill>
            <a:schemeClr val="bg1"/>
          </a:solidFill>
          <a:ln w="12700">
            <a:solidFill>
              <a:schemeClr val="bg1">
                <a:alpha val="0"/>
              </a:schemeClr>
            </a:solidFill>
            <a:prstDash val="solid"/>
          </a:ln>
          <a:effectLst>
            <a:outerShdw sx="100000" sy="100000" kx="0" ky="0" algn="bl" rotWithShape="0" blurRad="177800" dist="38100" dir="5400000">
              <a:srgbClr val="000000">
                <a:alpha val="45000"/>
              </a:srgbClr>
            </a:outerShdw>
          </a:effectLst>
        </p:spPr>
      </p:sp>
      <p:pic>
        <p:nvPicPr>
          <p:cNvPr id="4" name="Image 0" descr="ml shap xgb spatial h12">    </p:cNvPr>
          <p:cNvPicPr>
            <a:picLocks noChangeAspect="1"/>
          </p:cNvPicPr>
          <p:nvPr/>
        </p:nvPicPr>
        <p:blipFill>
          <a:blip r:embed="rId1"/>
          <a:stretch>
            <a:fillRect/>
          </a:stretch>
        </p:blipFill>
        <p:spPr>
          <a:xfrm>
            <a:off x="667207" y="1527048"/>
            <a:ext cx="4837786" cy="4535424"/>
          </a:xfrm>
          <a:prstGeom prst="rect">
            <a:avLst/>
          </a:prstGeom>
        </p:spPr>
      </p:pic>
      <p:sp>
        <p:nvSpPr>
          <p:cNvPr id="5" name="card"/>
          <p:cNvSpPr/>
          <p:nvPr/>
        </p:nvSpPr>
        <p:spPr>
          <a:xfrm>
            <a:off x="5897880" y="1417320"/>
            <a:ext cx="5715000" cy="4754880"/>
          </a:xfrm>
          <a:prstGeom prst="roundRect">
            <a:avLst>
              <a:gd name="adj" fmla="val 2308"/>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6" name="Text 3"/>
          <p:cNvSpPr txBox="1"/>
          <p:nvPr/>
        </p:nvSpPr>
        <p:spPr>
          <a:xfrm>
            <a:off x="6217920" y="1691640"/>
            <a:ext cx="5120640" cy="320040"/>
          </a:xfrm>
          <a:prstGeom prst="rect">
            <a:avLst/>
          </a:prstGeom>
          <a:noFill/>
          <a:ln/>
        </p:spPr>
        <p:txBody>
          <a:bodyPr wrap="square" lIns="0" tIns="0" rIns="0" bIns="0" rtlCol="0" anchor="t"/>
          <a:lstStyle/>
          <a:p>
            <a:pPr indent="0" marL="0">
              <a:buNone/>
            </a:pPr>
            <a:r>
              <a:rPr lang="en-US" sz="1400" b="1" spc="300" kern="0" dirty="0">
                <a:solidFill>
                  <a:schemeClr val="accent2"/>
                </a:solidFill>
              </a:rPr>
              <a:t>TREESHAP, 5,000 TEST ROWS</a:t>
            </a:r>
            <a:endParaRPr lang="en-US" sz="1400" dirty="0"/>
          </a:p>
        </p:txBody>
      </p:sp>
      <p:sp>
        <p:nvSpPr>
          <p:cNvPr id="7" name="Text 4"/>
          <p:cNvSpPr txBox="1"/>
          <p:nvPr/>
        </p:nvSpPr>
        <p:spPr>
          <a:xfrm>
            <a:off x="6217920" y="2148840"/>
            <a:ext cx="5120640" cy="384048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bg1"/>
                </a:solidFill>
              </a:rPr>
              <a:t>15 min: the last half-hour average and the latest speed dominate</a:t>
            </a:r>
            <a:endParaRPr lang="en-US" sz="1600" dirty="0"/>
          </a:p>
          <a:p>
            <a:pPr marL="228600" indent="-228600">
              <a:spcAft>
                <a:spcPts val="800"/>
              </a:spcAft>
              <a:buSzPct val="100000"/>
              <a:buChar char="•"/>
            </a:pPr>
            <a:r>
              <a:rPr lang="en-US" sz="1600" dirty="0">
                <a:solidFill>
                  <a:schemeClr val="bg1"/>
                </a:solidFill>
              </a:rPr>
              <a:t>60 min: sensor identity and time of day take over</a:t>
            </a:r>
            <a:endParaRPr lang="en-US" sz="1600" dirty="0"/>
          </a:p>
          <a:p>
            <a:pPr marL="228600" indent="-228600">
              <a:spcAft>
                <a:spcPts val="800"/>
              </a:spcAft>
              <a:buSzPct val="100000"/>
              <a:buChar char="•"/>
            </a:pPr>
            <a:r>
              <a:rPr lang="en-US" sz="1600" dirty="0">
                <a:solidFill>
                  <a:schemeClr val="bg1"/>
                </a:solidFill>
              </a:rPr>
              <a:t>Neighbour speeds appear in the top features, but never dominate</a:t>
            </a:r>
            <a:endParaRPr lang="en-US" sz="1600" dirty="0"/>
          </a:p>
          <a:p>
            <a:pPr marL="228600" indent="-228600">
              <a:spcAft>
                <a:spcPts val="800"/>
              </a:spcAft>
              <a:buSzPct val="100000"/>
              <a:buChar char="•"/>
            </a:pPr>
            <a:r>
              <a:rPr lang="en-US" sz="1600" dirty="0">
                <a:solidFill>
                  <a:schemeClr val="bg1"/>
                </a:solidFill>
              </a:rPr>
              <a:t>Same-time-yesterday lag adds nothing (2.879 vs 2.880 mph)</a:t>
            </a:r>
            <a:endParaRPr lang="en-US" sz="16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731520" y="1737360"/>
            <a:ext cx="7315200" cy="457200"/>
          </a:xfrm>
          <a:prstGeom prst="rect">
            <a:avLst/>
          </a:prstGeom>
          <a:noFill/>
          <a:ln/>
        </p:spPr>
        <p:txBody>
          <a:bodyPr wrap="square" lIns="0" tIns="0" rIns="0" bIns="0" rtlCol="0"/>
          <a:lstStyle/>
          <a:p>
            <a:pPr algn="l" indent="0" marL="0">
              <a:buNone/>
            </a:pPr>
            <a:r>
              <a:rPr lang="en-US" sz="1600" b="1" spc="400" kern="0" dirty="0">
                <a:solidFill>
                  <a:schemeClr val="accent2"/>
                </a:solidFill>
              </a:rPr>
              <a:t>CHAPTER 04</a:t>
            </a:r>
            <a:endParaRPr lang="en-US" sz="1600" dirty="0"/>
          </a:p>
        </p:txBody>
      </p:sp>
      <p:sp>
        <p:nvSpPr>
          <p:cNvPr id="3" name="Text 0"/>
          <p:cNvSpPr/>
          <p:nvPr>
            <p:ph idx="101" type="title" hasCustomPrompt="1"/>
          </p:nvPr>
        </p:nvSpPr>
        <p:spPr>
          <a:xfrm>
            <a:off x="731520" y="2194560"/>
            <a:ext cx="10698480" cy="1280160"/>
          </a:xfrm>
          <a:prstGeom prst="rect">
            <a:avLst/>
          </a:prstGeom>
          <a:noFill/>
          <a:ln/>
        </p:spPr>
        <p:txBody>
          <a:bodyPr wrap="square" lIns="0" tIns="0" rIns="0" bIns="0" rtlCol="0" anchor="t"/>
          <a:lstStyle/>
          <a:p>
            <a:pPr algn="l" indent="0" marL="0">
              <a:buNone/>
            </a:pPr>
            <a:r>
              <a:rPr lang="en-US" sz="5000" b="1" dirty="0">
                <a:solidFill>
                  <a:schemeClr val="bg1"/>
                </a:solidFill>
              </a:rPr>
              <a:t>Learning to look around</a:t>
            </a:r>
            <a:endParaRPr lang="en-US" sz="5000" dirty="0"/>
          </a:p>
        </p:txBody>
      </p:sp>
      <p:sp>
        <p:nvSpPr>
          <p:cNvPr id="4" name="Text 0"/>
          <p:cNvSpPr/>
          <p:nvPr>
            <p:ph idx="102" type="body" hasCustomPrompt="1"/>
          </p:nvPr>
        </p:nvSpPr>
        <p:spPr>
          <a:xfrm>
            <a:off x="731520" y="3520440"/>
            <a:ext cx="9601200" cy="1097280"/>
          </a:xfrm>
          <a:prstGeom prst="rect">
            <a:avLst/>
          </a:prstGeom>
          <a:noFill/>
          <a:ln/>
        </p:spPr>
        <p:txBody>
          <a:bodyPr wrap="square" lIns="0" tIns="0" rIns="0" bIns="0" rtlCol="0" anchor="t"/>
          <a:lstStyle/>
          <a:p>
            <a:pPr algn="l" indent="0" marL="0">
              <a:buNone/>
            </a:pPr>
            <a:r>
              <a:rPr lang="en-US" sz="2200" dirty="0">
                <a:solidFill>
                  <a:schemeClr val="bg2"/>
                </a:solidFill>
              </a:rPr>
              <a:t>A spatio-temporal graph attention network that decides, for every sensor, which neighbours to listen to.</a:t>
            </a:r>
            <a:endParaRPr lang="en-US" sz="2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STGAT: architecture</a:t>
            </a:r>
            <a:endParaRPr lang="en-US" sz="3600" dirty="0"/>
          </a:p>
        </p:txBody>
      </p:sp>
      <p:sp>
        <p:nvSpPr>
          <p:cNvPr id="3" name="Shape 1"/>
          <p:cNvSpPr/>
          <p:nvPr/>
        </p:nvSpPr>
        <p:spPr>
          <a:xfrm>
            <a:off x="548640" y="1600200"/>
            <a:ext cx="1627632" cy="1554480"/>
          </a:xfrm>
          <a:prstGeom prst="roundRect">
            <a:avLst>
              <a:gd name="adj" fmla="val 7059"/>
            </a:avLst>
          </a:prstGeom>
          <a:solidFill>
            <a:schemeClr val="accent5">
              <a:alpha val="65000"/>
            </a:schemeClr>
          </a:solidFill>
          <a:ln w="12700">
            <a:solidFill>
              <a:schemeClr val="accent5">
                <a:alpha val="0"/>
              </a:schemeClr>
            </a:solidFill>
            <a:prstDash val="solid"/>
          </a:ln>
          <a:effectLst>
            <a:outerShdw sx="100000" sy="100000" kx="0" ky="0" algn="bl" rotWithShape="0" blurRad="177800" dist="38100" dir="5400000">
              <a:srgbClr val="000000">
                <a:alpha val="45000"/>
              </a:srgbClr>
            </a:outerShdw>
          </a:effectLst>
        </p:spPr>
      </p:sp>
      <p:sp>
        <p:nvSpPr>
          <p:cNvPr id="4" name="Text 2"/>
          <p:cNvSpPr txBox="1"/>
          <p:nvPr/>
        </p:nvSpPr>
        <p:spPr>
          <a:xfrm>
            <a:off x="658368" y="1600200"/>
            <a:ext cx="1408176" cy="1554480"/>
          </a:xfrm>
          <a:prstGeom prst="rect">
            <a:avLst/>
          </a:prstGeom>
          <a:noFill/>
          <a:ln/>
        </p:spPr>
        <p:txBody>
          <a:bodyPr wrap="square" lIns="0" tIns="0" rIns="0" bIns="0" rtlCol="0" anchor="ctr"/>
          <a:lstStyle/>
          <a:p>
            <a:pPr algn="ctr" indent="0" marL="0">
              <a:buNone/>
            </a:pPr>
            <a:r>
              <a:rPr lang="en-US" sz="1700" b="1" dirty="0">
                <a:solidFill>
                  <a:schemeClr val="bg1"/>
                </a:solidFill>
              </a:rPr>
              <a:t>Input</a:t>
            </a:r>
            <a:endParaRPr lang="en-US" sz="1600" dirty="0"/>
          </a:p>
          <a:p>
            <a:pPr algn="ctr" indent="0" marL="0">
              <a:buNone/>
            </a:pPr>
            <a:r>
              <a:rPr lang="en-US" sz="1300" dirty="0">
                <a:solidFill>
                  <a:schemeClr val="bg1"/>
                </a:solidFill>
              </a:rPr>
              <a:t>12 steps × 207</a:t>
            </a:r>
            <a:endParaRPr lang="en-US" sz="1600" dirty="0"/>
          </a:p>
          <a:p>
            <a:pPr algn="ctr" indent="0" marL="0">
              <a:buNone/>
            </a:pPr>
            <a:r>
              <a:rPr lang="en-US" sz="1300" dirty="0">
                <a:solidFill>
                  <a:schemeClr val="bg1"/>
                </a:solidFill>
              </a:rPr>
              <a:t>sensors × 8 ch.</a:t>
            </a:r>
            <a:endParaRPr lang="en-US" sz="1600" dirty="0"/>
          </a:p>
        </p:txBody>
      </p:sp>
      <p:sp>
        <p:nvSpPr>
          <p:cNvPr id="5" name="Shape 3"/>
          <p:cNvSpPr/>
          <p:nvPr/>
        </p:nvSpPr>
        <p:spPr>
          <a:xfrm>
            <a:off x="2194560" y="2377440"/>
            <a:ext cx="228600" cy="914"/>
          </a:xfrm>
          <a:prstGeom prst="line">
            <a:avLst/>
          </a:prstGeom>
          <a:noFill/>
          <a:ln w="22225">
            <a:solidFill>
              <a:srgbClr val="AEB8D0"/>
            </a:solidFill>
            <a:prstDash val="solid"/>
            <a:tailEnd type="triangle"/>
          </a:ln>
        </p:spPr>
      </p:sp>
      <p:sp>
        <p:nvSpPr>
          <p:cNvPr id="6" name="Shape 4"/>
          <p:cNvSpPr/>
          <p:nvPr/>
        </p:nvSpPr>
        <p:spPr>
          <a:xfrm>
            <a:off x="2441448" y="1600200"/>
            <a:ext cx="1627632" cy="1554480"/>
          </a:xfrm>
          <a:prstGeom prst="roundRect">
            <a:avLst>
              <a:gd name="adj" fmla="val 7059"/>
            </a:avLst>
          </a:prstGeom>
          <a:solidFill>
            <a:schemeClr val="accent5">
              <a:alpha val="65000"/>
            </a:schemeClr>
          </a:solidFill>
          <a:ln w="12700">
            <a:solidFill>
              <a:schemeClr val="accent5">
                <a:alpha val="0"/>
              </a:schemeClr>
            </a:solidFill>
            <a:prstDash val="solid"/>
          </a:ln>
          <a:effectLst>
            <a:outerShdw sx="100000" sy="100000" kx="0" ky="0" algn="bl" rotWithShape="0" blurRad="177800" dist="38100" dir="5400000">
              <a:srgbClr val="000000">
                <a:alpha val="45000"/>
              </a:srgbClr>
            </a:outerShdw>
          </a:effectLst>
        </p:spPr>
      </p:sp>
      <p:sp>
        <p:nvSpPr>
          <p:cNvPr id="7" name="Text 5"/>
          <p:cNvSpPr txBox="1"/>
          <p:nvPr/>
        </p:nvSpPr>
        <p:spPr>
          <a:xfrm>
            <a:off x="2551176" y="1600200"/>
            <a:ext cx="1408176" cy="1554480"/>
          </a:xfrm>
          <a:prstGeom prst="rect">
            <a:avLst/>
          </a:prstGeom>
          <a:noFill/>
          <a:ln/>
        </p:spPr>
        <p:txBody>
          <a:bodyPr wrap="square" lIns="0" tIns="0" rIns="0" bIns="0" rtlCol="0" anchor="ctr"/>
          <a:lstStyle/>
          <a:p>
            <a:pPr algn="ctr" indent="0" marL="0">
              <a:buNone/>
            </a:pPr>
            <a:r>
              <a:rPr lang="en-US" sz="1700" b="1" dirty="0">
                <a:solidFill>
                  <a:schemeClr val="bg1"/>
                </a:solidFill>
              </a:rPr>
              <a:t>Embed</a:t>
            </a:r>
            <a:endParaRPr lang="en-US" sz="1600" dirty="0"/>
          </a:p>
          <a:p>
            <a:pPr algn="ctr" indent="0" marL="0">
              <a:buNone/>
            </a:pPr>
            <a:r>
              <a:rPr lang="en-US" sz="1300" dirty="0">
                <a:solidFill>
                  <a:schemeClr val="bg1"/>
                </a:solidFill>
              </a:rPr>
              <a:t>linear → 64 +</a:t>
            </a:r>
            <a:endParaRPr lang="en-US" sz="1600" dirty="0"/>
          </a:p>
          <a:p>
            <a:pPr algn="ctr" indent="0" marL="0">
              <a:buNone/>
            </a:pPr>
            <a:r>
              <a:rPr lang="en-US" sz="1300" dirty="0">
                <a:solidFill>
                  <a:schemeClr val="bg1"/>
                </a:solidFill>
              </a:rPr>
              <a:t>node embedding</a:t>
            </a:r>
            <a:endParaRPr lang="en-US" sz="1600" dirty="0"/>
          </a:p>
        </p:txBody>
      </p:sp>
      <p:sp>
        <p:nvSpPr>
          <p:cNvPr id="8" name="Shape 6"/>
          <p:cNvSpPr/>
          <p:nvPr/>
        </p:nvSpPr>
        <p:spPr>
          <a:xfrm>
            <a:off x="4087368" y="2377440"/>
            <a:ext cx="228600" cy="914"/>
          </a:xfrm>
          <a:prstGeom prst="line">
            <a:avLst/>
          </a:prstGeom>
          <a:noFill/>
          <a:ln w="22225">
            <a:solidFill>
              <a:srgbClr val="AEB8D0"/>
            </a:solidFill>
            <a:prstDash val="solid"/>
            <a:tailEnd type="triangle"/>
          </a:ln>
        </p:spPr>
      </p:sp>
      <p:sp>
        <p:nvSpPr>
          <p:cNvPr id="9" name="Shape 7"/>
          <p:cNvSpPr/>
          <p:nvPr/>
        </p:nvSpPr>
        <p:spPr>
          <a:xfrm>
            <a:off x="4334256" y="1600200"/>
            <a:ext cx="1627632" cy="1554480"/>
          </a:xfrm>
          <a:prstGeom prst="roundRect">
            <a:avLst>
              <a:gd name="adj" fmla="val 7059"/>
            </a:avLst>
          </a:prstGeom>
          <a:solidFill>
            <a:schemeClr val="accent4">
              <a:alpha val="90000"/>
            </a:schemeClr>
          </a:solidFill>
          <a:ln w="12700">
            <a:solidFill>
              <a:schemeClr val="accent4">
                <a:alpha val="0"/>
              </a:schemeClr>
            </a:solidFill>
            <a:prstDash val="solid"/>
          </a:ln>
          <a:effectLst>
            <a:outerShdw sx="100000" sy="100000" kx="0" ky="0" algn="bl" rotWithShape="0" blurRad="177800" dist="38100" dir="5400000">
              <a:srgbClr val="000000">
                <a:alpha val="45000"/>
              </a:srgbClr>
            </a:outerShdw>
          </a:effectLst>
        </p:spPr>
      </p:sp>
      <p:sp>
        <p:nvSpPr>
          <p:cNvPr id="10" name="Text 8"/>
          <p:cNvSpPr txBox="1"/>
          <p:nvPr/>
        </p:nvSpPr>
        <p:spPr>
          <a:xfrm>
            <a:off x="4443984" y="1600200"/>
            <a:ext cx="1408176" cy="1554480"/>
          </a:xfrm>
          <a:prstGeom prst="rect">
            <a:avLst/>
          </a:prstGeom>
          <a:noFill/>
          <a:ln/>
        </p:spPr>
        <p:txBody>
          <a:bodyPr wrap="square" lIns="0" tIns="0" rIns="0" bIns="0" rtlCol="0" anchor="ctr"/>
          <a:lstStyle/>
          <a:p>
            <a:pPr algn="ctr" indent="0" marL="0">
              <a:buNone/>
            </a:pPr>
            <a:r>
              <a:rPr lang="en-US" sz="1700" b="1" dirty="0">
                <a:solidFill>
                  <a:schemeClr val="bg1"/>
                </a:solidFill>
              </a:rPr>
              <a:t>Temporal</a:t>
            </a:r>
            <a:endParaRPr lang="en-US" sz="1600" dirty="0"/>
          </a:p>
          <a:p>
            <a:pPr algn="ctr" indent="0" marL="0">
              <a:buNone/>
            </a:pPr>
            <a:r>
              <a:rPr lang="en-US" sz="1300" dirty="0">
                <a:solidFill>
                  <a:schemeClr val="bg1"/>
                </a:solidFill>
              </a:rPr>
              <a:t>gated causal</a:t>
            </a:r>
            <a:endParaRPr lang="en-US" sz="1600" dirty="0"/>
          </a:p>
          <a:p>
            <a:pPr algn="ctr" indent="0" marL="0">
              <a:buNone/>
            </a:pPr>
            <a:r>
              <a:rPr lang="en-US" sz="1300" dirty="0">
                <a:solidFill>
                  <a:schemeClr val="bg1"/>
                </a:solidFill>
              </a:rPr>
              <a:t>conv (k = 3)</a:t>
            </a:r>
            <a:endParaRPr lang="en-US" sz="1600" dirty="0"/>
          </a:p>
        </p:txBody>
      </p:sp>
      <p:sp>
        <p:nvSpPr>
          <p:cNvPr id="11" name="Shape 9"/>
          <p:cNvSpPr/>
          <p:nvPr/>
        </p:nvSpPr>
        <p:spPr>
          <a:xfrm>
            <a:off x="5980176" y="2377440"/>
            <a:ext cx="228600" cy="914"/>
          </a:xfrm>
          <a:prstGeom prst="line">
            <a:avLst/>
          </a:prstGeom>
          <a:noFill/>
          <a:ln w="22225">
            <a:solidFill>
              <a:srgbClr val="AEB8D0"/>
            </a:solidFill>
            <a:prstDash val="solid"/>
            <a:tailEnd type="triangle"/>
          </a:ln>
        </p:spPr>
      </p:sp>
      <p:sp>
        <p:nvSpPr>
          <p:cNvPr id="12" name="Shape 10"/>
          <p:cNvSpPr/>
          <p:nvPr/>
        </p:nvSpPr>
        <p:spPr>
          <a:xfrm>
            <a:off x="6227064" y="1600200"/>
            <a:ext cx="1627632" cy="1554480"/>
          </a:xfrm>
          <a:prstGeom prst="roundRect">
            <a:avLst>
              <a:gd name="adj" fmla="val 7059"/>
            </a:avLst>
          </a:prstGeom>
          <a:solidFill>
            <a:schemeClr val="accent3">
              <a:alpha val="90000"/>
            </a:schemeClr>
          </a:solidFill>
          <a:ln w="12700">
            <a:solidFill>
              <a:schemeClr val="accent3">
                <a:alpha val="0"/>
              </a:schemeClr>
            </a:solidFill>
            <a:prstDash val="solid"/>
          </a:ln>
          <a:effectLst>
            <a:outerShdw sx="100000" sy="100000" kx="0" ky="0" algn="bl" rotWithShape="0" blurRad="177800" dist="38100" dir="5400000">
              <a:srgbClr val="000000">
                <a:alpha val="45000"/>
              </a:srgbClr>
            </a:outerShdw>
          </a:effectLst>
        </p:spPr>
      </p:sp>
      <p:sp>
        <p:nvSpPr>
          <p:cNvPr id="13" name="Text 11"/>
          <p:cNvSpPr txBox="1"/>
          <p:nvPr/>
        </p:nvSpPr>
        <p:spPr>
          <a:xfrm>
            <a:off x="6336792" y="1600200"/>
            <a:ext cx="1408176" cy="1554480"/>
          </a:xfrm>
          <a:prstGeom prst="rect">
            <a:avLst/>
          </a:prstGeom>
          <a:noFill/>
          <a:ln/>
        </p:spPr>
        <p:txBody>
          <a:bodyPr wrap="square" lIns="0" tIns="0" rIns="0" bIns="0" rtlCol="0" anchor="ctr"/>
          <a:lstStyle/>
          <a:p>
            <a:pPr algn="ctr" indent="0" marL="0">
              <a:buNone/>
            </a:pPr>
            <a:r>
              <a:rPr lang="en-US" sz="1700" b="1" dirty="0">
                <a:solidFill>
                  <a:schemeClr val="bg1"/>
                </a:solidFill>
              </a:rPr>
              <a:t>Spatial</a:t>
            </a:r>
            <a:endParaRPr lang="en-US" sz="1600" dirty="0"/>
          </a:p>
          <a:p>
            <a:pPr algn="ctr" indent="0" marL="0">
              <a:buNone/>
            </a:pPr>
            <a:r>
              <a:rPr lang="en-US" sz="1300" dirty="0">
                <a:solidFill>
                  <a:schemeClr val="bg1"/>
                </a:solidFill>
              </a:rPr>
              <a:t>graph attention</a:t>
            </a:r>
            <a:endParaRPr lang="en-US" sz="1600" dirty="0"/>
          </a:p>
          <a:p>
            <a:pPr algn="ctr" indent="0" marL="0">
              <a:buNone/>
            </a:pPr>
            <a:r>
              <a:rPr lang="en-US" sz="1300" dirty="0">
                <a:solidFill>
                  <a:schemeClr val="bg1"/>
                </a:solidFill>
              </a:rPr>
              <a:t>4 heads × 16</a:t>
            </a:r>
            <a:endParaRPr lang="en-US" sz="1600" dirty="0"/>
          </a:p>
        </p:txBody>
      </p:sp>
      <p:sp>
        <p:nvSpPr>
          <p:cNvPr id="14" name="Shape 12"/>
          <p:cNvSpPr/>
          <p:nvPr/>
        </p:nvSpPr>
        <p:spPr>
          <a:xfrm>
            <a:off x="7872984" y="2377440"/>
            <a:ext cx="228600" cy="914"/>
          </a:xfrm>
          <a:prstGeom prst="line">
            <a:avLst/>
          </a:prstGeom>
          <a:noFill/>
          <a:ln w="22225">
            <a:solidFill>
              <a:srgbClr val="AEB8D0"/>
            </a:solidFill>
            <a:prstDash val="solid"/>
            <a:tailEnd type="triangle"/>
          </a:ln>
        </p:spPr>
      </p:sp>
      <p:sp>
        <p:nvSpPr>
          <p:cNvPr id="15" name="Shape 13"/>
          <p:cNvSpPr/>
          <p:nvPr/>
        </p:nvSpPr>
        <p:spPr>
          <a:xfrm>
            <a:off x="8119872" y="1600200"/>
            <a:ext cx="1627632" cy="1554480"/>
          </a:xfrm>
          <a:prstGeom prst="roundRect">
            <a:avLst>
              <a:gd name="adj" fmla="val 7059"/>
            </a:avLst>
          </a:prstGeom>
          <a:solidFill>
            <a:schemeClr val="accent5">
              <a:alpha val="65000"/>
            </a:schemeClr>
          </a:solidFill>
          <a:ln w="12700">
            <a:solidFill>
              <a:schemeClr val="accent5">
                <a:alpha val="0"/>
              </a:schemeClr>
            </a:solidFill>
            <a:prstDash val="solid"/>
          </a:ln>
          <a:effectLst>
            <a:outerShdw sx="100000" sy="100000" kx="0" ky="0" algn="bl" rotWithShape="0" blurRad="177800" dist="38100" dir="5400000">
              <a:srgbClr val="000000">
                <a:alpha val="45000"/>
              </a:srgbClr>
            </a:outerShdw>
          </a:effectLst>
        </p:spPr>
      </p:sp>
      <p:sp>
        <p:nvSpPr>
          <p:cNvPr id="16" name="Text 14"/>
          <p:cNvSpPr txBox="1"/>
          <p:nvPr/>
        </p:nvSpPr>
        <p:spPr>
          <a:xfrm>
            <a:off x="8229600" y="1600200"/>
            <a:ext cx="1408176" cy="1554480"/>
          </a:xfrm>
          <a:prstGeom prst="rect">
            <a:avLst/>
          </a:prstGeom>
          <a:noFill/>
          <a:ln/>
        </p:spPr>
        <p:txBody>
          <a:bodyPr wrap="square" lIns="0" tIns="0" rIns="0" bIns="0" rtlCol="0" anchor="ctr"/>
          <a:lstStyle/>
          <a:p>
            <a:pPr algn="ctr" indent="0" marL="0">
              <a:buNone/>
            </a:pPr>
            <a:r>
              <a:rPr lang="en-US" sz="1700" b="1" dirty="0">
                <a:solidFill>
                  <a:schemeClr val="bg1"/>
                </a:solidFill>
              </a:rPr>
              <a:t>Readout</a:t>
            </a:r>
            <a:endParaRPr lang="en-US" sz="1600" dirty="0"/>
          </a:p>
          <a:p>
            <a:pPr algn="ctr" indent="0" marL="0">
              <a:buNone/>
            </a:pPr>
            <a:r>
              <a:rPr lang="en-US" sz="1300" dirty="0">
                <a:solidFill>
                  <a:schemeClr val="bg1"/>
                </a:solidFill>
              </a:rPr>
              <a:t>last step +</a:t>
            </a:r>
            <a:endParaRPr lang="en-US" sz="1600" dirty="0"/>
          </a:p>
          <a:p>
            <a:pPr algn="ctr" indent="0" marL="0">
              <a:buNone/>
            </a:pPr>
            <a:r>
              <a:rPr lang="en-US" sz="1300" dirty="0">
                <a:solidFill>
                  <a:schemeClr val="bg1"/>
                </a:solidFill>
              </a:rPr>
              <a:t>LayerNorm</a:t>
            </a:r>
            <a:endParaRPr lang="en-US" sz="1600" dirty="0"/>
          </a:p>
        </p:txBody>
      </p:sp>
      <p:sp>
        <p:nvSpPr>
          <p:cNvPr id="17" name="Shape 15"/>
          <p:cNvSpPr/>
          <p:nvPr/>
        </p:nvSpPr>
        <p:spPr>
          <a:xfrm>
            <a:off x="9765792" y="2377440"/>
            <a:ext cx="228600" cy="914"/>
          </a:xfrm>
          <a:prstGeom prst="line">
            <a:avLst/>
          </a:prstGeom>
          <a:noFill/>
          <a:ln w="22225">
            <a:solidFill>
              <a:srgbClr val="AEB8D0"/>
            </a:solidFill>
            <a:prstDash val="solid"/>
            <a:tailEnd type="triangle"/>
          </a:ln>
        </p:spPr>
      </p:sp>
      <p:sp>
        <p:nvSpPr>
          <p:cNvPr id="18" name="Shape 16"/>
          <p:cNvSpPr/>
          <p:nvPr/>
        </p:nvSpPr>
        <p:spPr>
          <a:xfrm>
            <a:off x="10012680" y="1600200"/>
            <a:ext cx="1627632" cy="1554480"/>
          </a:xfrm>
          <a:prstGeom prst="roundRect">
            <a:avLst>
              <a:gd name="adj" fmla="val 7059"/>
            </a:avLst>
          </a:prstGeom>
          <a:solidFill>
            <a:schemeClr val="accent5">
              <a:alpha val="65000"/>
            </a:schemeClr>
          </a:solidFill>
          <a:ln w="12700">
            <a:solidFill>
              <a:schemeClr val="accent5">
                <a:alpha val="0"/>
              </a:schemeClr>
            </a:solidFill>
            <a:prstDash val="solid"/>
          </a:ln>
          <a:effectLst>
            <a:outerShdw sx="100000" sy="100000" kx="0" ky="0" algn="bl" rotWithShape="0" blurRad="177800" dist="38100" dir="5400000">
              <a:srgbClr val="000000">
                <a:alpha val="45000"/>
              </a:srgbClr>
            </a:outerShdw>
          </a:effectLst>
        </p:spPr>
      </p:sp>
      <p:sp>
        <p:nvSpPr>
          <p:cNvPr id="19" name="Text 17"/>
          <p:cNvSpPr txBox="1"/>
          <p:nvPr/>
        </p:nvSpPr>
        <p:spPr>
          <a:xfrm>
            <a:off x="10122408" y="1600200"/>
            <a:ext cx="1408176" cy="1554480"/>
          </a:xfrm>
          <a:prstGeom prst="rect">
            <a:avLst/>
          </a:prstGeom>
          <a:noFill/>
          <a:ln/>
        </p:spPr>
        <p:txBody>
          <a:bodyPr wrap="square" lIns="0" tIns="0" rIns="0" bIns="0" rtlCol="0" anchor="ctr"/>
          <a:lstStyle/>
          <a:p>
            <a:pPr algn="ctr" indent="0" marL="0">
              <a:buNone/>
            </a:pPr>
            <a:r>
              <a:rPr lang="en-US" sz="1700" b="1" dirty="0">
                <a:solidFill>
                  <a:schemeClr val="bg1"/>
                </a:solidFill>
              </a:rPr>
              <a:t>Decoder</a:t>
            </a:r>
            <a:endParaRPr lang="en-US" sz="1600" dirty="0"/>
          </a:p>
          <a:p>
            <a:pPr algn="ctr" indent="0" marL="0">
              <a:buNone/>
            </a:pPr>
            <a:r>
              <a:rPr lang="en-US" sz="1300" dirty="0">
                <a:solidFill>
                  <a:schemeClr val="bg1"/>
                </a:solidFill>
              </a:rPr>
              <a:t>MLP → all 12</a:t>
            </a:r>
            <a:endParaRPr lang="en-US" sz="1600" dirty="0"/>
          </a:p>
          <a:p>
            <a:pPr algn="ctr" indent="0" marL="0">
              <a:buNone/>
            </a:pPr>
            <a:r>
              <a:rPr lang="en-US" sz="1300" dirty="0">
                <a:solidFill>
                  <a:schemeClr val="bg1"/>
                </a:solidFill>
              </a:rPr>
              <a:t>horizons at once</a:t>
            </a:r>
            <a:endParaRPr lang="en-US" sz="1600" dirty="0"/>
          </a:p>
        </p:txBody>
      </p:sp>
      <p:sp>
        <p:nvSpPr>
          <p:cNvPr id="20" name="Shape 18"/>
          <p:cNvSpPr/>
          <p:nvPr/>
        </p:nvSpPr>
        <p:spPr>
          <a:xfrm>
            <a:off x="4224528" y="1371600"/>
            <a:ext cx="3739896" cy="2011680"/>
          </a:xfrm>
          <a:prstGeom prst="roundRect">
            <a:avLst>
              <a:gd name="adj" fmla="val 6364"/>
            </a:avLst>
          </a:prstGeom>
          <a:solidFill>
            <a:schemeClr val="bg1">
              <a:alpha val="0"/>
            </a:schemeClr>
          </a:solidFill>
          <a:ln w="19050">
            <a:solidFill>
              <a:schemeClr val="accent2"/>
            </a:solidFill>
            <a:prstDash val="dash"/>
          </a:ln>
        </p:spPr>
      </p:sp>
      <p:sp>
        <p:nvSpPr>
          <p:cNvPr id="21" name="Text 19"/>
          <p:cNvSpPr txBox="1"/>
          <p:nvPr/>
        </p:nvSpPr>
        <p:spPr>
          <a:xfrm>
            <a:off x="4224528" y="3410712"/>
            <a:ext cx="3739896" cy="320040"/>
          </a:xfrm>
          <a:prstGeom prst="rect">
            <a:avLst/>
          </a:prstGeom>
          <a:noFill/>
          <a:ln/>
        </p:spPr>
        <p:txBody>
          <a:bodyPr wrap="square" lIns="0" tIns="0" rIns="0" bIns="0" rtlCol="0" anchor="t"/>
          <a:lstStyle/>
          <a:p>
            <a:pPr algn="ctr" indent="0" marL="0">
              <a:buNone/>
            </a:pPr>
            <a:r>
              <a:rPr lang="en-US" sz="1300" b="1" dirty="0">
                <a:solidFill>
                  <a:schemeClr val="accent2"/>
                </a:solidFill>
              </a:rPr>
              <a:t>× 2 blocks (dilation 1, 2) + residual</a:t>
            </a:r>
            <a:endParaRPr lang="en-US" sz="1300" dirty="0"/>
          </a:p>
        </p:txBody>
      </p:sp>
      <p:sp>
        <p:nvSpPr>
          <p:cNvPr id="22" name="card"/>
          <p:cNvSpPr/>
          <p:nvPr/>
        </p:nvSpPr>
        <p:spPr>
          <a:xfrm>
            <a:off x="548640" y="3977640"/>
            <a:ext cx="6766560" cy="2194560"/>
          </a:xfrm>
          <a:prstGeom prst="roundRect">
            <a:avLst>
              <a:gd name="adj" fmla="val 5000"/>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23" name="Text 21"/>
          <p:cNvSpPr txBox="1"/>
          <p:nvPr/>
        </p:nvSpPr>
        <p:spPr>
          <a:xfrm>
            <a:off x="868680" y="4206240"/>
            <a:ext cx="6217920" cy="320040"/>
          </a:xfrm>
          <a:prstGeom prst="rect">
            <a:avLst/>
          </a:prstGeom>
          <a:noFill/>
          <a:ln/>
        </p:spPr>
        <p:txBody>
          <a:bodyPr wrap="square" lIns="0" tIns="0" rIns="0" bIns="0" rtlCol="0" anchor="t"/>
          <a:lstStyle/>
          <a:p>
            <a:pPr indent="0" marL="0">
              <a:buNone/>
            </a:pPr>
            <a:r>
              <a:rPr lang="en-US" sz="1400" b="1" spc="300" kern="0" dirty="0">
                <a:solidFill>
                  <a:schemeClr val="accent2"/>
                </a:solidFill>
              </a:rPr>
              <a:t>ATTENTION, IN ONE LINE</a:t>
            </a:r>
            <a:endParaRPr lang="en-US" sz="1400" dirty="0"/>
          </a:p>
        </p:txBody>
      </p:sp>
      <p:sp>
        <p:nvSpPr>
          <p:cNvPr id="24" name="Text 22"/>
          <p:cNvSpPr txBox="1"/>
          <p:nvPr/>
        </p:nvSpPr>
        <p:spPr>
          <a:xfrm>
            <a:off x="868680" y="4617720"/>
            <a:ext cx="6309360" cy="548640"/>
          </a:xfrm>
          <a:prstGeom prst="rect">
            <a:avLst/>
          </a:prstGeom>
          <a:noFill/>
          <a:ln/>
        </p:spPr>
        <p:txBody>
          <a:bodyPr wrap="square" lIns="0" tIns="0" rIns="0" bIns="0" rtlCol="0" anchor="t"/>
          <a:lstStyle/>
          <a:p>
            <a:pPr indent="0" marL="0">
              <a:buNone/>
            </a:pPr>
            <a:r>
              <a:rPr lang="en-US" sz="1500" dirty="0">
                <a:solidFill>
                  <a:schemeClr val="bg1"/>
                </a:solidFill>
                <a:latin typeface="Cambria" pitchFamily="34" charset="0"/>
                <a:ea typeface="Cambria" pitchFamily="34" charset="-122"/>
                <a:cs typeface="Cambria" pitchFamily="34" charset="-120"/>
              </a:rPr>
              <a:t>eᵢⱼ = LeakyReLU(aᵀ[Whᵢ ‖ Whⱼ])   αᵢⱼ = softmaxⱼ(eᵢⱼ)   hᵢ′ = Σⱼ αᵢⱼ Whⱼ</a:t>
            </a:r>
            <a:endParaRPr lang="en-US" sz="1500" dirty="0"/>
          </a:p>
        </p:txBody>
      </p:sp>
      <p:sp>
        <p:nvSpPr>
          <p:cNvPr id="25" name="Text 23"/>
          <p:cNvSpPr txBox="1"/>
          <p:nvPr/>
        </p:nvSpPr>
        <p:spPr>
          <a:xfrm>
            <a:off x="868680" y="5257800"/>
            <a:ext cx="6217920" cy="731520"/>
          </a:xfrm>
          <a:prstGeom prst="rect">
            <a:avLst/>
          </a:prstGeom>
          <a:noFill/>
          <a:ln/>
        </p:spPr>
        <p:txBody>
          <a:bodyPr wrap="square" lIns="0" tIns="0" rIns="0" bIns="0" rtlCol="0" anchor="t"/>
          <a:lstStyle/>
          <a:p>
            <a:pPr indent="0" marL="0">
              <a:buNone/>
            </a:pPr>
            <a:r>
              <a:rPr lang="en-US" sz="1500" dirty="0">
                <a:solidFill>
                  <a:schemeClr val="bg2"/>
                </a:solidFill>
              </a:rPr>
              <a:t>Non-neighbours are masked to −∞, so each sensor only attends to roads it is connected to.</a:t>
            </a:r>
            <a:endParaRPr lang="en-US" sz="1500" dirty="0"/>
          </a:p>
        </p:txBody>
      </p:sp>
      <p:sp>
        <p:nvSpPr>
          <p:cNvPr id="26" name="card"/>
          <p:cNvSpPr/>
          <p:nvPr/>
        </p:nvSpPr>
        <p:spPr>
          <a:xfrm>
            <a:off x="7589520" y="3977640"/>
            <a:ext cx="1920240" cy="2194560"/>
          </a:xfrm>
          <a:prstGeom prst="roundRect">
            <a:avLst>
              <a:gd name="adj" fmla="val 5714"/>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27" name="Text 25"/>
          <p:cNvSpPr txBox="1"/>
          <p:nvPr/>
        </p:nvSpPr>
        <p:spPr>
          <a:xfrm>
            <a:off x="7863840" y="4206240"/>
            <a:ext cx="1371600" cy="1097280"/>
          </a:xfrm>
          <a:prstGeom prst="rect">
            <a:avLst/>
          </a:prstGeom>
          <a:noFill/>
          <a:ln/>
        </p:spPr>
        <p:txBody>
          <a:bodyPr wrap="square" lIns="0" tIns="0" rIns="0" bIns="0" rtlCol="0" anchor="ctr"/>
          <a:lstStyle/>
          <a:p>
            <a:pPr indent="0" marL="0">
              <a:buNone/>
            </a:pPr>
            <a:r>
              <a:rPr lang="en-US" sz="3800" b="1" dirty="0">
                <a:solidFill>
                  <a:schemeClr val="accent3"/>
                </a:solidFill>
                <a:latin typeface="Arial" pitchFamily="34" charset="0"/>
                <a:ea typeface="Arial" pitchFamily="34" charset="-122"/>
                <a:cs typeface="Arial" pitchFamily="34" charset="-120"/>
              </a:rPr>
              <a:t>77K</a:t>
            </a:r>
            <a:endParaRPr lang="en-US" sz="3800" dirty="0"/>
          </a:p>
        </p:txBody>
      </p:sp>
      <p:sp>
        <p:nvSpPr>
          <p:cNvPr id="28" name="Text 26"/>
          <p:cNvSpPr txBox="1"/>
          <p:nvPr/>
        </p:nvSpPr>
        <p:spPr>
          <a:xfrm>
            <a:off x="7863840" y="5303520"/>
            <a:ext cx="1371600" cy="777240"/>
          </a:xfrm>
          <a:prstGeom prst="rect">
            <a:avLst/>
          </a:prstGeom>
          <a:noFill/>
          <a:ln/>
        </p:spPr>
        <p:txBody>
          <a:bodyPr wrap="square" lIns="0" tIns="0" rIns="0" bIns="0" rtlCol="0" anchor="t"/>
          <a:lstStyle/>
          <a:p>
            <a:pPr indent="0" marL="0">
              <a:buNone/>
            </a:pPr>
            <a:r>
              <a:rPr lang="en-US" sz="1400" dirty="0">
                <a:solidFill>
                  <a:schemeClr val="bg2"/>
                </a:solidFill>
              </a:rPr>
              <a:t>parameters</a:t>
            </a:r>
            <a:endParaRPr lang="en-US" sz="1400" dirty="0"/>
          </a:p>
        </p:txBody>
      </p:sp>
      <p:sp>
        <p:nvSpPr>
          <p:cNvPr id="29" name="card"/>
          <p:cNvSpPr/>
          <p:nvPr/>
        </p:nvSpPr>
        <p:spPr>
          <a:xfrm>
            <a:off x="9692640" y="3977640"/>
            <a:ext cx="1920240" cy="2194560"/>
          </a:xfrm>
          <a:prstGeom prst="roundRect">
            <a:avLst>
              <a:gd name="adj" fmla="val 5714"/>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30" name="Text 28"/>
          <p:cNvSpPr txBox="1"/>
          <p:nvPr/>
        </p:nvSpPr>
        <p:spPr>
          <a:xfrm>
            <a:off x="9966960" y="4206240"/>
            <a:ext cx="1371600" cy="1097280"/>
          </a:xfrm>
          <a:prstGeom prst="rect">
            <a:avLst/>
          </a:prstGeom>
          <a:noFill/>
          <a:ln/>
        </p:spPr>
        <p:txBody>
          <a:bodyPr wrap="square" lIns="0" tIns="0" rIns="0" bIns="0" rtlCol="0" anchor="ctr"/>
          <a:lstStyle/>
          <a:p>
            <a:pPr indent="0" marL="0">
              <a:buNone/>
            </a:pPr>
            <a:r>
              <a:rPr lang="en-US" sz="3800" b="1" dirty="0">
                <a:solidFill>
                  <a:schemeClr val="accent2"/>
                </a:solidFill>
                <a:latin typeface="Arial" pitchFamily="34" charset="0"/>
                <a:ea typeface="Arial" pitchFamily="34" charset="-122"/>
                <a:cs typeface="Arial" pitchFamily="34" charset="-120"/>
              </a:rPr>
              <a:t>10⁻⁵</a:t>
            </a:r>
            <a:endParaRPr lang="en-US" sz="3800" dirty="0"/>
          </a:p>
        </p:txBody>
      </p:sp>
      <p:sp>
        <p:nvSpPr>
          <p:cNvPr id="31" name="Text 29"/>
          <p:cNvSpPr txBox="1"/>
          <p:nvPr/>
        </p:nvSpPr>
        <p:spPr>
          <a:xfrm>
            <a:off x="9966960" y="5303520"/>
            <a:ext cx="1371600" cy="777240"/>
          </a:xfrm>
          <a:prstGeom prst="rect">
            <a:avLst/>
          </a:prstGeom>
          <a:noFill/>
          <a:ln/>
        </p:spPr>
        <p:txBody>
          <a:bodyPr wrap="square" lIns="0" tIns="0" rIns="0" bIns="0" rtlCol="0" anchor="t"/>
          <a:lstStyle/>
          <a:p>
            <a:pPr indent="0" marL="0">
              <a:buNone/>
            </a:pPr>
            <a:r>
              <a:rPr lang="en-US" sz="1400" dirty="0">
                <a:solidFill>
                  <a:schemeClr val="bg2"/>
                </a:solidFill>
              </a:rPr>
              <a:t>match with PyTorch Geometric</a:t>
            </a:r>
            <a:endParaRPr lang="en-US" sz="14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Making it fit on a laptop</a:t>
            </a:r>
            <a:endParaRPr lang="en-US" sz="3600" dirty="0"/>
          </a:p>
        </p:txBody>
      </p:sp>
      <p:sp>
        <p:nvSpPr>
          <p:cNvPr id="3" name="card"/>
          <p:cNvSpPr/>
          <p:nvPr/>
        </p:nvSpPr>
        <p:spPr>
          <a:xfrm>
            <a:off x="548640" y="1463040"/>
            <a:ext cx="3383280" cy="2743200"/>
          </a:xfrm>
          <a:prstGeom prst="roundRect">
            <a:avLst>
              <a:gd name="adj" fmla="val 4000"/>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4" name="Text 2"/>
          <p:cNvSpPr txBox="1"/>
          <p:nvPr/>
        </p:nvSpPr>
        <p:spPr>
          <a:xfrm>
            <a:off x="822960" y="1645920"/>
            <a:ext cx="2834640" cy="1097280"/>
          </a:xfrm>
          <a:prstGeom prst="rect">
            <a:avLst/>
          </a:prstGeom>
          <a:noFill/>
          <a:ln/>
        </p:spPr>
        <p:txBody>
          <a:bodyPr wrap="square" lIns="0" tIns="0" rIns="0" bIns="0" rtlCol="0" anchor="t"/>
          <a:lstStyle/>
          <a:p>
            <a:pPr indent="0" marL="0">
              <a:buNone/>
            </a:pPr>
            <a:r>
              <a:rPr lang="en-US" sz="6000" b="1" dirty="0">
                <a:solidFill>
                  <a:schemeClr val="accent1"/>
                </a:solidFill>
                <a:latin typeface="Arial" pitchFamily="34" charset="0"/>
                <a:ea typeface="Arial" pitchFamily="34" charset="-122"/>
                <a:cs typeface="Arial" pitchFamily="34" charset="-120"/>
              </a:rPr>
              <a:t>27.1</a:t>
            </a:r>
            <a:endParaRPr lang="en-US" sz="6000" dirty="0"/>
          </a:p>
        </p:txBody>
      </p:sp>
      <p:sp>
        <p:nvSpPr>
          <p:cNvPr id="5" name="Text 3"/>
          <p:cNvSpPr txBox="1"/>
          <p:nvPr/>
        </p:nvSpPr>
        <p:spPr>
          <a:xfrm>
            <a:off x="822960" y="2697480"/>
            <a:ext cx="2834640" cy="365760"/>
          </a:xfrm>
          <a:prstGeom prst="rect">
            <a:avLst/>
          </a:prstGeom>
          <a:noFill/>
          <a:ln/>
        </p:spPr>
        <p:txBody>
          <a:bodyPr wrap="square" lIns="0" tIns="0" rIns="0" bIns="0" rtlCol="0" anchor="t"/>
          <a:lstStyle/>
          <a:p>
            <a:pPr indent="0" marL="0">
              <a:buNone/>
            </a:pPr>
            <a:r>
              <a:rPr lang="en-US" sz="1600" b="1" dirty="0">
                <a:solidFill>
                  <a:schemeClr val="bg1"/>
                </a:solidFill>
              </a:rPr>
              <a:t>min / epoch</a:t>
            </a:r>
            <a:endParaRPr lang="en-US" sz="1600" dirty="0"/>
          </a:p>
        </p:txBody>
      </p:sp>
      <p:sp>
        <p:nvSpPr>
          <p:cNvPr id="6" name="Text 4"/>
          <p:cNvSpPr txBox="1"/>
          <p:nvPr/>
        </p:nvSpPr>
        <p:spPr>
          <a:xfrm>
            <a:off x="822960" y="3108960"/>
            <a:ext cx="2834640" cy="1005840"/>
          </a:xfrm>
          <a:prstGeom prst="rect">
            <a:avLst/>
          </a:prstGeom>
          <a:noFill/>
          <a:ln/>
        </p:spPr>
        <p:txBody>
          <a:bodyPr wrap="square" lIns="0" tIns="0" rIns="0" bIns="0" rtlCol="0" anchor="t"/>
          <a:lstStyle/>
          <a:p>
            <a:pPr indent="0" marL="0">
              <a:buNone/>
            </a:pPr>
            <a:r>
              <a:rPr lang="en-US" sz="1400" dirty="0">
                <a:solidFill>
                  <a:schemeClr val="bg2"/>
                </a:solidFill>
              </a:rPr>
              <a:t>dense attention on CPU</a:t>
            </a:r>
            <a:endParaRPr lang="en-US" sz="1400" dirty="0"/>
          </a:p>
        </p:txBody>
      </p:sp>
      <p:sp>
        <p:nvSpPr>
          <p:cNvPr id="7" name="Shape 5"/>
          <p:cNvSpPr/>
          <p:nvPr/>
        </p:nvSpPr>
        <p:spPr>
          <a:xfrm>
            <a:off x="3977640" y="2834640"/>
            <a:ext cx="365760" cy="914"/>
          </a:xfrm>
          <a:prstGeom prst="line">
            <a:avLst/>
          </a:prstGeom>
          <a:noFill/>
          <a:ln w="25400">
            <a:solidFill>
              <a:srgbClr val="AEB8D0"/>
            </a:solidFill>
            <a:prstDash val="solid"/>
            <a:tailEnd type="triangle"/>
          </a:ln>
        </p:spPr>
      </p:sp>
      <p:sp>
        <p:nvSpPr>
          <p:cNvPr id="8" name="card"/>
          <p:cNvSpPr/>
          <p:nvPr/>
        </p:nvSpPr>
        <p:spPr>
          <a:xfrm>
            <a:off x="4389120" y="1463040"/>
            <a:ext cx="3383280" cy="2743200"/>
          </a:xfrm>
          <a:prstGeom prst="roundRect">
            <a:avLst>
              <a:gd name="adj" fmla="val 4000"/>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9" name="Text 7"/>
          <p:cNvSpPr txBox="1"/>
          <p:nvPr/>
        </p:nvSpPr>
        <p:spPr>
          <a:xfrm>
            <a:off x="4663440" y="1645920"/>
            <a:ext cx="2834640" cy="1097280"/>
          </a:xfrm>
          <a:prstGeom prst="rect">
            <a:avLst/>
          </a:prstGeom>
          <a:noFill/>
          <a:ln/>
        </p:spPr>
        <p:txBody>
          <a:bodyPr wrap="square" lIns="0" tIns="0" rIns="0" bIns="0" rtlCol="0" anchor="t"/>
          <a:lstStyle/>
          <a:p>
            <a:pPr indent="0" marL="0">
              <a:buNone/>
            </a:pPr>
            <a:r>
              <a:rPr lang="en-US" sz="6000" b="1" dirty="0">
                <a:solidFill>
                  <a:schemeClr val="accent2"/>
                </a:solidFill>
                <a:latin typeface="Arial" pitchFamily="34" charset="0"/>
                <a:ea typeface="Arial" pitchFamily="34" charset="-122"/>
                <a:cs typeface="Arial" pitchFamily="34" charset="-120"/>
              </a:rPr>
              <a:t>3.7</a:t>
            </a:r>
            <a:endParaRPr lang="en-US" sz="6000" dirty="0"/>
          </a:p>
        </p:txBody>
      </p:sp>
      <p:sp>
        <p:nvSpPr>
          <p:cNvPr id="10" name="Text 8"/>
          <p:cNvSpPr txBox="1"/>
          <p:nvPr/>
        </p:nvSpPr>
        <p:spPr>
          <a:xfrm>
            <a:off x="4663440" y="2697480"/>
            <a:ext cx="2834640" cy="365760"/>
          </a:xfrm>
          <a:prstGeom prst="rect">
            <a:avLst/>
          </a:prstGeom>
          <a:noFill/>
          <a:ln/>
        </p:spPr>
        <p:txBody>
          <a:bodyPr wrap="square" lIns="0" tIns="0" rIns="0" bIns="0" rtlCol="0" anchor="t"/>
          <a:lstStyle/>
          <a:p>
            <a:pPr indent="0" marL="0">
              <a:buNone/>
            </a:pPr>
            <a:r>
              <a:rPr lang="en-US" sz="1600" b="1" dirty="0">
                <a:solidFill>
                  <a:schemeClr val="bg1"/>
                </a:solidFill>
              </a:rPr>
              <a:t>min / epoch</a:t>
            </a:r>
            <a:endParaRPr lang="en-US" sz="1600" dirty="0"/>
          </a:p>
        </p:txBody>
      </p:sp>
      <p:sp>
        <p:nvSpPr>
          <p:cNvPr id="11" name="Text 9"/>
          <p:cNvSpPr txBox="1"/>
          <p:nvPr/>
        </p:nvSpPr>
        <p:spPr>
          <a:xfrm>
            <a:off x="4663440" y="3108960"/>
            <a:ext cx="2834640" cy="1005840"/>
          </a:xfrm>
          <a:prstGeom prst="rect">
            <a:avLst/>
          </a:prstGeom>
          <a:noFill/>
          <a:ln/>
        </p:spPr>
        <p:txBody>
          <a:bodyPr wrap="square" lIns="0" tIns="0" rIns="0" bIns="0" rtlCol="0" anchor="t"/>
          <a:lstStyle/>
          <a:p>
            <a:pPr indent="0" marL="0">
              <a:buNone/>
            </a:pPr>
            <a:r>
              <a:rPr lang="en-US" sz="1400" dirty="0">
                <a:solidFill>
                  <a:schemeClr val="bg2"/>
                </a:solidFill>
              </a:rPr>
              <a:t>same model on the Apple GPU (MPS)</a:t>
            </a:r>
            <a:endParaRPr lang="en-US" sz="1400" dirty="0"/>
          </a:p>
        </p:txBody>
      </p:sp>
      <p:sp>
        <p:nvSpPr>
          <p:cNvPr id="12" name="Shape 10"/>
          <p:cNvSpPr/>
          <p:nvPr/>
        </p:nvSpPr>
        <p:spPr>
          <a:xfrm>
            <a:off x="7818120" y="2834640"/>
            <a:ext cx="365760" cy="914"/>
          </a:xfrm>
          <a:prstGeom prst="line">
            <a:avLst/>
          </a:prstGeom>
          <a:noFill/>
          <a:ln w="25400">
            <a:solidFill>
              <a:srgbClr val="AEB8D0"/>
            </a:solidFill>
            <a:prstDash val="solid"/>
            <a:tailEnd type="triangle"/>
          </a:ln>
        </p:spPr>
      </p:sp>
      <p:sp>
        <p:nvSpPr>
          <p:cNvPr id="13" name="card"/>
          <p:cNvSpPr/>
          <p:nvPr/>
        </p:nvSpPr>
        <p:spPr>
          <a:xfrm>
            <a:off x="8229600" y="1463040"/>
            <a:ext cx="3383280" cy="2743200"/>
          </a:xfrm>
          <a:prstGeom prst="roundRect">
            <a:avLst>
              <a:gd name="adj" fmla="val 4000"/>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14" name="Text 12"/>
          <p:cNvSpPr txBox="1"/>
          <p:nvPr/>
        </p:nvSpPr>
        <p:spPr>
          <a:xfrm>
            <a:off x="8503920" y="1645920"/>
            <a:ext cx="2834640" cy="1097280"/>
          </a:xfrm>
          <a:prstGeom prst="rect">
            <a:avLst/>
          </a:prstGeom>
          <a:noFill/>
          <a:ln/>
        </p:spPr>
        <p:txBody>
          <a:bodyPr wrap="square" lIns="0" tIns="0" rIns="0" bIns="0" rtlCol="0" anchor="t"/>
          <a:lstStyle/>
          <a:p>
            <a:pPr indent="0" marL="0">
              <a:buNone/>
            </a:pPr>
            <a:r>
              <a:rPr lang="en-US" sz="6000" b="1" dirty="0">
                <a:solidFill>
                  <a:schemeClr val="accent3"/>
                </a:solidFill>
                <a:latin typeface="Arial" pitchFamily="34" charset="0"/>
                <a:ea typeface="Arial" pitchFamily="34" charset="-122"/>
                <a:cs typeface="Arial" pitchFamily="34" charset="-120"/>
              </a:rPr>
              <a:t>0.6</a:t>
            </a:r>
            <a:endParaRPr lang="en-US" sz="6000" dirty="0"/>
          </a:p>
        </p:txBody>
      </p:sp>
      <p:sp>
        <p:nvSpPr>
          <p:cNvPr id="15" name="Text 13"/>
          <p:cNvSpPr txBox="1"/>
          <p:nvPr/>
        </p:nvSpPr>
        <p:spPr>
          <a:xfrm>
            <a:off x="8503920" y="2697480"/>
            <a:ext cx="2834640" cy="365760"/>
          </a:xfrm>
          <a:prstGeom prst="rect">
            <a:avLst/>
          </a:prstGeom>
          <a:noFill/>
          <a:ln/>
        </p:spPr>
        <p:txBody>
          <a:bodyPr wrap="square" lIns="0" tIns="0" rIns="0" bIns="0" rtlCol="0" anchor="t"/>
          <a:lstStyle/>
          <a:p>
            <a:pPr indent="0" marL="0">
              <a:buNone/>
            </a:pPr>
            <a:r>
              <a:rPr lang="en-US" sz="1600" b="1" dirty="0">
                <a:solidFill>
                  <a:schemeClr val="bg1"/>
                </a:solidFill>
              </a:rPr>
              <a:t>min / epoch</a:t>
            </a:r>
            <a:endParaRPr lang="en-US" sz="1600" dirty="0"/>
          </a:p>
        </p:txBody>
      </p:sp>
      <p:sp>
        <p:nvSpPr>
          <p:cNvPr id="16" name="Text 14"/>
          <p:cNvSpPr txBox="1"/>
          <p:nvPr/>
        </p:nvSpPr>
        <p:spPr>
          <a:xfrm>
            <a:off x="8503920" y="3108960"/>
            <a:ext cx="2834640" cy="1005840"/>
          </a:xfrm>
          <a:prstGeom prst="rect">
            <a:avLst/>
          </a:prstGeom>
          <a:noFill/>
          <a:ln/>
        </p:spPr>
        <p:txBody>
          <a:bodyPr wrap="square" lIns="0" tIns="0" rIns="0" bIns="0" rtlCol="0" anchor="t"/>
          <a:lstStyle/>
          <a:p>
            <a:pPr indent="0" marL="0">
              <a:buNone/>
            </a:pPr>
            <a:r>
              <a:rPr lang="en-US" sz="1400" dirty="0">
                <a:solidFill>
                  <a:schemeClr val="bg2"/>
                </a:solidFill>
              </a:rPr>
              <a:t>attention on the last 4 steps + a third of windows per epoch</a:t>
            </a:r>
            <a:endParaRPr lang="en-US" sz="1400" dirty="0"/>
          </a:p>
        </p:txBody>
      </p:sp>
      <p:sp>
        <p:nvSpPr>
          <p:cNvPr id="17" name="card"/>
          <p:cNvSpPr/>
          <p:nvPr/>
        </p:nvSpPr>
        <p:spPr>
          <a:xfrm>
            <a:off x="548640" y="4480560"/>
            <a:ext cx="11064240" cy="1691640"/>
          </a:xfrm>
          <a:prstGeom prst="roundRect">
            <a:avLst>
              <a:gd name="adj" fmla="val 6486"/>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18" name="Text 16"/>
          <p:cNvSpPr txBox="1"/>
          <p:nvPr/>
        </p:nvSpPr>
        <p:spPr>
          <a:xfrm>
            <a:off x="868680" y="4709160"/>
            <a:ext cx="10424160" cy="137160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bg1"/>
                </a:solidFill>
              </a:rPr>
              <a:t>A neighbour-list (sparse) attention gave no speed-up — memory gathers dominate — so we simplified the schedule instead</a:t>
            </a:r>
            <a:endParaRPr lang="en-US" sz="1600" dirty="0"/>
          </a:p>
          <a:p>
            <a:pPr marL="228600" indent="-228600">
              <a:spcAft>
                <a:spcPts val="800"/>
              </a:spcAft>
              <a:buSzPct val="100000"/>
              <a:buChar char="•"/>
            </a:pPr>
            <a:r>
              <a:rPr lang="en-US" sz="1600" dirty="0">
                <a:solidFill>
                  <a:schemeClr val="bg1"/>
                </a:solidFill>
              </a:rPr>
              <a:t>≈ 28 minutes per seed, 3 seeds; jobs at low priority with capped threads so the laptop stayed usable</a:t>
            </a:r>
            <a:endParaRPr lang="en-US" sz="16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Graph vs. no graph</a:t>
            </a:r>
            <a:endParaRPr lang="en-US" sz="3600" dirty="0"/>
          </a:p>
        </p:txBody>
      </p:sp>
      <p:graphicFrame>
        <p:nvGraphicFramePr>
          <p:cNvPr id="3" name="Chart 0" descr=""/>
          <p:cNvGraphicFramePr/>
          <p:nvPr/>
        </p:nvGraphicFramePr>
        <p:xfrm>
          <a:off x="548640" y="1417320"/>
          <a:ext cx="7132320" cy="4754880"/>
        </p:xfrm>
        <a:graphic xmlns:a="http://schemas.openxmlformats.org/drawingml/2006/main">
          <a:graphicData uri="http://schemas.openxmlformats.org/drawingml/2006/chart">
            <c:chart xmlns:c="http://schemas.openxmlformats.org/drawingml/2006/chart" r:id="rId1"/>
          </a:graphicData>
        </a:graphic>
      </p:graphicFrame>
      <p:sp>
        <p:nvSpPr>
          <p:cNvPr id="4" name="card"/>
          <p:cNvSpPr/>
          <p:nvPr/>
        </p:nvSpPr>
        <p:spPr>
          <a:xfrm>
            <a:off x="7955280" y="1417320"/>
            <a:ext cx="3657600" cy="1463040"/>
          </a:xfrm>
          <a:prstGeom prst="roundRect">
            <a:avLst>
              <a:gd name="adj" fmla="val 7500"/>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5" name="Text 2"/>
          <p:cNvSpPr txBox="1"/>
          <p:nvPr/>
        </p:nvSpPr>
        <p:spPr>
          <a:xfrm>
            <a:off x="8229600" y="1645920"/>
            <a:ext cx="3108960" cy="731520"/>
          </a:xfrm>
          <a:prstGeom prst="rect">
            <a:avLst/>
          </a:prstGeom>
          <a:noFill/>
          <a:ln/>
        </p:spPr>
        <p:txBody>
          <a:bodyPr wrap="square" lIns="0" tIns="0" rIns="0" bIns="0" rtlCol="0" anchor="ctr"/>
          <a:lstStyle/>
          <a:p>
            <a:pPr indent="0" marL="0">
              <a:buNone/>
            </a:pPr>
            <a:r>
              <a:rPr lang="en-US" sz="3200" b="1" dirty="0">
                <a:solidFill>
                  <a:schemeClr val="accent5"/>
                </a:solidFill>
                <a:latin typeface="Arial" pitchFamily="34" charset="0"/>
                <a:ea typeface="Arial" pitchFamily="34" charset="-122"/>
                <a:cs typeface="Arial" pitchFamily="34" charset="-120"/>
              </a:rPr>
              <a:t>2.90 vs 2.89</a:t>
            </a:r>
            <a:endParaRPr lang="en-US" sz="3200" dirty="0"/>
          </a:p>
        </p:txBody>
      </p:sp>
      <p:sp>
        <p:nvSpPr>
          <p:cNvPr id="6" name="Text 3"/>
          <p:cNvSpPr txBox="1"/>
          <p:nvPr/>
        </p:nvSpPr>
        <p:spPr>
          <a:xfrm>
            <a:off x="8229600" y="2377440"/>
            <a:ext cx="3108960" cy="411480"/>
          </a:xfrm>
          <a:prstGeom prst="rect">
            <a:avLst/>
          </a:prstGeom>
          <a:noFill/>
          <a:ln/>
        </p:spPr>
        <p:txBody>
          <a:bodyPr wrap="square" lIns="0" tIns="0" rIns="0" bIns="0" rtlCol="0" anchor="t"/>
          <a:lstStyle/>
          <a:p>
            <a:pPr indent="0" marL="0">
              <a:buNone/>
            </a:pPr>
            <a:r>
              <a:rPr lang="en-US" sz="1400" dirty="0">
                <a:solidFill>
                  <a:schemeClr val="bg2"/>
                </a:solidFill>
              </a:rPr>
              <a:t>15 min: a tie — the graph adds nothing yet</a:t>
            </a:r>
            <a:endParaRPr lang="en-US" sz="1400" dirty="0"/>
          </a:p>
        </p:txBody>
      </p:sp>
      <p:sp>
        <p:nvSpPr>
          <p:cNvPr id="7" name="card"/>
          <p:cNvSpPr/>
          <p:nvPr/>
        </p:nvSpPr>
        <p:spPr>
          <a:xfrm>
            <a:off x="7955280" y="3063240"/>
            <a:ext cx="3657600" cy="1463040"/>
          </a:xfrm>
          <a:prstGeom prst="roundRect">
            <a:avLst>
              <a:gd name="adj" fmla="val 7500"/>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8" name="Text 5"/>
          <p:cNvSpPr txBox="1"/>
          <p:nvPr/>
        </p:nvSpPr>
        <p:spPr>
          <a:xfrm>
            <a:off x="8229600" y="3291840"/>
            <a:ext cx="3108960" cy="731520"/>
          </a:xfrm>
          <a:prstGeom prst="rect">
            <a:avLst/>
          </a:prstGeom>
          <a:noFill/>
          <a:ln/>
        </p:spPr>
        <p:txBody>
          <a:bodyPr wrap="square" lIns="0" tIns="0" rIns="0" bIns="0" rtlCol="0" anchor="ctr"/>
          <a:lstStyle/>
          <a:p>
            <a:pPr indent="0" marL="0">
              <a:buNone/>
            </a:pPr>
            <a:r>
              <a:rPr lang="en-US" sz="3200" b="1" dirty="0">
                <a:solidFill>
                  <a:schemeClr val="accent3"/>
                </a:solidFill>
                <a:latin typeface="Arial" pitchFamily="34" charset="0"/>
                <a:ea typeface="Arial" pitchFamily="34" charset="-122"/>
                <a:cs typeface="Arial" pitchFamily="34" charset="-120"/>
              </a:rPr>
              <a:t>3.67 vs 3.76</a:t>
            </a:r>
            <a:endParaRPr lang="en-US" sz="3200" dirty="0"/>
          </a:p>
        </p:txBody>
      </p:sp>
      <p:sp>
        <p:nvSpPr>
          <p:cNvPr id="9" name="Text 6"/>
          <p:cNvSpPr txBox="1"/>
          <p:nvPr/>
        </p:nvSpPr>
        <p:spPr>
          <a:xfrm>
            <a:off x="8229600" y="4023360"/>
            <a:ext cx="3108960" cy="411480"/>
          </a:xfrm>
          <a:prstGeom prst="rect">
            <a:avLst/>
          </a:prstGeom>
          <a:noFill/>
          <a:ln/>
        </p:spPr>
        <p:txBody>
          <a:bodyPr wrap="square" lIns="0" tIns="0" rIns="0" bIns="0" rtlCol="0" anchor="t"/>
          <a:lstStyle/>
          <a:p>
            <a:pPr indent="0" marL="0">
              <a:buNone/>
            </a:pPr>
            <a:r>
              <a:rPr lang="en-US" sz="1400" dirty="0">
                <a:solidFill>
                  <a:schemeClr val="bg2"/>
                </a:solidFill>
              </a:rPr>
              <a:t>60 min: graph wins, statistically significant</a:t>
            </a:r>
            <a:endParaRPr lang="en-US" sz="1400" dirty="0"/>
          </a:p>
        </p:txBody>
      </p:sp>
      <p:sp>
        <p:nvSpPr>
          <p:cNvPr id="10" name="card"/>
          <p:cNvSpPr/>
          <p:nvPr/>
        </p:nvSpPr>
        <p:spPr>
          <a:xfrm>
            <a:off x="7955280" y="4709160"/>
            <a:ext cx="3657600" cy="1463040"/>
          </a:xfrm>
          <a:prstGeom prst="roundRect">
            <a:avLst>
              <a:gd name="adj" fmla="val 7500"/>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11" name="Text 8"/>
          <p:cNvSpPr txBox="1"/>
          <p:nvPr/>
        </p:nvSpPr>
        <p:spPr>
          <a:xfrm>
            <a:off x="8229600" y="4846320"/>
            <a:ext cx="3108960" cy="1188720"/>
          </a:xfrm>
          <a:prstGeom prst="rect">
            <a:avLst/>
          </a:prstGeom>
          <a:noFill/>
          <a:ln/>
        </p:spPr>
        <p:txBody>
          <a:bodyPr wrap="square" lIns="0" tIns="0" rIns="0" bIns="0" rtlCol="0" anchor="ctr"/>
          <a:lstStyle/>
          <a:p>
            <a:pPr indent="0" marL="0">
              <a:buNone/>
            </a:pPr>
            <a:r>
              <a:rPr lang="en-US" sz="1500" dirty="0">
                <a:solidFill>
                  <a:schemeClr val="bg2"/>
                </a:solidFill>
              </a:rPr>
              <a:t>Same inputs, width and decoder (77K vs 69K params) — so the gap is the graph.</a:t>
            </a:r>
            <a:endParaRPr lang="en-US" sz="15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731520" y="1737360"/>
            <a:ext cx="7315200" cy="457200"/>
          </a:xfrm>
          <a:prstGeom prst="rect">
            <a:avLst/>
          </a:prstGeom>
          <a:noFill/>
          <a:ln/>
        </p:spPr>
        <p:txBody>
          <a:bodyPr wrap="square" lIns="0" tIns="0" rIns="0" bIns="0" rtlCol="0"/>
          <a:lstStyle/>
          <a:p>
            <a:pPr algn="l" indent="0" marL="0">
              <a:buNone/>
            </a:pPr>
            <a:r>
              <a:rPr lang="en-US" sz="1600" b="1" spc="400" kern="0" dirty="0">
                <a:solidFill>
                  <a:schemeClr val="accent2"/>
                </a:solidFill>
              </a:rPr>
              <a:t>CHAPTER 05</a:t>
            </a:r>
            <a:endParaRPr lang="en-US" sz="1600" dirty="0"/>
          </a:p>
        </p:txBody>
      </p:sp>
      <p:sp>
        <p:nvSpPr>
          <p:cNvPr id="3" name="Text 0"/>
          <p:cNvSpPr/>
          <p:nvPr>
            <p:ph idx="101" type="title" hasCustomPrompt="1"/>
          </p:nvPr>
        </p:nvSpPr>
        <p:spPr>
          <a:xfrm>
            <a:off x="731520" y="2194560"/>
            <a:ext cx="10698480" cy="1280160"/>
          </a:xfrm>
          <a:prstGeom prst="rect">
            <a:avLst/>
          </a:prstGeom>
          <a:noFill/>
          <a:ln/>
        </p:spPr>
        <p:txBody>
          <a:bodyPr wrap="square" lIns="0" tIns="0" rIns="0" bIns="0" rtlCol="0" anchor="t"/>
          <a:lstStyle/>
          <a:p>
            <a:pPr algn="l" indent="0" marL="0">
              <a:buNone/>
            </a:pPr>
            <a:r>
              <a:rPr lang="en-US" sz="5000" b="1" dirty="0">
                <a:solidFill>
                  <a:schemeClr val="bg1"/>
                </a:solidFill>
              </a:rPr>
              <a:t>Two minds are better than one</a:t>
            </a:r>
            <a:endParaRPr lang="en-US" sz="5000" dirty="0"/>
          </a:p>
        </p:txBody>
      </p:sp>
      <p:sp>
        <p:nvSpPr>
          <p:cNvPr id="4" name="Text 0"/>
          <p:cNvSpPr/>
          <p:nvPr>
            <p:ph idx="102" type="body" hasCustomPrompt="1"/>
          </p:nvPr>
        </p:nvSpPr>
        <p:spPr>
          <a:xfrm>
            <a:off x="731520" y="3520440"/>
            <a:ext cx="9601200" cy="1097280"/>
          </a:xfrm>
          <a:prstGeom prst="rect">
            <a:avLst/>
          </a:prstGeom>
          <a:noFill/>
          <a:ln/>
        </p:spPr>
        <p:txBody>
          <a:bodyPr wrap="square" lIns="0" tIns="0" rIns="0" bIns="0" rtlCol="0" anchor="t"/>
          <a:lstStyle/>
          <a:p>
            <a:pPr algn="l" indent="0" marL="0">
              <a:buNone/>
            </a:pPr>
            <a:r>
              <a:rPr lang="en-US" sz="2200" dirty="0">
                <a:solidFill>
                  <a:schemeClr val="bg2"/>
                </a:solidFill>
              </a:rPr>
              <a:t>Let the trees handle the clock and the graph handle the neighbours.</a:t>
            </a:r>
            <a:endParaRPr lang="en-US" sz="2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The residual hybrid — and the leak we avoided</a:t>
            </a:r>
            <a:endParaRPr lang="en-US" sz="3600" dirty="0"/>
          </a:p>
        </p:txBody>
      </p:sp>
      <p:sp>
        <p:nvSpPr>
          <p:cNvPr id="3" name="card"/>
          <p:cNvSpPr/>
          <p:nvPr/>
        </p:nvSpPr>
        <p:spPr>
          <a:xfrm>
            <a:off x="548640" y="1417320"/>
            <a:ext cx="4754880" cy="4754880"/>
          </a:xfrm>
          <a:prstGeom prst="roundRect">
            <a:avLst>
              <a:gd name="adj" fmla="val 2308"/>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4" name="Text 2"/>
          <p:cNvSpPr txBox="1"/>
          <p:nvPr/>
        </p:nvSpPr>
        <p:spPr>
          <a:xfrm>
            <a:off x="868680" y="1691640"/>
            <a:ext cx="4206240" cy="320040"/>
          </a:xfrm>
          <a:prstGeom prst="rect">
            <a:avLst/>
          </a:prstGeom>
          <a:noFill/>
          <a:ln/>
        </p:spPr>
        <p:txBody>
          <a:bodyPr wrap="square" lIns="0" tIns="0" rIns="0" bIns="0" rtlCol="0" anchor="t"/>
          <a:lstStyle/>
          <a:p>
            <a:pPr indent="0" marL="0">
              <a:buNone/>
            </a:pPr>
            <a:r>
              <a:rPr lang="en-US" sz="1400" b="1" spc="300" kern="0" dirty="0">
                <a:solidFill>
                  <a:schemeClr val="accent2"/>
                </a:solidFill>
              </a:rPr>
              <a:t>IDEA</a:t>
            </a:r>
            <a:endParaRPr lang="en-US" sz="1400" dirty="0"/>
          </a:p>
        </p:txBody>
      </p:sp>
      <p:sp>
        <p:nvSpPr>
          <p:cNvPr id="5" name="Text 3"/>
          <p:cNvSpPr txBox="1"/>
          <p:nvPr/>
        </p:nvSpPr>
        <p:spPr>
          <a:xfrm>
            <a:off x="868680" y="2103120"/>
            <a:ext cx="4206240" cy="548640"/>
          </a:xfrm>
          <a:prstGeom prst="rect">
            <a:avLst/>
          </a:prstGeom>
          <a:noFill/>
          <a:ln/>
        </p:spPr>
        <p:txBody>
          <a:bodyPr wrap="square" lIns="0" tIns="0" rIns="0" bIns="0" rtlCol="0" anchor="t"/>
          <a:lstStyle/>
          <a:p>
            <a:pPr indent="0" marL="0">
              <a:buNone/>
            </a:pPr>
            <a:r>
              <a:rPr lang="en-US" sz="1800" dirty="0">
                <a:solidFill>
                  <a:schemeClr val="bg1"/>
                </a:solidFill>
                <a:latin typeface="Cambria" pitchFamily="34" charset="0"/>
                <a:ea typeface="Cambria" pitchFamily="34" charset="-122"/>
                <a:cs typeface="Cambria" pitchFamily="34" charset="-120"/>
              </a:rPr>
              <a:t>ŷ = ŷ_XGB + g_θ(history, ŷ_XGB, graph)</a:t>
            </a:r>
            <a:endParaRPr lang="en-US" sz="1800" dirty="0"/>
          </a:p>
        </p:txBody>
      </p:sp>
      <p:sp>
        <p:nvSpPr>
          <p:cNvPr id="6" name="Text 4"/>
          <p:cNvSpPr txBox="1"/>
          <p:nvPr/>
        </p:nvSpPr>
        <p:spPr>
          <a:xfrm>
            <a:off x="868680" y="2834640"/>
            <a:ext cx="4206240" cy="320040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bg1"/>
                </a:solidFill>
              </a:rPr>
              <a:t>STGAT learns only what XGBoost misses</a:t>
            </a:r>
            <a:endParaRPr lang="en-US" sz="1500" dirty="0"/>
          </a:p>
          <a:p>
            <a:pPr marL="228600" indent="-228600">
              <a:spcAft>
                <a:spcPts val="800"/>
              </a:spcAft>
              <a:buSzPct val="100000"/>
              <a:buChar char="•"/>
            </a:pPr>
            <a:r>
              <a:rPr lang="en-US" sz="1500" dirty="0">
                <a:solidFill>
                  <a:schemeClr val="bg1"/>
                </a:solidFill>
              </a:rPr>
              <a:t>Last layer starts at zero → training begins exactly at the XGBoost forecast</a:t>
            </a:r>
            <a:endParaRPr lang="en-US" sz="1500" dirty="0"/>
          </a:p>
          <a:p>
            <a:pPr marL="228600" indent="-228600">
              <a:spcAft>
                <a:spcPts val="800"/>
              </a:spcAft>
              <a:buSzPct val="100000"/>
              <a:buChar char="•"/>
            </a:pPr>
            <a:r>
              <a:rPr lang="en-US" sz="1500" dirty="0">
                <a:solidFill>
                  <a:schemeClr val="bg1"/>
                </a:solidFill>
              </a:rPr>
              <a:t>Residuals must be out-of-fold: in-sample tree errors are unrealistically small</a:t>
            </a:r>
            <a:endParaRPr lang="en-US" sz="1500" dirty="0"/>
          </a:p>
        </p:txBody>
      </p:sp>
      <p:sp>
        <p:nvSpPr>
          <p:cNvPr id="7" name="Text 5"/>
          <p:cNvSpPr txBox="1"/>
          <p:nvPr/>
        </p:nvSpPr>
        <p:spPr>
          <a:xfrm>
            <a:off x="5623560" y="1463040"/>
            <a:ext cx="5943600" cy="320040"/>
          </a:xfrm>
          <a:prstGeom prst="rect">
            <a:avLst/>
          </a:prstGeom>
          <a:noFill/>
          <a:ln/>
        </p:spPr>
        <p:txBody>
          <a:bodyPr wrap="square" lIns="0" tIns="0" rIns="0" bIns="0" rtlCol="0" anchor="t"/>
          <a:lstStyle/>
          <a:p>
            <a:pPr indent="0" marL="0">
              <a:buNone/>
            </a:pPr>
            <a:r>
              <a:rPr lang="en-US" sz="1400" b="1" spc="200" kern="0" dirty="0">
                <a:solidFill>
                  <a:schemeClr val="accent2"/>
                </a:solidFill>
              </a:rPr>
              <a:t>FORWARD-CHAINING OUT-OF-FOLD FORECASTS</a:t>
            </a:r>
            <a:endParaRPr lang="en-US" sz="1400" dirty="0"/>
          </a:p>
        </p:txBody>
      </p:sp>
      <p:sp>
        <p:nvSpPr>
          <p:cNvPr id="8" name="Shape 6"/>
          <p:cNvSpPr/>
          <p:nvPr/>
        </p:nvSpPr>
        <p:spPr>
          <a:xfrm>
            <a:off x="5623560" y="1965960"/>
            <a:ext cx="1143000" cy="566928"/>
          </a:xfrm>
          <a:prstGeom prst="roundRect">
            <a:avLst>
              <a:gd name="adj" fmla="val 9677"/>
            </a:avLst>
          </a:prstGeom>
          <a:solidFill>
            <a:schemeClr val="accent5">
              <a:alpha val="70000"/>
            </a:schemeClr>
          </a:solidFill>
          <a:ln w="12700">
            <a:solidFill>
              <a:schemeClr val="accent5">
                <a:alpha val="0"/>
              </a:schemeClr>
            </a:solidFill>
            <a:prstDash val="solid"/>
          </a:ln>
        </p:spPr>
      </p:sp>
      <p:sp>
        <p:nvSpPr>
          <p:cNvPr id="9" name="Text 7"/>
          <p:cNvSpPr txBox="1"/>
          <p:nvPr/>
        </p:nvSpPr>
        <p:spPr>
          <a:xfrm>
            <a:off x="5623560" y="1965960"/>
            <a:ext cx="1143000" cy="566928"/>
          </a:xfrm>
          <a:prstGeom prst="rect">
            <a:avLst/>
          </a:prstGeom>
          <a:noFill/>
          <a:ln/>
        </p:spPr>
        <p:txBody>
          <a:bodyPr wrap="square" lIns="0" tIns="0" rIns="0" bIns="0" rtlCol="0" anchor="ctr"/>
          <a:lstStyle/>
          <a:p>
            <a:pPr algn="ctr" indent="0" marL="0">
              <a:buNone/>
            </a:pPr>
            <a:r>
              <a:rPr lang="en-US" sz="1300" b="1" dirty="0">
                <a:solidFill>
                  <a:schemeClr val="bg1"/>
                </a:solidFill>
              </a:rPr>
              <a:t>dropped</a:t>
            </a:r>
            <a:endParaRPr lang="en-US" sz="1300" dirty="0"/>
          </a:p>
        </p:txBody>
      </p:sp>
      <p:sp>
        <p:nvSpPr>
          <p:cNvPr id="10" name="Shape 8"/>
          <p:cNvSpPr/>
          <p:nvPr/>
        </p:nvSpPr>
        <p:spPr>
          <a:xfrm>
            <a:off x="6812280" y="1965960"/>
            <a:ext cx="1143000" cy="566928"/>
          </a:xfrm>
          <a:prstGeom prst="roundRect">
            <a:avLst>
              <a:gd name="adj" fmla="val 9677"/>
            </a:avLst>
          </a:prstGeom>
          <a:solidFill>
            <a:schemeClr val="accent5">
              <a:alpha val="20000"/>
            </a:schemeClr>
          </a:solidFill>
          <a:ln w="12700">
            <a:solidFill>
              <a:schemeClr val="accent5">
                <a:alpha val="0"/>
              </a:schemeClr>
            </a:solidFill>
            <a:prstDash val="solid"/>
          </a:ln>
        </p:spPr>
      </p:sp>
      <p:sp>
        <p:nvSpPr>
          <p:cNvPr id="11" name="Shape 9"/>
          <p:cNvSpPr/>
          <p:nvPr/>
        </p:nvSpPr>
        <p:spPr>
          <a:xfrm>
            <a:off x="8001000" y="1965960"/>
            <a:ext cx="1143000" cy="566928"/>
          </a:xfrm>
          <a:prstGeom prst="roundRect">
            <a:avLst>
              <a:gd name="adj" fmla="val 9677"/>
            </a:avLst>
          </a:prstGeom>
          <a:solidFill>
            <a:schemeClr val="accent5">
              <a:alpha val="20000"/>
            </a:schemeClr>
          </a:solidFill>
          <a:ln w="12700">
            <a:solidFill>
              <a:schemeClr val="accent5">
                <a:alpha val="0"/>
              </a:schemeClr>
            </a:solidFill>
            <a:prstDash val="solid"/>
          </a:ln>
        </p:spPr>
      </p:sp>
      <p:sp>
        <p:nvSpPr>
          <p:cNvPr id="12" name="Shape 10"/>
          <p:cNvSpPr/>
          <p:nvPr/>
        </p:nvSpPr>
        <p:spPr>
          <a:xfrm>
            <a:off x="9189720" y="1965960"/>
            <a:ext cx="1143000" cy="566928"/>
          </a:xfrm>
          <a:prstGeom prst="roundRect">
            <a:avLst>
              <a:gd name="adj" fmla="val 9677"/>
            </a:avLst>
          </a:prstGeom>
          <a:solidFill>
            <a:schemeClr val="accent5">
              <a:alpha val="20000"/>
            </a:schemeClr>
          </a:solidFill>
          <a:ln w="12700">
            <a:solidFill>
              <a:schemeClr val="accent5">
                <a:alpha val="0"/>
              </a:schemeClr>
            </a:solidFill>
            <a:prstDash val="solid"/>
          </a:ln>
        </p:spPr>
      </p:sp>
      <p:sp>
        <p:nvSpPr>
          <p:cNvPr id="13" name="Shape 11"/>
          <p:cNvSpPr/>
          <p:nvPr/>
        </p:nvSpPr>
        <p:spPr>
          <a:xfrm>
            <a:off x="10378440" y="1965960"/>
            <a:ext cx="1143000" cy="566928"/>
          </a:xfrm>
          <a:prstGeom prst="roundRect">
            <a:avLst>
              <a:gd name="adj" fmla="val 9677"/>
            </a:avLst>
          </a:prstGeom>
          <a:solidFill>
            <a:schemeClr val="accent5">
              <a:alpha val="20000"/>
            </a:schemeClr>
          </a:solidFill>
          <a:ln w="12700">
            <a:solidFill>
              <a:schemeClr val="accent5">
                <a:alpha val="0"/>
              </a:schemeClr>
            </a:solidFill>
            <a:prstDash val="solid"/>
          </a:ln>
        </p:spPr>
      </p:sp>
      <p:sp>
        <p:nvSpPr>
          <p:cNvPr id="14" name="Shape 12"/>
          <p:cNvSpPr/>
          <p:nvPr/>
        </p:nvSpPr>
        <p:spPr>
          <a:xfrm>
            <a:off x="5623560" y="2715768"/>
            <a:ext cx="1143000" cy="566928"/>
          </a:xfrm>
          <a:prstGeom prst="roundRect">
            <a:avLst>
              <a:gd name="adj" fmla="val 9677"/>
            </a:avLst>
          </a:prstGeom>
          <a:solidFill>
            <a:schemeClr val="accent3">
              <a:alpha val="90000"/>
            </a:schemeClr>
          </a:solidFill>
          <a:ln w="12700">
            <a:solidFill>
              <a:schemeClr val="accent3">
                <a:alpha val="0"/>
              </a:schemeClr>
            </a:solidFill>
            <a:prstDash val="solid"/>
          </a:ln>
        </p:spPr>
      </p:sp>
      <p:sp>
        <p:nvSpPr>
          <p:cNvPr id="15" name="Text 13"/>
          <p:cNvSpPr txBox="1"/>
          <p:nvPr/>
        </p:nvSpPr>
        <p:spPr>
          <a:xfrm>
            <a:off x="5623560" y="2715768"/>
            <a:ext cx="1143000" cy="566928"/>
          </a:xfrm>
          <a:prstGeom prst="rect">
            <a:avLst/>
          </a:prstGeom>
          <a:noFill/>
          <a:ln/>
        </p:spPr>
        <p:txBody>
          <a:bodyPr wrap="square" lIns="0" tIns="0" rIns="0" bIns="0" rtlCol="0" anchor="ctr"/>
          <a:lstStyle/>
          <a:p>
            <a:pPr algn="ctr" indent="0" marL="0">
              <a:buNone/>
            </a:pPr>
            <a:r>
              <a:rPr lang="en-US" sz="1300" b="1" dirty="0">
                <a:solidFill>
                  <a:srgbClr val="0A0F1E"/>
                </a:solidFill>
              </a:rPr>
              <a:t>train</a:t>
            </a:r>
            <a:endParaRPr lang="en-US" sz="1300" dirty="0"/>
          </a:p>
        </p:txBody>
      </p:sp>
      <p:sp>
        <p:nvSpPr>
          <p:cNvPr id="16" name="Shape 14"/>
          <p:cNvSpPr/>
          <p:nvPr/>
        </p:nvSpPr>
        <p:spPr>
          <a:xfrm>
            <a:off x="6812280" y="2715768"/>
            <a:ext cx="1143000" cy="566928"/>
          </a:xfrm>
          <a:prstGeom prst="roundRect">
            <a:avLst>
              <a:gd name="adj" fmla="val 9677"/>
            </a:avLst>
          </a:prstGeom>
          <a:solidFill>
            <a:schemeClr val="accent2"/>
          </a:solidFill>
          <a:ln w="12700">
            <a:solidFill>
              <a:schemeClr val="accent2">
                <a:alpha val="0"/>
              </a:schemeClr>
            </a:solidFill>
            <a:prstDash val="solid"/>
          </a:ln>
        </p:spPr>
      </p:sp>
      <p:sp>
        <p:nvSpPr>
          <p:cNvPr id="17" name="Text 15"/>
          <p:cNvSpPr txBox="1"/>
          <p:nvPr/>
        </p:nvSpPr>
        <p:spPr>
          <a:xfrm>
            <a:off x="6812280" y="2715768"/>
            <a:ext cx="1143000" cy="566928"/>
          </a:xfrm>
          <a:prstGeom prst="rect">
            <a:avLst/>
          </a:prstGeom>
          <a:noFill/>
          <a:ln/>
        </p:spPr>
        <p:txBody>
          <a:bodyPr wrap="square" lIns="0" tIns="0" rIns="0" bIns="0" rtlCol="0" anchor="ctr"/>
          <a:lstStyle/>
          <a:p>
            <a:pPr algn="ctr" indent="0" marL="0">
              <a:buNone/>
            </a:pPr>
            <a:r>
              <a:rPr lang="en-US" sz="1300" b="1" dirty="0">
                <a:solidFill>
                  <a:srgbClr val="0A0F1E"/>
                </a:solidFill>
              </a:rPr>
              <a:t>predict</a:t>
            </a:r>
            <a:endParaRPr lang="en-US" sz="1300" dirty="0"/>
          </a:p>
        </p:txBody>
      </p:sp>
      <p:sp>
        <p:nvSpPr>
          <p:cNvPr id="18" name="Shape 16"/>
          <p:cNvSpPr/>
          <p:nvPr/>
        </p:nvSpPr>
        <p:spPr>
          <a:xfrm>
            <a:off x="8001000" y="2715768"/>
            <a:ext cx="1143000" cy="566928"/>
          </a:xfrm>
          <a:prstGeom prst="roundRect">
            <a:avLst>
              <a:gd name="adj" fmla="val 9677"/>
            </a:avLst>
          </a:prstGeom>
          <a:solidFill>
            <a:schemeClr val="accent5">
              <a:alpha val="30000"/>
            </a:schemeClr>
          </a:solidFill>
          <a:ln w="12700">
            <a:solidFill>
              <a:schemeClr val="accent5">
                <a:alpha val="0"/>
              </a:schemeClr>
            </a:solidFill>
            <a:prstDash val="solid"/>
          </a:ln>
        </p:spPr>
      </p:sp>
      <p:sp>
        <p:nvSpPr>
          <p:cNvPr id="19" name="Shape 17"/>
          <p:cNvSpPr/>
          <p:nvPr/>
        </p:nvSpPr>
        <p:spPr>
          <a:xfrm>
            <a:off x="9189720" y="2715768"/>
            <a:ext cx="1143000" cy="566928"/>
          </a:xfrm>
          <a:prstGeom prst="roundRect">
            <a:avLst>
              <a:gd name="adj" fmla="val 9677"/>
            </a:avLst>
          </a:prstGeom>
          <a:solidFill>
            <a:schemeClr val="accent5">
              <a:alpha val="30000"/>
            </a:schemeClr>
          </a:solidFill>
          <a:ln w="12700">
            <a:solidFill>
              <a:schemeClr val="accent5">
                <a:alpha val="0"/>
              </a:schemeClr>
            </a:solidFill>
            <a:prstDash val="solid"/>
          </a:ln>
        </p:spPr>
      </p:sp>
      <p:sp>
        <p:nvSpPr>
          <p:cNvPr id="20" name="Shape 18"/>
          <p:cNvSpPr/>
          <p:nvPr/>
        </p:nvSpPr>
        <p:spPr>
          <a:xfrm>
            <a:off x="10378440" y="2715768"/>
            <a:ext cx="1143000" cy="566928"/>
          </a:xfrm>
          <a:prstGeom prst="roundRect">
            <a:avLst>
              <a:gd name="adj" fmla="val 9677"/>
            </a:avLst>
          </a:prstGeom>
          <a:solidFill>
            <a:schemeClr val="accent5">
              <a:alpha val="30000"/>
            </a:schemeClr>
          </a:solidFill>
          <a:ln w="12700">
            <a:solidFill>
              <a:schemeClr val="accent5">
                <a:alpha val="0"/>
              </a:schemeClr>
            </a:solidFill>
            <a:prstDash val="solid"/>
          </a:ln>
        </p:spPr>
      </p:sp>
      <p:sp>
        <p:nvSpPr>
          <p:cNvPr id="21" name="Shape 19"/>
          <p:cNvSpPr/>
          <p:nvPr/>
        </p:nvSpPr>
        <p:spPr>
          <a:xfrm>
            <a:off x="5623560" y="3465576"/>
            <a:ext cx="1143000" cy="566928"/>
          </a:xfrm>
          <a:prstGeom prst="roundRect">
            <a:avLst>
              <a:gd name="adj" fmla="val 9677"/>
            </a:avLst>
          </a:prstGeom>
          <a:solidFill>
            <a:schemeClr val="accent3">
              <a:alpha val="90000"/>
            </a:schemeClr>
          </a:solidFill>
          <a:ln w="12700">
            <a:solidFill>
              <a:schemeClr val="accent3">
                <a:alpha val="0"/>
              </a:schemeClr>
            </a:solidFill>
            <a:prstDash val="solid"/>
          </a:ln>
        </p:spPr>
      </p:sp>
      <p:sp>
        <p:nvSpPr>
          <p:cNvPr id="22" name="Text 20"/>
          <p:cNvSpPr txBox="1"/>
          <p:nvPr/>
        </p:nvSpPr>
        <p:spPr>
          <a:xfrm>
            <a:off x="5623560" y="3465576"/>
            <a:ext cx="1143000" cy="566928"/>
          </a:xfrm>
          <a:prstGeom prst="rect">
            <a:avLst/>
          </a:prstGeom>
          <a:noFill/>
          <a:ln/>
        </p:spPr>
        <p:txBody>
          <a:bodyPr wrap="square" lIns="0" tIns="0" rIns="0" bIns="0" rtlCol="0" anchor="ctr"/>
          <a:lstStyle/>
          <a:p>
            <a:pPr algn="ctr" indent="0" marL="0">
              <a:buNone/>
            </a:pPr>
            <a:r>
              <a:rPr lang="en-US" sz="1300" b="1" dirty="0">
                <a:solidFill>
                  <a:srgbClr val="0A0F1E"/>
                </a:solidFill>
              </a:rPr>
              <a:t>train</a:t>
            </a:r>
            <a:endParaRPr lang="en-US" sz="1300" dirty="0"/>
          </a:p>
        </p:txBody>
      </p:sp>
      <p:sp>
        <p:nvSpPr>
          <p:cNvPr id="23" name="Shape 21"/>
          <p:cNvSpPr/>
          <p:nvPr/>
        </p:nvSpPr>
        <p:spPr>
          <a:xfrm>
            <a:off x="6812280" y="3465576"/>
            <a:ext cx="1143000" cy="566928"/>
          </a:xfrm>
          <a:prstGeom prst="roundRect">
            <a:avLst>
              <a:gd name="adj" fmla="val 9677"/>
            </a:avLst>
          </a:prstGeom>
          <a:solidFill>
            <a:schemeClr val="accent3">
              <a:alpha val="90000"/>
            </a:schemeClr>
          </a:solidFill>
          <a:ln w="12700">
            <a:solidFill>
              <a:schemeClr val="accent3">
                <a:alpha val="0"/>
              </a:schemeClr>
            </a:solidFill>
            <a:prstDash val="solid"/>
          </a:ln>
        </p:spPr>
      </p:sp>
      <p:sp>
        <p:nvSpPr>
          <p:cNvPr id="24" name="Text 22"/>
          <p:cNvSpPr txBox="1"/>
          <p:nvPr/>
        </p:nvSpPr>
        <p:spPr>
          <a:xfrm>
            <a:off x="6812280" y="3465576"/>
            <a:ext cx="1143000" cy="566928"/>
          </a:xfrm>
          <a:prstGeom prst="rect">
            <a:avLst/>
          </a:prstGeom>
          <a:noFill/>
          <a:ln/>
        </p:spPr>
        <p:txBody>
          <a:bodyPr wrap="square" lIns="0" tIns="0" rIns="0" bIns="0" rtlCol="0" anchor="ctr"/>
          <a:lstStyle/>
          <a:p>
            <a:pPr algn="ctr" indent="0" marL="0">
              <a:buNone/>
            </a:pPr>
            <a:r>
              <a:rPr lang="en-US" sz="1300" b="1" dirty="0">
                <a:solidFill>
                  <a:srgbClr val="0A0F1E"/>
                </a:solidFill>
              </a:rPr>
              <a:t>train</a:t>
            </a:r>
            <a:endParaRPr lang="en-US" sz="1300" dirty="0"/>
          </a:p>
        </p:txBody>
      </p:sp>
      <p:sp>
        <p:nvSpPr>
          <p:cNvPr id="25" name="Shape 23"/>
          <p:cNvSpPr/>
          <p:nvPr/>
        </p:nvSpPr>
        <p:spPr>
          <a:xfrm>
            <a:off x="8001000" y="3465576"/>
            <a:ext cx="1143000" cy="566928"/>
          </a:xfrm>
          <a:prstGeom prst="roundRect">
            <a:avLst>
              <a:gd name="adj" fmla="val 9677"/>
            </a:avLst>
          </a:prstGeom>
          <a:solidFill>
            <a:schemeClr val="accent2"/>
          </a:solidFill>
          <a:ln w="12700">
            <a:solidFill>
              <a:schemeClr val="accent2">
                <a:alpha val="0"/>
              </a:schemeClr>
            </a:solidFill>
            <a:prstDash val="solid"/>
          </a:ln>
        </p:spPr>
      </p:sp>
      <p:sp>
        <p:nvSpPr>
          <p:cNvPr id="26" name="Text 24"/>
          <p:cNvSpPr txBox="1"/>
          <p:nvPr/>
        </p:nvSpPr>
        <p:spPr>
          <a:xfrm>
            <a:off x="8001000" y="3465576"/>
            <a:ext cx="1143000" cy="566928"/>
          </a:xfrm>
          <a:prstGeom prst="rect">
            <a:avLst/>
          </a:prstGeom>
          <a:noFill/>
          <a:ln/>
        </p:spPr>
        <p:txBody>
          <a:bodyPr wrap="square" lIns="0" tIns="0" rIns="0" bIns="0" rtlCol="0" anchor="ctr"/>
          <a:lstStyle/>
          <a:p>
            <a:pPr algn="ctr" indent="0" marL="0">
              <a:buNone/>
            </a:pPr>
            <a:r>
              <a:rPr lang="en-US" sz="1300" b="1" dirty="0">
                <a:solidFill>
                  <a:srgbClr val="0A0F1E"/>
                </a:solidFill>
              </a:rPr>
              <a:t>predict</a:t>
            </a:r>
            <a:endParaRPr lang="en-US" sz="1300" dirty="0"/>
          </a:p>
        </p:txBody>
      </p:sp>
      <p:sp>
        <p:nvSpPr>
          <p:cNvPr id="27" name="Shape 25"/>
          <p:cNvSpPr/>
          <p:nvPr/>
        </p:nvSpPr>
        <p:spPr>
          <a:xfrm>
            <a:off x="9189720" y="3465576"/>
            <a:ext cx="1143000" cy="566928"/>
          </a:xfrm>
          <a:prstGeom prst="roundRect">
            <a:avLst>
              <a:gd name="adj" fmla="val 9677"/>
            </a:avLst>
          </a:prstGeom>
          <a:solidFill>
            <a:schemeClr val="accent5">
              <a:alpha val="30000"/>
            </a:schemeClr>
          </a:solidFill>
          <a:ln w="12700">
            <a:solidFill>
              <a:schemeClr val="accent5">
                <a:alpha val="0"/>
              </a:schemeClr>
            </a:solidFill>
            <a:prstDash val="solid"/>
          </a:ln>
        </p:spPr>
      </p:sp>
      <p:sp>
        <p:nvSpPr>
          <p:cNvPr id="28" name="Shape 26"/>
          <p:cNvSpPr/>
          <p:nvPr/>
        </p:nvSpPr>
        <p:spPr>
          <a:xfrm>
            <a:off x="10378440" y="3465576"/>
            <a:ext cx="1143000" cy="566928"/>
          </a:xfrm>
          <a:prstGeom prst="roundRect">
            <a:avLst>
              <a:gd name="adj" fmla="val 9677"/>
            </a:avLst>
          </a:prstGeom>
          <a:solidFill>
            <a:schemeClr val="accent5">
              <a:alpha val="30000"/>
            </a:schemeClr>
          </a:solidFill>
          <a:ln w="12700">
            <a:solidFill>
              <a:schemeClr val="accent5">
                <a:alpha val="0"/>
              </a:schemeClr>
            </a:solidFill>
            <a:prstDash val="solid"/>
          </a:ln>
        </p:spPr>
      </p:sp>
      <p:sp>
        <p:nvSpPr>
          <p:cNvPr id="29" name="Shape 27"/>
          <p:cNvSpPr/>
          <p:nvPr/>
        </p:nvSpPr>
        <p:spPr>
          <a:xfrm>
            <a:off x="5623560" y="4215384"/>
            <a:ext cx="1143000" cy="566928"/>
          </a:xfrm>
          <a:prstGeom prst="roundRect">
            <a:avLst>
              <a:gd name="adj" fmla="val 9677"/>
            </a:avLst>
          </a:prstGeom>
          <a:solidFill>
            <a:schemeClr val="accent3">
              <a:alpha val="90000"/>
            </a:schemeClr>
          </a:solidFill>
          <a:ln w="12700">
            <a:solidFill>
              <a:schemeClr val="accent3">
                <a:alpha val="0"/>
              </a:schemeClr>
            </a:solidFill>
            <a:prstDash val="solid"/>
          </a:ln>
        </p:spPr>
      </p:sp>
      <p:sp>
        <p:nvSpPr>
          <p:cNvPr id="30" name="Text 28"/>
          <p:cNvSpPr txBox="1"/>
          <p:nvPr/>
        </p:nvSpPr>
        <p:spPr>
          <a:xfrm>
            <a:off x="5623560" y="4215384"/>
            <a:ext cx="1143000" cy="566928"/>
          </a:xfrm>
          <a:prstGeom prst="rect">
            <a:avLst/>
          </a:prstGeom>
          <a:noFill/>
          <a:ln/>
        </p:spPr>
        <p:txBody>
          <a:bodyPr wrap="square" lIns="0" tIns="0" rIns="0" bIns="0" rtlCol="0" anchor="ctr"/>
          <a:lstStyle/>
          <a:p>
            <a:pPr algn="ctr" indent="0" marL="0">
              <a:buNone/>
            </a:pPr>
            <a:r>
              <a:rPr lang="en-US" sz="1300" b="1" dirty="0">
                <a:solidFill>
                  <a:srgbClr val="0A0F1E"/>
                </a:solidFill>
              </a:rPr>
              <a:t>train</a:t>
            </a:r>
            <a:endParaRPr lang="en-US" sz="1300" dirty="0"/>
          </a:p>
        </p:txBody>
      </p:sp>
      <p:sp>
        <p:nvSpPr>
          <p:cNvPr id="31" name="Shape 29"/>
          <p:cNvSpPr/>
          <p:nvPr/>
        </p:nvSpPr>
        <p:spPr>
          <a:xfrm>
            <a:off x="6812280" y="4215384"/>
            <a:ext cx="1143000" cy="566928"/>
          </a:xfrm>
          <a:prstGeom prst="roundRect">
            <a:avLst>
              <a:gd name="adj" fmla="val 9677"/>
            </a:avLst>
          </a:prstGeom>
          <a:solidFill>
            <a:schemeClr val="accent3">
              <a:alpha val="90000"/>
            </a:schemeClr>
          </a:solidFill>
          <a:ln w="12700">
            <a:solidFill>
              <a:schemeClr val="accent3">
                <a:alpha val="0"/>
              </a:schemeClr>
            </a:solidFill>
            <a:prstDash val="solid"/>
          </a:ln>
        </p:spPr>
      </p:sp>
      <p:sp>
        <p:nvSpPr>
          <p:cNvPr id="32" name="Text 30"/>
          <p:cNvSpPr txBox="1"/>
          <p:nvPr/>
        </p:nvSpPr>
        <p:spPr>
          <a:xfrm>
            <a:off x="6812280" y="4215384"/>
            <a:ext cx="1143000" cy="566928"/>
          </a:xfrm>
          <a:prstGeom prst="rect">
            <a:avLst/>
          </a:prstGeom>
          <a:noFill/>
          <a:ln/>
        </p:spPr>
        <p:txBody>
          <a:bodyPr wrap="square" lIns="0" tIns="0" rIns="0" bIns="0" rtlCol="0" anchor="ctr"/>
          <a:lstStyle/>
          <a:p>
            <a:pPr algn="ctr" indent="0" marL="0">
              <a:buNone/>
            </a:pPr>
            <a:r>
              <a:rPr lang="en-US" sz="1300" b="1" dirty="0">
                <a:solidFill>
                  <a:srgbClr val="0A0F1E"/>
                </a:solidFill>
              </a:rPr>
              <a:t>train</a:t>
            </a:r>
            <a:endParaRPr lang="en-US" sz="1300" dirty="0"/>
          </a:p>
        </p:txBody>
      </p:sp>
      <p:sp>
        <p:nvSpPr>
          <p:cNvPr id="33" name="Shape 31"/>
          <p:cNvSpPr/>
          <p:nvPr/>
        </p:nvSpPr>
        <p:spPr>
          <a:xfrm>
            <a:off x="8001000" y="4215384"/>
            <a:ext cx="1143000" cy="566928"/>
          </a:xfrm>
          <a:prstGeom prst="roundRect">
            <a:avLst>
              <a:gd name="adj" fmla="val 9677"/>
            </a:avLst>
          </a:prstGeom>
          <a:solidFill>
            <a:schemeClr val="accent3">
              <a:alpha val="90000"/>
            </a:schemeClr>
          </a:solidFill>
          <a:ln w="12700">
            <a:solidFill>
              <a:schemeClr val="accent3">
                <a:alpha val="0"/>
              </a:schemeClr>
            </a:solidFill>
            <a:prstDash val="solid"/>
          </a:ln>
        </p:spPr>
      </p:sp>
      <p:sp>
        <p:nvSpPr>
          <p:cNvPr id="34" name="Text 32"/>
          <p:cNvSpPr txBox="1"/>
          <p:nvPr/>
        </p:nvSpPr>
        <p:spPr>
          <a:xfrm>
            <a:off x="8001000" y="4215384"/>
            <a:ext cx="1143000" cy="566928"/>
          </a:xfrm>
          <a:prstGeom prst="rect">
            <a:avLst/>
          </a:prstGeom>
          <a:noFill/>
          <a:ln/>
        </p:spPr>
        <p:txBody>
          <a:bodyPr wrap="square" lIns="0" tIns="0" rIns="0" bIns="0" rtlCol="0" anchor="ctr"/>
          <a:lstStyle/>
          <a:p>
            <a:pPr algn="ctr" indent="0" marL="0">
              <a:buNone/>
            </a:pPr>
            <a:r>
              <a:rPr lang="en-US" sz="1300" b="1" dirty="0">
                <a:solidFill>
                  <a:srgbClr val="0A0F1E"/>
                </a:solidFill>
              </a:rPr>
              <a:t>train</a:t>
            </a:r>
            <a:endParaRPr lang="en-US" sz="1300" dirty="0"/>
          </a:p>
        </p:txBody>
      </p:sp>
      <p:sp>
        <p:nvSpPr>
          <p:cNvPr id="35" name="Shape 33"/>
          <p:cNvSpPr/>
          <p:nvPr/>
        </p:nvSpPr>
        <p:spPr>
          <a:xfrm>
            <a:off x="9189720" y="4215384"/>
            <a:ext cx="1143000" cy="566928"/>
          </a:xfrm>
          <a:prstGeom prst="roundRect">
            <a:avLst>
              <a:gd name="adj" fmla="val 9677"/>
            </a:avLst>
          </a:prstGeom>
          <a:solidFill>
            <a:schemeClr val="accent2"/>
          </a:solidFill>
          <a:ln w="12700">
            <a:solidFill>
              <a:schemeClr val="accent2">
                <a:alpha val="0"/>
              </a:schemeClr>
            </a:solidFill>
            <a:prstDash val="solid"/>
          </a:ln>
        </p:spPr>
      </p:sp>
      <p:sp>
        <p:nvSpPr>
          <p:cNvPr id="36" name="Text 34"/>
          <p:cNvSpPr txBox="1"/>
          <p:nvPr/>
        </p:nvSpPr>
        <p:spPr>
          <a:xfrm>
            <a:off x="9189720" y="4215384"/>
            <a:ext cx="1143000" cy="566928"/>
          </a:xfrm>
          <a:prstGeom prst="rect">
            <a:avLst/>
          </a:prstGeom>
          <a:noFill/>
          <a:ln/>
        </p:spPr>
        <p:txBody>
          <a:bodyPr wrap="square" lIns="0" tIns="0" rIns="0" bIns="0" rtlCol="0" anchor="ctr"/>
          <a:lstStyle/>
          <a:p>
            <a:pPr algn="ctr" indent="0" marL="0">
              <a:buNone/>
            </a:pPr>
            <a:r>
              <a:rPr lang="en-US" sz="1300" b="1" dirty="0">
                <a:solidFill>
                  <a:srgbClr val="0A0F1E"/>
                </a:solidFill>
              </a:rPr>
              <a:t>predict</a:t>
            </a:r>
            <a:endParaRPr lang="en-US" sz="1300" dirty="0"/>
          </a:p>
        </p:txBody>
      </p:sp>
      <p:sp>
        <p:nvSpPr>
          <p:cNvPr id="37" name="Shape 35"/>
          <p:cNvSpPr/>
          <p:nvPr/>
        </p:nvSpPr>
        <p:spPr>
          <a:xfrm>
            <a:off x="10378440" y="4215384"/>
            <a:ext cx="1143000" cy="566928"/>
          </a:xfrm>
          <a:prstGeom prst="roundRect">
            <a:avLst>
              <a:gd name="adj" fmla="val 9677"/>
            </a:avLst>
          </a:prstGeom>
          <a:solidFill>
            <a:schemeClr val="accent5">
              <a:alpha val="30000"/>
            </a:schemeClr>
          </a:solidFill>
          <a:ln w="12700">
            <a:solidFill>
              <a:schemeClr val="accent5">
                <a:alpha val="0"/>
              </a:schemeClr>
            </a:solidFill>
            <a:prstDash val="solid"/>
          </a:ln>
        </p:spPr>
      </p:sp>
      <p:sp>
        <p:nvSpPr>
          <p:cNvPr id="38" name="Shape 36"/>
          <p:cNvSpPr/>
          <p:nvPr/>
        </p:nvSpPr>
        <p:spPr>
          <a:xfrm>
            <a:off x="5623560" y="4965192"/>
            <a:ext cx="1143000" cy="566928"/>
          </a:xfrm>
          <a:prstGeom prst="roundRect">
            <a:avLst>
              <a:gd name="adj" fmla="val 9677"/>
            </a:avLst>
          </a:prstGeom>
          <a:solidFill>
            <a:schemeClr val="accent3">
              <a:alpha val="90000"/>
            </a:schemeClr>
          </a:solidFill>
          <a:ln w="12700">
            <a:solidFill>
              <a:schemeClr val="accent3">
                <a:alpha val="0"/>
              </a:schemeClr>
            </a:solidFill>
            <a:prstDash val="solid"/>
          </a:ln>
        </p:spPr>
      </p:sp>
      <p:sp>
        <p:nvSpPr>
          <p:cNvPr id="39" name="Text 37"/>
          <p:cNvSpPr txBox="1"/>
          <p:nvPr/>
        </p:nvSpPr>
        <p:spPr>
          <a:xfrm>
            <a:off x="5623560" y="4965192"/>
            <a:ext cx="1143000" cy="566928"/>
          </a:xfrm>
          <a:prstGeom prst="rect">
            <a:avLst/>
          </a:prstGeom>
          <a:noFill/>
          <a:ln/>
        </p:spPr>
        <p:txBody>
          <a:bodyPr wrap="square" lIns="0" tIns="0" rIns="0" bIns="0" rtlCol="0" anchor="ctr"/>
          <a:lstStyle/>
          <a:p>
            <a:pPr algn="ctr" indent="0" marL="0">
              <a:buNone/>
            </a:pPr>
            <a:r>
              <a:rPr lang="en-US" sz="1300" b="1" dirty="0">
                <a:solidFill>
                  <a:srgbClr val="0A0F1E"/>
                </a:solidFill>
              </a:rPr>
              <a:t>train</a:t>
            </a:r>
            <a:endParaRPr lang="en-US" sz="1300" dirty="0"/>
          </a:p>
        </p:txBody>
      </p:sp>
      <p:sp>
        <p:nvSpPr>
          <p:cNvPr id="40" name="Shape 38"/>
          <p:cNvSpPr/>
          <p:nvPr/>
        </p:nvSpPr>
        <p:spPr>
          <a:xfrm>
            <a:off x="6812280" y="4965192"/>
            <a:ext cx="1143000" cy="566928"/>
          </a:xfrm>
          <a:prstGeom prst="roundRect">
            <a:avLst>
              <a:gd name="adj" fmla="val 9677"/>
            </a:avLst>
          </a:prstGeom>
          <a:solidFill>
            <a:schemeClr val="accent3">
              <a:alpha val="90000"/>
            </a:schemeClr>
          </a:solidFill>
          <a:ln w="12700">
            <a:solidFill>
              <a:schemeClr val="accent3">
                <a:alpha val="0"/>
              </a:schemeClr>
            </a:solidFill>
            <a:prstDash val="solid"/>
          </a:ln>
        </p:spPr>
      </p:sp>
      <p:sp>
        <p:nvSpPr>
          <p:cNvPr id="41" name="Text 39"/>
          <p:cNvSpPr txBox="1"/>
          <p:nvPr/>
        </p:nvSpPr>
        <p:spPr>
          <a:xfrm>
            <a:off x="6812280" y="4965192"/>
            <a:ext cx="1143000" cy="566928"/>
          </a:xfrm>
          <a:prstGeom prst="rect">
            <a:avLst/>
          </a:prstGeom>
          <a:noFill/>
          <a:ln/>
        </p:spPr>
        <p:txBody>
          <a:bodyPr wrap="square" lIns="0" tIns="0" rIns="0" bIns="0" rtlCol="0" anchor="ctr"/>
          <a:lstStyle/>
          <a:p>
            <a:pPr algn="ctr" indent="0" marL="0">
              <a:buNone/>
            </a:pPr>
            <a:r>
              <a:rPr lang="en-US" sz="1300" b="1" dirty="0">
                <a:solidFill>
                  <a:srgbClr val="0A0F1E"/>
                </a:solidFill>
              </a:rPr>
              <a:t>train</a:t>
            </a:r>
            <a:endParaRPr lang="en-US" sz="1300" dirty="0"/>
          </a:p>
        </p:txBody>
      </p:sp>
      <p:sp>
        <p:nvSpPr>
          <p:cNvPr id="42" name="Shape 40"/>
          <p:cNvSpPr/>
          <p:nvPr/>
        </p:nvSpPr>
        <p:spPr>
          <a:xfrm>
            <a:off x="8001000" y="4965192"/>
            <a:ext cx="1143000" cy="566928"/>
          </a:xfrm>
          <a:prstGeom prst="roundRect">
            <a:avLst>
              <a:gd name="adj" fmla="val 9677"/>
            </a:avLst>
          </a:prstGeom>
          <a:solidFill>
            <a:schemeClr val="accent3">
              <a:alpha val="90000"/>
            </a:schemeClr>
          </a:solidFill>
          <a:ln w="12700">
            <a:solidFill>
              <a:schemeClr val="accent3">
                <a:alpha val="0"/>
              </a:schemeClr>
            </a:solidFill>
            <a:prstDash val="solid"/>
          </a:ln>
        </p:spPr>
      </p:sp>
      <p:sp>
        <p:nvSpPr>
          <p:cNvPr id="43" name="Text 41"/>
          <p:cNvSpPr txBox="1"/>
          <p:nvPr/>
        </p:nvSpPr>
        <p:spPr>
          <a:xfrm>
            <a:off x="8001000" y="4965192"/>
            <a:ext cx="1143000" cy="566928"/>
          </a:xfrm>
          <a:prstGeom prst="rect">
            <a:avLst/>
          </a:prstGeom>
          <a:noFill/>
          <a:ln/>
        </p:spPr>
        <p:txBody>
          <a:bodyPr wrap="square" lIns="0" tIns="0" rIns="0" bIns="0" rtlCol="0" anchor="ctr"/>
          <a:lstStyle/>
          <a:p>
            <a:pPr algn="ctr" indent="0" marL="0">
              <a:buNone/>
            </a:pPr>
            <a:r>
              <a:rPr lang="en-US" sz="1300" b="1" dirty="0">
                <a:solidFill>
                  <a:srgbClr val="0A0F1E"/>
                </a:solidFill>
              </a:rPr>
              <a:t>train</a:t>
            </a:r>
            <a:endParaRPr lang="en-US" sz="1300" dirty="0"/>
          </a:p>
        </p:txBody>
      </p:sp>
      <p:sp>
        <p:nvSpPr>
          <p:cNvPr id="44" name="Shape 42"/>
          <p:cNvSpPr/>
          <p:nvPr/>
        </p:nvSpPr>
        <p:spPr>
          <a:xfrm>
            <a:off x="9189720" y="4965192"/>
            <a:ext cx="1143000" cy="566928"/>
          </a:xfrm>
          <a:prstGeom prst="roundRect">
            <a:avLst>
              <a:gd name="adj" fmla="val 9677"/>
            </a:avLst>
          </a:prstGeom>
          <a:solidFill>
            <a:schemeClr val="accent3">
              <a:alpha val="90000"/>
            </a:schemeClr>
          </a:solidFill>
          <a:ln w="12700">
            <a:solidFill>
              <a:schemeClr val="accent3">
                <a:alpha val="0"/>
              </a:schemeClr>
            </a:solidFill>
            <a:prstDash val="solid"/>
          </a:ln>
        </p:spPr>
      </p:sp>
      <p:sp>
        <p:nvSpPr>
          <p:cNvPr id="45" name="Text 43"/>
          <p:cNvSpPr txBox="1"/>
          <p:nvPr/>
        </p:nvSpPr>
        <p:spPr>
          <a:xfrm>
            <a:off x="9189720" y="4965192"/>
            <a:ext cx="1143000" cy="566928"/>
          </a:xfrm>
          <a:prstGeom prst="rect">
            <a:avLst/>
          </a:prstGeom>
          <a:noFill/>
          <a:ln/>
        </p:spPr>
        <p:txBody>
          <a:bodyPr wrap="square" lIns="0" tIns="0" rIns="0" bIns="0" rtlCol="0" anchor="ctr"/>
          <a:lstStyle/>
          <a:p>
            <a:pPr algn="ctr" indent="0" marL="0">
              <a:buNone/>
            </a:pPr>
            <a:r>
              <a:rPr lang="en-US" sz="1300" b="1" dirty="0">
                <a:solidFill>
                  <a:srgbClr val="0A0F1E"/>
                </a:solidFill>
              </a:rPr>
              <a:t>train</a:t>
            </a:r>
            <a:endParaRPr lang="en-US" sz="1300" dirty="0"/>
          </a:p>
        </p:txBody>
      </p:sp>
      <p:sp>
        <p:nvSpPr>
          <p:cNvPr id="46" name="Shape 44"/>
          <p:cNvSpPr/>
          <p:nvPr/>
        </p:nvSpPr>
        <p:spPr>
          <a:xfrm>
            <a:off x="10378440" y="4965192"/>
            <a:ext cx="1143000" cy="566928"/>
          </a:xfrm>
          <a:prstGeom prst="roundRect">
            <a:avLst>
              <a:gd name="adj" fmla="val 9677"/>
            </a:avLst>
          </a:prstGeom>
          <a:solidFill>
            <a:schemeClr val="accent2"/>
          </a:solidFill>
          <a:ln w="12700">
            <a:solidFill>
              <a:schemeClr val="accent2">
                <a:alpha val="0"/>
              </a:schemeClr>
            </a:solidFill>
            <a:prstDash val="solid"/>
          </a:ln>
        </p:spPr>
      </p:sp>
      <p:sp>
        <p:nvSpPr>
          <p:cNvPr id="47" name="Text 45"/>
          <p:cNvSpPr txBox="1"/>
          <p:nvPr/>
        </p:nvSpPr>
        <p:spPr>
          <a:xfrm>
            <a:off x="10378440" y="4965192"/>
            <a:ext cx="1143000" cy="566928"/>
          </a:xfrm>
          <a:prstGeom prst="rect">
            <a:avLst/>
          </a:prstGeom>
          <a:noFill/>
          <a:ln/>
        </p:spPr>
        <p:txBody>
          <a:bodyPr wrap="square" lIns="0" tIns="0" rIns="0" bIns="0" rtlCol="0" anchor="ctr"/>
          <a:lstStyle/>
          <a:p>
            <a:pPr algn="ctr" indent="0" marL="0">
              <a:buNone/>
            </a:pPr>
            <a:r>
              <a:rPr lang="en-US" sz="1300" b="1" dirty="0">
                <a:solidFill>
                  <a:srgbClr val="0A0F1E"/>
                </a:solidFill>
              </a:rPr>
              <a:t>predict</a:t>
            </a:r>
            <a:endParaRPr lang="en-US" sz="1300" dirty="0"/>
          </a:p>
        </p:txBody>
      </p:sp>
      <p:sp>
        <p:nvSpPr>
          <p:cNvPr id="48" name="Text 46"/>
          <p:cNvSpPr txBox="1"/>
          <p:nvPr/>
        </p:nvSpPr>
        <p:spPr>
          <a:xfrm>
            <a:off x="5623560" y="5715000"/>
            <a:ext cx="5943600" cy="548640"/>
          </a:xfrm>
          <a:prstGeom prst="rect">
            <a:avLst/>
          </a:prstGeom>
          <a:noFill/>
          <a:ln/>
        </p:spPr>
        <p:txBody>
          <a:bodyPr wrap="square" lIns="0" tIns="0" rIns="0" bIns="0" rtlCol="0" anchor="t"/>
          <a:lstStyle/>
          <a:p>
            <a:pPr indent="0" marL="0">
              <a:buNone/>
            </a:pPr>
            <a:r>
              <a:rPr lang="en-US" sz="1300" dirty="0">
                <a:solidFill>
                  <a:schemeClr val="bg2"/>
                </a:solidFill>
              </a:rPr>
              <a:t>5 chronological blocks of training windows · 23-step gap between train and predicted block · block 1 has no forecast (80% coverage)</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The scoreboard</a:t>
            </a:r>
            <a:endParaRPr lang="en-US" sz="3600" dirty="0"/>
          </a:p>
        </p:txBody>
      </p:sp>
      <p:graphicFrame>
        <p:nvGraphicFramePr>
          <p:cNvPr id="3" name="Chart 0" descr=""/>
          <p:cNvGraphicFramePr/>
          <p:nvPr/>
        </p:nvGraphicFramePr>
        <p:xfrm>
          <a:off x="548640" y="1417320"/>
          <a:ext cx="7132320" cy="4754880"/>
        </p:xfrm>
        <a:graphic xmlns:a="http://schemas.openxmlformats.org/drawingml/2006/main">
          <a:graphicData uri="http://schemas.openxmlformats.org/drawingml/2006/chart">
            <c:chart xmlns:c="http://schemas.openxmlformats.org/drawingml/2006/chart" r:id="rId1"/>
          </a:graphicData>
        </a:graphic>
      </p:graphicFrame>
      <p:sp>
        <p:nvSpPr>
          <p:cNvPr id="4" name="card"/>
          <p:cNvSpPr/>
          <p:nvPr/>
        </p:nvSpPr>
        <p:spPr>
          <a:xfrm>
            <a:off x="7955280" y="1417320"/>
            <a:ext cx="3657600" cy="1444752"/>
          </a:xfrm>
          <a:prstGeom prst="roundRect">
            <a:avLst>
              <a:gd name="adj" fmla="val 7595"/>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5" name="Text 2"/>
          <p:cNvSpPr txBox="1"/>
          <p:nvPr/>
        </p:nvSpPr>
        <p:spPr>
          <a:xfrm>
            <a:off x="8229600" y="1600200"/>
            <a:ext cx="1280160" cy="365760"/>
          </a:xfrm>
          <a:prstGeom prst="rect">
            <a:avLst/>
          </a:prstGeom>
          <a:noFill/>
          <a:ln/>
        </p:spPr>
        <p:txBody>
          <a:bodyPr wrap="square" lIns="0" tIns="0" rIns="0" bIns="0" rtlCol="0" anchor="t"/>
          <a:lstStyle/>
          <a:p>
            <a:pPr indent="0" marL="0">
              <a:buNone/>
            </a:pPr>
            <a:r>
              <a:rPr lang="en-US" sz="1400" b="1" spc="200" kern="0" dirty="0">
                <a:solidFill>
                  <a:schemeClr val="accent2"/>
                </a:solidFill>
              </a:rPr>
              <a:t>15 MIN</a:t>
            </a:r>
            <a:endParaRPr lang="en-US" sz="1400" dirty="0"/>
          </a:p>
        </p:txBody>
      </p:sp>
      <p:sp>
        <p:nvSpPr>
          <p:cNvPr id="6" name="Text 3"/>
          <p:cNvSpPr txBox="1"/>
          <p:nvPr/>
        </p:nvSpPr>
        <p:spPr>
          <a:xfrm>
            <a:off x="8229600" y="1920240"/>
            <a:ext cx="3108960" cy="640080"/>
          </a:xfrm>
          <a:prstGeom prst="rect">
            <a:avLst/>
          </a:prstGeom>
          <a:noFill/>
          <a:ln/>
        </p:spPr>
        <p:txBody>
          <a:bodyPr wrap="square" lIns="0" tIns="0" rIns="0" bIns="0" rtlCol="0" anchor="t"/>
          <a:lstStyle/>
          <a:p>
            <a:pPr indent="0" marL="0">
              <a:buNone/>
            </a:pPr>
            <a:r>
              <a:rPr lang="en-US" sz="3400" b="1" dirty="0">
                <a:solidFill>
                  <a:schemeClr val="bg1"/>
                </a:solidFill>
                <a:latin typeface="Arial" pitchFamily="34" charset="0"/>
                <a:ea typeface="Arial" pitchFamily="34" charset="-122"/>
                <a:cs typeface="Arial" pitchFamily="34" charset="-120"/>
              </a:rPr>
              <a:t>2.82 mph</a:t>
            </a:r>
            <a:endParaRPr lang="en-US" sz="3400" dirty="0"/>
          </a:p>
        </p:txBody>
      </p:sp>
      <p:sp>
        <p:nvSpPr>
          <p:cNvPr id="7" name="Text 4"/>
          <p:cNvSpPr txBox="1"/>
          <p:nvPr/>
        </p:nvSpPr>
        <p:spPr>
          <a:xfrm>
            <a:off x="8229600" y="2468880"/>
            <a:ext cx="3200400" cy="320040"/>
          </a:xfrm>
          <a:prstGeom prst="rect">
            <a:avLst/>
          </a:prstGeom>
          <a:noFill/>
          <a:ln/>
        </p:spPr>
        <p:txBody>
          <a:bodyPr wrap="square" lIns="0" tIns="0" rIns="0" bIns="0" rtlCol="0" anchor="t"/>
          <a:lstStyle/>
          <a:p>
            <a:pPr indent="0" marL="0">
              <a:buNone/>
            </a:pPr>
            <a:r>
              <a:rPr lang="en-US" sz="1300" dirty="0">
                <a:solidFill>
                  <a:schemeClr val="bg2"/>
                </a:solidFill>
              </a:rPr>
              <a:t>best · residual hybrid · persistence 3.49</a:t>
            </a:r>
            <a:endParaRPr lang="en-US" sz="1300" dirty="0"/>
          </a:p>
        </p:txBody>
      </p:sp>
      <p:sp>
        <p:nvSpPr>
          <p:cNvPr id="8" name="card"/>
          <p:cNvSpPr/>
          <p:nvPr/>
        </p:nvSpPr>
        <p:spPr>
          <a:xfrm>
            <a:off x="7955280" y="3044952"/>
            <a:ext cx="3657600" cy="1444752"/>
          </a:xfrm>
          <a:prstGeom prst="roundRect">
            <a:avLst>
              <a:gd name="adj" fmla="val 7595"/>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9" name="Text 6"/>
          <p:cNvSpPr txBox="1"/>
          <p:nvPr/>
        </p:nvSpPr>
        <p:spPr>
          <a:xfrm>
            <a:off x="8229600" y="3227832"/>
            <a:ext cx="1280160" cy="365760"/>
          </a:xfrm>
          <a:prstGeom prst="rect">
            <a:avLst/>
          </a:prstGeom>
          <a:noFill/>
          <a:ln/>
        </p:spPr>
        <p:txBody>
          <a:bodyPr wrap="square" lIns="0" tIns="0" rIns="0" bIns="0" rtlCol="0" anchor="t"/>
          <a:lstStyle/>
          <a:p>
            <a:pPr indent="0" marL="0">
              <a:buNone/>
            </a:pPr>
            <a:r>
              <a:rPr lang="en-US" sz="1400" b="1" spc="200" kern="0" dirty="0">
                <a:solidFill>
                  <a:schemeClr val="accent2"/>
                </a:solidFill>
              </a:rPr>
              <a:t>30 MIN</a:t>
            </a:r>
            <a:endParaRPr lang="en-US" sz="1400" dirty="0"/>
          </a:p>
        </p:txBody>
      </p:sp>
      <p:sp>
        <p:nvSpPr>
          <p:cNvPr id="10" name="Text 7"/>
          <p:cNvSpPr txBox="1"/>
          <p:nvPr/>
        </p:nvSpPr>
        <p:spPr>
          <a:xfrm>
            <a:off x="8229600" y="3547872"/>
            <a:ext cx="3108960" cy="640080"/>
          </a:xfrm>
          <a:prstGeom prst="rect">
            <a:avLst/>
          </a:prstGeom>
          <a:noFill/>
          <a:ln/>
        </p:spPr>
        <p:txBody>
          <a:bodyPr wrap="square" lIns="0" tIns="0" rIns="0" bIns="0" rtlCol="0" anchor="t"/>
          <a:lstStyle/>
          <a:p>
            <a:pPr indent="0" marL="0">
              <a:buNone/>
            </a:pPr>
            <a:r>
              <a:rPr lang="en-US" sz="3400" b="1" dirty="0">
                <a:solidFill>
                  <a:schemeClr val="bg1"/>
                </a:solidFill>
                <a:latin typeface="Arial" pitchFamily="34" charset="0"/>
                <a:ea typeface="Arial" pitchFamily="34" charset="-122"/>
                <a:cs typeface="Arial" pitchFamily="34" charset="-120"/>
              </a:rPr>
              <a:t>3.22 mph</a:t>
            </a:r>
            <a:endParaRPr lang="en-US" sz="3400" dirty="0"/>
          </a:p>
        </p:txBody>
      </p:sp>
      <p:sp>
        <p:nvSpPr>
          <p:cNvPr id="11" name="Text 8"/>
          <p:cNvSpPr txBox="1"/>
          <p:nvPr/>
        </p:nvSpPr>
        <p:spPr>
          <a:xfrm>
            <a:off x="8229600" y="4096512"/>
            <a:ext cx="3200400" cy="320040"/>
          </a:xfrm>
          <a:prstGeom prst="rect">
            <a:avLst/>
          </a:prstGeom>
          <a:noFill/>
          <a:ln/>
        </p:spPr>
        <p:txBody>
          <a:bodyPr wrap="square" lIns="0" tIns="0" rIns="0" bIns="0" rtlCol="0" anchor="t"/>
          <a:lstStyle/>
          <a:p>
            <a:pPr indent="0" marL="0">
              <a:buNone/>
            </a:pPr>
            <a:r>
              <a:rPr lang="en-US" sz="1300" dirty="0">
                <a:solidFill>
                  <a:schemeClr val="bg2"/>
                </a:solidFill>
              </a:rPr>
              <a:t>best · residual hybrid · persistence 4.20</a:t>
            </a:r>
            <a:endParaRPr lang="en-US" sz="1300" dirty="0"/>
          </a:p>
        </p:txBody>
      </p:sp>
      <p:sp>
        <p:nvSpPr>
          <p:cNvPr id="12" name="card"/>
          <p:cNvSpPr/>
          <p:nvPr/>
        </p:nvSpPr>
        <p:spPr>
          <a:xfrm>
            <a:off x="7955280" y="4672584"/>
            <a:ext cx="3657600" cy="1444752"/>
          </a:xfrm>
          <a:prstGeom prst="roundRect">
            <a:avLst>
              <a:gd name="adj" fmla="val 7595"/>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13" name="Text 10"/>
          <p:cNvSpPr txBox="1"/>
          <p:nvPr/>
        </p:nvSpPr>
        <p:spPr>
          <a:xfrm>
            <a:off x="8229600" y="4855464"/>
            <a:ext cx="1280160" cy="365760"/>
          </a:xfrm>
          <a:prstGeom prst="rect">
            <a:avLst/>
          </a:prstGeom>
          <a:noFill/>
          <a:ln/>
        </p:spPr>
        <p:txBody>
          <a:bodyPr wrap="square" lIns="0" tIns="0" rIns="0" bIns="0" rtlCol="0" anchor="t"/>
          <a:lstStyle/>
          <a:p>
            <a:pPr indent="0" marL="0">
              <a:buNone/>
            </a:pPr>
            <a:r>
              <a:rPr lang="en-US" sz="1400" b="1" spc="200" kern="0" dirty="0">
                <a:solidFill>
                  <a:schemeClr val="accent2"/>
                </a:solidFill>
              </a:rPr>
              <a:t>60 MIN</a:t>
            </a:r>
            <a:endParaRPr lang="en-US" sz="1400" dirty="0"/>
          </a:p>
        </p:txBody>
      </p:sp>
      <p:sp>
        <p:nvSpPr>
          <p:cNvPr id="14" name="Text 11"/>
          <p:cNvSpPr txBox="1"/>
          <p:nvPr/>
        </p:nvSpPr>
        <p:spPr>
          <a:xfrm>
            <a:off x="8229600" y="5175504"/>
            <a:ext cx="3108960" cy="640080"/>
          </a:xfrm>
          <a:prstGeom prst="rect">
            <a:avLst/>
          </a:prstGeom>
          <a:noFill/>
          <a:ln/>
        </p:spPr>
        <p:txBody>
          <a:bodyPr wrap="square" lIns="0" tIns="0" rIns="0" bIns="0" rtlCol="0" anchor="t"/>
          <a:lstStyle/>
          <a:p>
            <a:pPr indent="0" marL="0">
              <a:buNone/>
            </a:pPr>
            <a:r>
              <a:rPr lang="en-US" sz="3400" b="1" dirty="0">
                <a:solidFill>
                  <a:schemeClr val="bg1"/>
                </a:solidFill>
                <a:latin typeface="Arial" pitchFamily="34" charset="0"/>
                <a:ea typeface="Arial" pitchFamily="34" charset="-122"/>
                <a:cs typeface="Arial" pitchFamily="34" charset="-120"/>
              </a:rPr>
              <a:t>3.61 mph</a:t>
            </a:r>
            <a:endParaRPr lang="en-US" sz="3400" dirty="0"/>
          </a:p>
        </p:txBody>
      </p:sp>
      <p:sp>
        <p:nvSpPr>
          <p:cNvPr id="15" name="Text 12"/>
          <p:cNvSpPr txBox="1"/>
          <p:nvPr/>
        </p:nvSpPr>
        <p:spPr>
          <a:xfrm>
            <a:off x="8229600" y="5724144"/>
            <a:ext cx="3200400" cy="320040"/>
          </a:xfrm>
          <a:prstGeom prst="rect">
            <a:avLst/>
          </a:prstGeom>
          <a:noFill/>
          <a:ln/>
        </p:spPr>
        <p:txBody>
          <a:bodyPr wrap="square" lIns="0" tIns="0" rIns="0" bIns="0" rtlCol="0" anchor="t"/>
          <a:lstStyle/>
          <a:p>
            <a:pPr indent="0" marL="0">
              <a:buNone/>
            </a:pPr>
            <a:r>
              <a:rPr lang="en-US" sz="1300" dirty="0">
                <a:solidFill>
                  <a:schemeClr val="bg2"/>
                </a:solidFill>
              </a:rPr>
              <a:t>best · gated hybrid · persistence 5.37</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Where the hybrid earns its keep</a:t>
            </a:r>
            <a:endParaRPr lang="en-US" sz="3600" dirty="0"/>
          </a:p>
        </p:txBody>
      </p:sp>
      <p:graphicFrame>
        <p:nvGraphicFramePr>
          <p:cNvPr id="3" name="Chart 0" descr=""/>
          <p:cNvGraphicFramePr/>
          <p:nvPr/>
        </p:nvGraphicFramePr>
        <p:xfrm>
          <a:off x="548640" y="1417320"/>
          <a:ext cx="5669280" cy="475488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6492240" y="1417320"/>
          <a:ext cx="5120640" cy="3383280"/>
        </p:xfrm>
        <a:graphic xmlns:a="http://schemas.openxmlformats.org/drawingml/2006/main">
          <a:graphicData uri="http://schemas.openxmlformats.org/drawingml/2006/chart">
            <c:chart xmlns:c="http://schemas.openxmlformats.org/drawingml/2006/chart" r:id="rId2"/>
          </a:graphicData>
        </a:graphic>
      </p:graphicFrame>
      <p:sp>
        <p:nvSpPr>
          <p:cNvPr id="5" name="card"/>
          <p:cNvSpPr/>
          <p:nvPr/>
        </p:nvSpPr>
        <p:spPr>
          <a:xfrm>
            <a:off x="6492240" y="4983480"/>
            <a:ext cx="5120640" cy="1188720"/>
          </a:xfrm>
          <a:prstGeom prst="roundRect">
            <a:avLst>
              <a:gd name="adj" fmla="val 9231"/>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6" name="Text 2"/>
          <p:cNvSpPr txBox="1"/>
          <p:nvPr/>
        </p:nvSpPr>
        <p:spPr>
          <a:xfrm>
            <a:off x="6766560" y="5074920"/>
            <a:ext cx="4572000" cy="1005840"/>
          </a:xfrm>
          <a:prstGeom prst="rect">
            <a:avLst/>
          </a:prstGeom>
          <a:noFill/>
          <a:ln/>
        </p:spPr>
        <p:txBody>
          <a:bodyPr wrap="square" lIns="0" tIns="0" rIns="0" bIns="0" rtlCol="0" anchor="ctr"/>
          <a:lstStyle/>
          <a:p>
            <a:pPr indent="0" marL="0">
              <a:buNone/>
            </a:pPr>
            <a:r>
              <a:rPr lang="en-US" sz="1500" dirty="0">
                <a:solidFill>
                  <a:schemeClr val="bg1"/>
                </a:solidFill>
              </a:rPr>
              <a:t>The gate trusts the graph model more at peaks and at longer horizons — exactly the hypothesis, learned from data.</a:t>
            </a:r>
            <a:endParaRPr lang="en-US" sz="15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731520" y="1737360"/>
            <a:ext cx="7315200" cy="457200"/>
          </a:xfrm>
          <a:prstGeom prst="rect">
            <a:avLst/>
          </a:prstGeom>
          <a:noFill/>
          <a:ln/>
        </p:spPr>
        <p:txBody>
          <a:bodyPr wrap="square" lIns="0" tIns="0" rIns="0" bIns="0" rtlCol="0"/>
          <a:lstStyle/>
          <a:p>
            <a:pPr algn="l" indent="0" marL="0">
              <a:buNone/>
            </a:pPr>
            <a:r>
              <a:rPr lang="en-US" sz="1600" b="1" spc="400" kern="0" dirty="0">
                <a:solidFill>
                  <a:schemeClr val="accent2"/>
                </a:solidFill>
              </a:rPr>
              <a:t>CHAPTER 06</a:t>
            </a:r>
            <a:endParaRPr lang="en-US" sz="1600" dirty="0"/>
          </a:p>
        </p:txBody>
      </p:sp>
      <p:sp>
        <p:nvSpPr>
          <p:cNvPr id="3" name="Text 0"/>
          <p:cNvSpPr/>
          <p:nvPr>
            <p:ph idx="101" type="title" hasCustomPrompt="1"/>
          </p:nvPr>
        </p:nvSpPr>
        <p:spPr>
          <a:xfrm>
            <a:off x="731520" y="2194560"/>
            <a:ext cx="10698480" cy="1280160"/>
          </a:xfrm>
          <a:prstGeom prst="rect">
            <a:avLst/>
          </a:prstGeom>
          <a:noFill/>
          <a:ln/>
        </p:spPr>
        <p:txBody>
          <a:bodyPr wrap="square" lIns="0" tIns="0" rIns="0" bIns="0" rtlCol="0" anchor="t"/>
          <a:lstStyle/>
          <a:p>
            <a:pPr algn="l" indent="0" marL="0">
              <a:buNone/>
            </a:pPr>
            <a:r>
              <a:rPr lang="en-US" sz="5000" b="1" dirty="0">
                <a:solidFill>
                  <a:schemeClr val="bg1"/>
                </a:solidFill>
              </a:rPr>
              <a:t>Breaking our own model</a:t>
            </a:r>
            <a:endParaRPr lang="en-US" sz="5000" dirty="0"/>
          </a:p>
        </p:txBody>
      </p:sp>
      <p:sp>
        <p:nvSpPr>
          <p:cNvPr id="4" name="Text 0"/>
          <p:cNvSpPr/>
          <p:nvPr>
            <p:ph idx="102" type="body" hasCustomPrompt="1"/>
          </p:nvPr>
        </p:nvSpPr>
        <p:spPr>
          <a:xfrm>
            <a:off x="731520" y="3520440"/>
            <a:ext cx="9601200" cy="1097280"/>
          </a:xfrm>
          <a:prstGeom prst="rect">
            <a:avLst/>
          </a:prstGeom>
          <a:noFill/>
          <a:ln/>
        </p:spPr>
        <p:txBody>
          <a:bodyPr wrap="square" lIns="0" tIns="0" rIns="0" bIns="0" rtlCol="0" anchor="t"/>
          <a:lstStyle/>
          <a:p>
            <a:pPr algn="l" indent="0" marL="0">
              <a:buNone/>
            </a:pPr>
            <a:r>
              <a:rPr lang="en-US" sz="2200" dirty="0">
                <a:solidFill>
                  <a:schemeClr val="bg2"/>
                </a:solidFill>
              </a:rPr>
              <a:t>Ablations, maps and attention — what really matters, and where.</a:t>
            </a:r>
            <a:endParaRPr lang="en-US" sz="2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Ablations: one change at a time</a:t>
            </a:r>
            <a:endParaRPr lang="en-US" sz="3600" dirty="0"/>
          </a:p>
        </p:txBody>
      </p:sp>
      <p:graphicFrame>
        <p:nvGraphicFramePr>
          <p:cNvPr id="3" name="Chart 0" descr=""/>
          <p:cNvGraphicFramePr/>
          <p:nvPr/>
        </p:nvGraphicFramePr>
        <p:xfrm>
          <a:off x="548640" y="1371600"/>
          <a:ext cx="6949440" cy="4892040"/>
        </p:xfrm>
        <a:graphic xmlns:a="http://schemas.openxmlformats.org/drawingml/2006/main">
          <a:graphicData uri="http://schemas.openxmlformats.org/drawingml/2006/chart">
            <c:chart xmlns:c="http://schemas.openxmlformats.org/drawingml/2006/chart" r:id="rId1"/>
          </a:graphicData>
        </a:graphic>
      </p:graphicFrame>
      <p:sp>
        <p:nvSpPr>
          <p:cNvPr id="4" name="card"/>
          <p:cNvSpPr/>
          <p:nvPr/>
        </p:nvSpPr>
        <p:spPr>
          <a:xfrm>
            <a:off x="7772400" y="1371600"/>
            <a:ext cx="3840480" cy="1508760"/>
          </a:xfrm>
          <a:prstGeom prst="roundRect">
            <a:avLst>
              <a:gd name="adj" fmla="val 7273"/>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5" name="Text 2"/>
          <p:cNvSpPr txBox="1"/>
          <p:nvPr/>
        </p:nvSpPr>
        <p:spPr>
          <a:xfrm>
            <a:off x="8046720" y="1600200"/>
            <a:ext cx="3291840" cy="754380"/>
          </a:xfrm>
          <a:prstGeom prst="rect">
            <a:avLst/>
          </a:prstGeom>
          <a:noFill/>
          <a:ln/>
        </p:spPr>
        <p:txBody>
          <a:bodyPr wrap="square" lIns="0" tIns="0" rIns="0" bIns="0" rtlCol="0" anchor="ctr"/>
          <a:lstStyle/>
          <a:p>
            <a:pPr indent="0" marL="0">
              <a:buNone/>
            </a:pPr>
            <a:r>
              <a:rPr lang="en-US" sz="3000" b="1" dirty="0">
                <a:solidFill>
                  <a:schemeClr val="accent1"/>
                </a:solidFill>
                <a:latin typeface="Arial" pitchFamily="34" charset="0"/>
                <a:ea typeface="Arial" pitchFamily="34" charset="-122"/>
                <a:cs typeface="Arial" pitchFamily="34" charset="-120"/>
              </a:rPr>
              <a:t>+0.63 / +0.69</a:t>
            </a:r>
            <a:endParaRPr lang="en-US" sz="3000" dirty="0"/>
          </a:p>
        </p:txBody>
      </p:sp>
      <p:sp>
        <p:nvSpPr>
          <p:cNvPr id="6" name="Text 3"/>
          <p:cNvSpPr txBox="1"/>
          <p:nvPr/>
        </p:nvSpPr>
        <p:spPr>
          <a:xfrm>
            <a:off x="8046720" y="2354580"/>
            <a:ext cx="3291840" cy="434340"/>
          </a:xfrm>
          <a:prstGeom prst="rect">
            <a:avLst/>
          </a:prstGeom>
          <a:noFill/>
          <a:ln/>
        </p:spPr>
        <p:txBody>
          <a:bodyPr wrap="square" lIns="0" tIns="0" rIns="0" bIns="0" rtlCol="0" anchor="t"/>
          <a:lstStyle/>
          <a:p>
            <a:pPr indent="0" marL="0">
              <a:buNone/>
            </a:pPr>
            <a:r>
              <a:rPr lang="en-US" sz="1400" dirty="0">
                <a:solidFill>
                  <a:schemeClr val="bg2"/>
                </a:solidFill>
              </a:rPr>
              <a:t>remove node embedding / calendar features</a:t>
            </a:r>
            <a:endParaRPr lang="en-US" sz="1400" dirty="0"/>
          </a:p>
        </p:txBody>
      </p:sp>
      <p:sp>
        <p:nvSpPr>
          <p:cNvPr id="7" name="card"/>
          <p:cNvSpPr/>
          <p:nvPr/>
        </p:nvSpPr>
        <p:spPr>
          <a:xfrm>
            <a:off x="7772400" y="3063240"/>
            <a:ext cx="3840480" cy="1508760"/>
          </a:xfrm>
          <a:prstGeom prst="roundRect">
            <a:avLst>
              <a:gd name="adj" fmla="val 7273"/>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8" name="Text 5"/>
          <p:cNvSpPr txBox="1"/>
          <p:nvPr/>
        </p:nvSpPr>
        <p:spPr>
          <a:xfrm>
            <a:off x="8046720" y="3291840"/>
            <a:ext cx="3291840" cy="754380"/>
          </a:xfrm>
          <a:prstGeom prst="rect">
            <a:avLst/>
          </a:prstGeom>
          <a:noFill/>
          <a:ln/>
        </p:spPr>
        <p:txBody>
          <a:bodyPr wrap="square" lIns="0" tIns="0" rIns="0" bIns="0" rtlCol="0" anchor="ctr"/>
          <a:lstStyle/>
          <a:p>
            <a:pPr indent="0" marL="0">
              <a:buNone/>
            </a:pPr>
            <a:r>
              <a:rPr lang="en-US" sz="3000" b="1" dirty="0">
                <a:solidFill>
                  <a:schemeClr val="accent3"/>
                </a:solidFill>
                <a:latin typeface="Arial" pitchFamily="34" charset="0"/>
                <a:ea typeface="Arial" pitchFamily="34" charset="-122"/>
                <a:cs typeface="Arial" pitchFamily="34" charset="-120"/>
              </a:rPr>
              <a:t>−0.14</a:t>
            </a:r>
            <a:endParaRPr lang="en-US" sz="3000" dirty="0"/>
          </a:p>
        </p:txBody>
      </p:sp>
      <p:sp>
        <p:nvSpPr>
          <p:cNvPr id="9" name="Text 6"/>
          <p:cNvSpPr txBox="1"/>
          <p:nvPr/>
        </p:nvSpPr>
        <p:spPr>
          <a:xfrm>
            <a:off x="8046720" y="4046220"/>
            <a:ext cx="3291840" cy="434340"/>
          </a:xfrm>
          <a:prstGeom prst="rect">
            <a:avLst/>
          </a:prstGeom>
          <a:noFill/>
          <a:ln/>
        </p:spPr>
        <p:txBody>
          <a:bodyPr wrap="square" lIns="0" tIns="0" rIns="0" bIns="0" rtlCol="0" anchor="t"/>
          <a:lstStyle/>
          <a:p>
            <a:pPr indent="0" marL="0">
              <a:buNone/>
            </a:pPr>
            <a:r>
              <a:rPr lang="en-US" sz="1400" dirty="0">
                <a:solidFill>
                  <a:schemeClr val="bg2"/>
                </a:solidFill>
              </a:rPr>
              <a:t>no-neighbour graph — not worse under this budget</a:t>
            </a:r>
            <a:endParaRPr lang="en-US" sz="1400" dirty="0"/>
          </a:p>
        </p:txBody>
      </p:sp>
      <p:sp>
        <p:nvSpPr>
          <p:cNvPr id="10" name="card"/>
          <p:cNvSpPr/>
          <p:nvPr/>
        </p:nvSpPr>
        <p:spPr>
          <a:xfrm>
            <a:off x="7772400" y="4754880"/>
            <a:ext cx="3840480" cy="1508760"/>
          </a:xfrm>
          <a:prstGeom prst="roundRect">
            <a:avLst>
              <a:gd name="adj" fmla="val 7273"/>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11" name="Text 8"/>
          <p:cNvSpPr txBox="1"/>
          <p:nvPr/>
        </p:nvSpPr>
        <p:spPr>
          <a:xfrm>
            <a:off x="8046720" y="4846320"/>
            <a:ext cx="3291840" cy="1325880"/>
          </a:xfrm>
          <a:prstGeom prst="rect">
            <a:avLst/>
          </a:prstGeom>
          <a:noFill/>
          <a:ln/>
        </p:spPr>
        <p:txBody>
          <a:bodyPr wrap="square" lIns="0" tIns="0" rIns="0" bIns="0" rtlCol="0" anchor="ctr"/>
          <a:lstStyle/>
          <a:p>
            <a:pPr indent="0" marL="0">
              <a:buNone/>
            </a:pPr>
            <a:r>
              <a:rPr lang="en-US" sz="1300" dirty="0">
                <a:solidFill>
                  <a:schemeClr val="bg2"/>
                </a:solidFill>
              </a:rPr>
              <a:t>1 seed, 12 epochs each (laptop budget): differences under ~0.05 mph are noise. The 3-seed GRU comparison is the stronger evidence.</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Where the graph helps, on the map</a:t>
            </a:r>
            <a:endParaRPr lang="en-US" sz="3600" dirty="0"/>
          </a:p>
        </p:txBody>
      </p:sp>
      <p:sp>
        <p:nvSpPr>
          <p:cNvPr id="3" name="figure frame"/>
          <p:cNvSpPr/>
          <p:nvPr/>
        </p:nvSpPr>
        <p:spPr>
          <a:xfrm>
            <a:off x="548640" y="1371600"/>
            <a:ext cx="4206240" cy="3886200"/>
          </a:xfrm>
          <a:prstGeom prst="roundRect">
            <a:avLst>
              <a:gd name="adj" fmla="val 2353"/>
            </a:avLst>
          </a:prstGeom>
          <a:solidFill>
            <a:schemeClr val="bg1"/>
          </a:solidFill>
          <a:ln w="12700">
            <a:solidFill>
              <a:schemeClr val="bg1">
                <a:alpha val="0"/>
              </a:schemeClr>
            </a:solidFill>
            <a:prstDash val="solid"/>
          </a:ln>
          <a:effectLst>
            <a:outerShdw sx="100000" sy="100000" kx="0" ky="0" algn="bl" rotWithShape="0" blurRad="177800" dist="38100" dir="5400000">
              <a:srgbClr val="000000">
                <a:alpha val="45000"/>
              </a:srgbClr>
            </a:outerShdw>
          </a:effectLst>
        </p:spPr>
      </p:sp>
      <p:pic>
        <p:nvPicPr>
          <p:cNvPr id="4" name="Image 0" descr="maps error diff h12 peak">    </p:cNvPr>
          <p:cNvPicPr>
            <a:picLocks noChangeAspect="1"/>
          </p:cNvPicPr>
          <p:nvPr/>
        </p:nvPicPr>
        <p:blipFill>
          <a:blip r:embed="rId1"/>
          <a:stretch>
            <a:fillRect/>
          </a:stretch>
        </p:blipFill>
        <p:spPr>
          <a:xfrm>
            <a:off x="665607" y="1481328"/>
            <a:ext cx="3972306" cy="3666744"/>
          </a:xfrm>
          <a:prstGeom prst="rect">
            <a:avLst/>
          </a:prstGeom>
        </p:spPr>
      </p:pic>
      <p:sp>
        <p:nvSpPr>
          <p:cNvPr id="5" name="figure frame"/>
          <p:cNvSpPr/>
          <p:nvPr/>
        </p:nvSpPr>
        <p:spPr>
          <a:xfrm>
            <a:off x="4983480" y="1371600"/>
            <a:ext cx="6629400" cy="2743200"/>
          </a:xfrm>
          <a:prstGeom prst="roundRect">
            <a:avLst>
              <a:gd name="adj" fmla="val 3333"/>
            </a:avLst>
          </a:prstGeom>
          <a:solidFill>
            <a:schemeClr val="bg1"/>
          </a:solidFill>
          <a:ln w="12700">
            <a:solidFill>
              <a:schemeClr val="bg1">
                <a:alpha val="0"/>
              </a:schemeClr>
            </a:solidFill>
            <a:prstDash val="solid"/>
          </a:ln>
          <a:effectLst>
            <a:outerShdw sx="100000" sy="100000" kx="0" ky="0" algn="bl" rotWithShape="0" blurRad="177800" dist="38100" dir="5400000">
              <a:srgbClr val="000000">
                <a:alpha val="45000"/>
              </a:srgbClr>
            </a:outerShdw>
          </a:effectLst>
        </p:spPr>
      </p:sp>
      <p:pic>
        <p:nvPicPr>
          <p:cNvPr id="6" name="Image 1" descr="maps space time">    </p:cNvPr>
          <p:cNvPicPr>
            <a:picLocks noChangeAspect="1"/>
          </p:cNvPicPr>
          <p:nvPr/>
        </p:nvPicPr>
        <p:blipFill>
          <a:blip r:embed="rId2"/>
          <a:stretch>
            <a:fillRect/>
          </a:stretch>
        </p:blipFill>
        <p:spPr>
          <a:xfrm>
            <a:off x="5227869" y="1481328"/>
            <a:ext cx="6140621" cy="2523744"/>
          </a:xfrm>
          <a:prstGeom prst="rect">
            <a:avLst/>
          </a:prstGeom>
        </p:spPr>
      </p:pic>
      <p:sp>
        <p:nvSpPr>
          <p:cNvPr id="7" name="card"/>
          <p:cNvSpPr/>
          <p:nvPr/>
        </p:nvSpPr>
        <p:spPr>
          <a:xfrm>
            <a:off x="4983480" y="4343400"/>
            <a:ext cx="6629400" cy="1828800"/>
          </a:xfrm>
          <a:prstGeom prst="roundRect">
            <a:avLst>
              <a:gd name="adj" fmla="val 6000"/>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8" name="Text 4"/>
          <p:cNvSpPr txBox="1"/>
          <p:nvPr/>
        </p:nvSpPr>
        <p:spPr>
          <a:xfrm>
            <a:off x="5257800" y="4526280"/>
            <a:ext cx="6126480" cy="1554480"/>
          </a:xfrm>
          <a:prstGeom prst="rect">
            <a:avLst/>
          </a:prstGeom>
          <a:noFill/>
          <a:ln/>
        </p:spPr>
        <p:txBody>
          <a:bodyPr wrap="square" lIns="0" tIns="0" rIns="0" bIns="0" rtlCol="0" anchor="t"/>
          <a:lstStyle/>
          <a:p>
            <a:pPr marL="228600" indent="-228600">
              <a:spcAft>
                <a:spcPts val="800"/>
              </a:spcAft>
              <a:buSzPct val="100000"/>
              <a:buChar char="•"/>
            </a:pPr>
            <a:r>
              <a:rPr lang="en-US" sz="1400" dirty="0">
                <a:solidFill>
                  <a:schemeClr val="bg1"/>
                </a:solidFill>
              </a:rPr>
              <a:t>Left: blue sensors are where STGAT beats XGBoost at 60 min during peaks — gains cluster on specific freeway segments</a:t>
            </a:r>
            <a:endParaRPr lang="en-US" sz="1400" dirty="0"/>
          </a:p>
          <a:p>
            <a:pPr marL="228600" indent="-228600">
              <a:spcAft>
                <a:spcPts val="800"/>
              </a:spcAft>
              <a:buSzPct val="100000"/>
              <a:buChar char="•"/>
            </a:pPr>
            <a:r>
              <a:rPr lang="en-US" sz="1400" dirty="0">
                <a:solidFill>
                  <a:schemeClr val="bg1"/>
                </a:solidFill>
              </a:rPr>
              <a:t>Right: 18-sensor corridor, June 21 — neither model anticipates the sudden 10:00 breakdown; onset is the hardest event to forecast</a:t>
            </a:r>
            <a:endParaRPr lang="en-US" sz="1400" dirty="0"/>
          </a:p>
        </p:txBody>
      </p:sp>
      <p:sp>
        <p:nvSpPr>
          <p:cNvPr id="9" name="Text 5"/>
          <p:cNvSpPr txBox="1"/>
          <p:nvPr/>
        </p:nvSpPr>
        <p:spPr>
          <a:xfrm>
            <a:off x="548640" y="5440680"/>
            <a:ext cx="4206240" cy="365760"/>
          </a:xfrm>
          <a:prstGeom prst="rect">
            <a:avLst/>
          </a:prstGeom>
          <a:noFill/>
          <a:ln/>
        </p:spPr>
        <p:txBody>
          <a:bodyPr wrap="square" lIns="0" tIns="0" rIns="0" bIns="0" rtlCol="0" anchor="t"/>
          <a:lstStyle/>
          <a:p>
            <a:pPr indent="0" marL="0">
              <a:buNone/>
            </a:pPr>
            <a:r>
              <a:rPr lang="en-US" sz="1300" dirty="0">
                <a:solidFill>
                  <a:schemeClr val="bg2"/>
                </a:solidFill>
              </a:rPr>
              <a:t>Interactive maps: results/maps/*.html</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What does attention look at?</a:t>
            </a:r>
            <a:endParaRPr lang="en-US" sz="3600" dirty="0"/>
          </a:p>
        </p:txBody>
      </p:sp>
      <p:sp>
        <p:nvSpPr>
          <p:cNvPr id="3" name="figure frame"/>
          <p:cNvSpPr/>
          <p:nvPr/>
        </p:nvSpPr>
        <p:spPr>
          <a:xfrm>
            <a:off x="548640" y="1371600"/>
            <a:ext cx="11064240" cy="2926080"/>
          </a:xfrm>
          <a:prstGeom prst="roundRect">
            <a:avLst>
              <a:gd name="adj" fmla="val 3125"/>
            </a:avLst>
          </a:prstGeom>
          <a:solidFill>
            <a:schemeClr val="bg1"/>
          </a:solidFill>
          <a:ln w="12700">
            <a:solidFill>
              <a:schemeClr val="bg1">
                <a:alpha val="0"/>
              </a:schemeClr>
            </a:solidFill>
            <a:prstDash val="solid"/>
          </a:ln>
          <a:effectLst>
            <a:outerShdw sx="100000" sy="100000" kx="0" ky="0" algn="bl" rotWithShape="0" blurRad="177800" dist="38100" dir="5400000">
              <a:srgbClr val="000000">
                <a:alpha val="45000"/>
              </a:srgbClr>
            </a:outerShdw>
          </a:effectLst>
        </p:spPr>
      </p:sp>
      <p:pic>
        <p:nvPicPr>
          <p:cNvPr id="4" name="Image 0" descr="maps attention am peak">    </p:cNvPr>
          <p:cNvPicPr>
            <a:picLocks noChangeAspect="1"/>
          </p:cNvPicPr>
          <p:nvPr/>
        </p:nvPicPr>
        <p:blipFill>
          <a:blip r:embed="rId1"/>
          <a:stretch>
            <a:fillRect/>
          </a:stretch>
        </p:blipFill>
        <p:spPr>
          <a:xfrm>
            <a:off x="2020824" y="1481328"/>
            <a:ext cx="8119872" cy="2706624"/>
          </a:xfrm>
          <a:prstGeom prst="rect">
            <a:avLst/>
          </a:prstGeom>
        </p:spPr>
      </p:pic>
      <p:sp>
        <p:nvSpPr>
          <p:cNvPr id="5" name="card"/>
          <p:cNvSpPr/>
          <p:nvPr/>
        </p:nvSpPr>
        <p:spPr>
          <a:xfrm>
            <a:off x="548640" y="4526280"/>
            <a:ext cx="3566160" cy="1645920"/>
          </a:xfrm>
          <a:prstGeom prst="roundRect">
            <a:avLst>
              <a:gd name="adj" fmla="val 6667"/>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6" name="Text 3"/>
          <p:cNvSpPr txBox="1"/>
          <p:nvPr/>
        </p:nvSpPr>
        <p:spPr>
          <a:xfrm>
            <a:off x="822960" y="4754880"/>
            <a:ext cx="3017520" cy="822960"/>
          </a:xfrm>
          <a:prstGeom prst="rect">
            <a:avLst/>
          </a:prstGeom>
          <a:noFill/>
          <a:ln/>
        </p:spPr>
        <p:txBody>
          <a:bodyPr wrap="square" lIns="0" tIns="0" rIns="0" bIns="0" rtlCol="0" anchor="ctr"/>
          <a:lstStyle/>
          <a:p>
            <a:pPr indent="0" marL="0">
              <a:buNone/>
            </a:pPr>
            <a:r>
              <a:rPr lang="en-US" sz="3000" b="1" dirty="0">
                <a:solidFill>
                  <a:schemeClr val="accent2"/>
                </a:solidFill>
                <a:latin typeface="Arial" pitchFamily="34" charset="0"/>
                <a:ea typeface="Arial" pitchFamily="34" charset="-122"/>
                <a:cs typeface="Arial" pitchFamily="34" charset="-120"/>
              </a:rPr>
              <a:t>39% / 39%</a:t>
            </a:r>
            <a:endParaRPr lang="en-US" sz="3000" dirty="0"/>
          </a:p>
        </p:txBody>
      </p:sp>
      <p:sp>
        <p:nvSpPr>
          <p:cNvPr id="7" name="Text 4"/>
          <p:cNvSpPr txBox="1"/>
          <p:nvPr/>
        </p:nvSpPr>
        <p:spPr>
          <a:xfrm>
            <a:off x="822960" y="5577840"/>
            <a:ext cx="3017520" cy="502920"/>
          </a:xfrm>
          <a:prstGeom prst="rect">
            <a:avLst/>
          </a:prstGeom>
          <a:noFill/>
          <a:ln/>
        </p:spPr>
        <p:txBody>
          <a:bodyPr wrap="square" lIns="0" tIns="0" rIns="0" bIns="0" rtlCol="0" anchor="t"/>
          <a:lstStyle/>
          <a:p>
            <a:pPr indent="0" marL="0">
              <a:buNone/>
            </a:pPr>
            <a:r>
              <a:rPr lang="en-US" sz="1400" dirty="0">
                <a:solidFill>
                  <a:schemeClr val="bg2"/>
                </a:solidFill>
              </a:rPr>
              <a:t>downstream / upstream attention at the AM peak</a:t>
            </a:r>
            <a:endParaRPr lang="en-US" sz="1400" dirty="0"/>
          </a:p>
        </p:txBody>
      </p:sp>
      <p:sp>
        <p:nvSpPr>
          <p:cNvPr id="8" name="card"/>
          <p:cNvSpPr/>
          <p:nvPr/>
        </p:nvSpPr>
        <p:spPr>
          <a:xfrm>
            <a:off x="4297680" y="4526280"/>
            <a:ext cx="3566160" cy="1645920"/>
          </a:xfrm>
          <a:prstGeom prst="roundRect">
            <a:avLst>
              <a:gd name="adj" fmla="val 6667"/>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9" name="Text 6"/>
          <p:cNvSpPr txBox="1"/>
          <p:nvPr/>
        </p:nvSpPr>
        <p:spPr>
          <a:xfrm>
            <a:off x="4572000" y="4754880"/>
            <a:ext cx="3017520" cy="822960"/>
          </a:xfrm>
          <a:prstGeom prst="rect">
            <a:avLst/>
          </a:prstGeom>
          <a:noFill/>
          <a:ln/>
        </p:spPr>
        <p:txBody>
          <a:bodyPr wrap="square" lIns="0" tIns="0" rIns="0" bIns="0" rtlCol="0" anchor="ctr"/>
          <a:lstStyle/>
          <a:p>
            <a:pPr indent="0" marL="0">
              <a:buNone/>
            </a:pPr>
            <a:r>
              <a:rPr lang="en-US" sz="3000" b="1" dirty="0">
                <a:solidFill>
                  <a:schemeClr val="accent4"/>
                </a:solidFill>
                <a:latin typeface="Arial" pitchFamily="34" charset="0"/>
                <a:ea typeface="Arial" pitchFamily="34" charset="-122"/>
                <a:cs typeface="Arial" pitchFamily="34" charset="-120"/>
              </a:rPr>
              <a:t>39% / 39%</a:t>
            </a:r>
            <a:endParaRPr lang="en-US" sz="3000" dirty="0"/>
          </a:p>
        </p:txBody>
      </p:sp>
      <p:sp>
        <p:nvSpPr>
          <p:cNvPr id="10" name="Text 7"/>
          <p:cNvSpPr txBox="1"/>
          <p:nvPr/>
        </p:nvSpPr>
        <p:spPr>
          <a:xfrm>
            <a:off x="4572000" y="5577840"/>
            <a:ext cx="3017520" cy="502920"/>
          </a:xfrm>
          <a:prstGeom prst="rect">
            <a:avLst/>
          </a:prstGeom>
          <a:noFill/>
          <a:ln/>
        </p:spPr>
        <p:txBody>
          <a:bodyPr wrap="square" lIns="0" tIns="0" rIns="0" bIns="0" rtlCol="0" anchor="t"/>
          <a:lstStyle/>
          <a:p>
            <a:pPr indent="0" marL="0">
              <a:buNone/>
            </a:pPr>
            <a:r>
              <a:rPr lang="en-US" sz="1400" dirty="0">
                <a:solidFill>
                  <a:schemeClr val="bg2"/>
                </a:solidFill>
              </a:rPr>
              <a:t>the same split at night</a:t>
            </a:r>
            <a:endParaRPr lang="en-US" sz="1400" dirty="0"/>
          </a:p>
        </p:txBody>
      </p:sp>
      <p:sp>
        <p:nvSpPr>
          <p:cNvPr id="11" name="card"/>
          <p:cNvSpPr/>
          <p:nvPr/>
        </p:nvSpPr>
        <p:spPr>
          <a:xfrm>
            <a:off x="8046720" y="4526280"/>
            <a:ext cx="3566160" cy="1645920"/>
          </a:xfrm>
          <a:prstGeom prst="roundRect">
            <a:avLst>
              <a:gd name="adj" fmla="val 6667"/>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12" name="Text 9"/>
          <p:cNvSpPr txBox="1"/>
          <p:nvPr/>
        </p:nvSpPr>
        <p:spPr>
          <a:xfrm>
            <a:off x="8321040" y="4663440"/>
            <a:ext cx="3017520" cy="1371600"/>
          </a:xfrm>
          <a:prstGeom prst="rect">
            <a:avLst/>
          </a:prstGeom>
          <a:noFill/>
          <a:ln/>
        </p:spPr>
        <p:txBody>
          <a:bodyPr wrap="square" lIns="0" tIns="0" rIns="0" bIns="0" rtlCol="0" anchor="ctr"/>
          <a:lstStyle/>
          <a:p>
            <a:pPr indent="0" marL="0">
              <a:buNone/>
            </a:pPr>
            <a:r>
              <a:rPr lang="en-US" sz="1500" dirty="0">
                <a:solidFill>
                  <a:schemeClr val="bg1"/>
                </a:solidFill>
              </a:rPr>
              <a:t>No peak-specific shift. Attention is a probe, not proof of causation.</a:t>
            </a:r>
            <a:endParaRPr lang="en-US" sz="15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731520" y="1737360"/>
            <a:ext cx="7315200" cy="457200"/>
          </a:xfrm>
          <a:prstGeom prst="rect">
            <a:avLst/>
          </a:prstGeom>
          <a:noFill/>
          <a:ln/>
        </p:spPr>
        <p:txBody>
          <a:bodyPr wrap="square" lIns="0" tIns="0" rIns="0" bIns="0" rtlCol="0"/>
          <a:lstStyle/>
          <a:p>
            <a:pPr algn="l" indent="0" marL="0">
              <a:buNone/>
            </a:pPr>
            <a:r>
              <a:rPr lang="en-US" sz="1600" b="1" spc="400" kern="0" dirty="0">
                <a:solidFill>
                  <a:schemeClr val="accent2"/>
                </a:solidFill>
              </a:rPr>
              <a:t>CHAPTER 07  ·  OFFLINE SIMULATION</a:t>
            </a:r>
            <a:endParaRPr lang="en-US" sz="1600" dirty="0"/>
          </a:p>
        </p:txBody>
      </p:sp>
      <p:sp>
        <p:nvSpPr>
          <p:cNvPr id="3" name="Text 0"/>
          <p:cNvSpPr/>
          <p:nvPr>
            <p:ph idx="101" type="title" hasCustomPrompt="1"/>
          </p:nvPr>
        </p:nvSpPr>
        <p:spPr>
          <a:xfrm>
            <a:off x="731520" y="2194560"/>
            <a:ext cx="10698480" cy="1280160"/>
          </a:xfrm>
          <a:prstGeom prst="rect">
            <a:avLst/>
          </a:prstGeom>
          <a:noFill/>
          <a:ln/>
        </p:spPr>
        <p:txBody>
          <a:bodyPr wrap="square" lIns="0" tIns="0" rIns="0" bIns="0" rtlCol="0" anchor="t"/>
          <a:lstStyle/>
          <a:p>
            <a:pPr algn="l" indent="0" marL="0">
              <a:buNone/>
            </a:pPr>
            <a:r>
              <a:rPr lang="en-US" sz="5000" b="1" dirty="0">
                <a:solidFill>
                  <a:schemeClr val="bg1"/>
                </a:solidFill>
              </a:rPr>
              <a:t>From forecast to action</a:t>
            </a:r>
            <a:endParaRPr lang="en-US" sz="5000" dirty="0"/>
          </a:p>
        </p:txBody>
      </p:sp>
      <p:sp>
        <p:nvSpPr>
          <p:cNvPr id="4" name="Text 0"/>
          <p:cNvSpPr/>
          <p:nvPr>
            <p:ph idx="102" type="body" hasCustomPrompt="1"/>
          </p:nvPr>
        </p:nvSpPr>
        <p:spPr>
          <a:xfrm>
            <a:off x="731520" y="3520440"/>
            <a:ext cx="9601200" cy="1097280"/>
          </a:xfrm>
          <a:prstGeom prst="rect">
            <a:avLst/>
          </a:prstGeom>
          <a:noFill/>
          <a:ln/>
        </p:spPr>
        <p:txBody>
          <a:bodyPr wrap="square" lIns="0" tIns="0" rIns="0" bIns="0" rtlCol="0" anchor="t"/>
          <a:lstStyle/>
          <a:p>
            <a:pPr algn="l" indent="0" marL="0">
              <a:buNone/>
            </a:pPr>
            <a:r>
              <a:rPr lang="en-US" sz="2200" dirty="0">
                <a:solidFill>
                  <a:schemeClr val="bg2"/>
                </a:solidFill>
              </a:rPr>
              <a:t>Freeways have no traffic lights — so we simulated on-ramp metering. Synthetic network; no real-world control is performed or claimed.</a:t>
            </a:r>
            <a:endParaRPr lang="en-US" sz="2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Ramp metering in a simulated corridor</a:t>
            </a:r>
            <a:endParaRPr lang="en-US" sz="3600" dirty="0"/>
          </a:p>
        </p:txBody>
      </p:sp>
      <p:graphicFrame>
        <p:nvGraphicFramePr>
          <p:cNvPr id="3" name="Chart 0" descr=""/>
          <p:cNvGraphicFramePr/>
          <p:nvPr/>
        </p:nvGraphicFramePr>
        <p:xfrm>
          <a:off x="548640" y="1371600"/>
          <a:ext cx="5486400" cy="329184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6126480" y="1371600"/>
          <a:ext cx="5486400" cy="3291840"/>
        </p:xfrm>
        <a:graphic xmlns:a="http://schemas.openxmlformats.org/drawingml/2006/main">
          <a:graphicData uri="http://schemas.openxmlformats.org/drawingml/2006/chart">
            <c:chart xmlns:c="http://schemas.openxmlformats.org/drawingml/2006/chart" r:id="rId2"/>
          </a:graphicData>
        </a:graphic>
      </p:graphicFrame>
      <p:sp>
        <p:nvSpPr>
          <p:cNvPr id="5" name="card"/>
          <p:cNvSpPr/>
          <p:nvPr/>
        </p:nvSpPr>
        <p:spPr>
          <a:xfrm>
            <a:off x="548640" y="4846320"/>
            <a:ext cx="7223760" cy="1325880"/>
          </a:xfrm>
          <a:prstGeom prst="roundRect">
            <a:avLst>
              <a:gd name="adj" fmla="val 8276"/>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6" name="Text 2"/>
          <p:cNvSpPr txBox="1"/>
          <p:nvPr/>
        </p:nvSpPr>
        <p:spPr>
          <a:xfrm>
            <a:off x="822960" y="4983480"/>
            <a:ext cx="6766560" cy="1143000"/>
          </a:xfrm>
          <a:prstGeom prst="rect">
            <a:avLst/>
          </a:prstGeom>
          <a:noFill/>
          <a:ln/>
        </p:spPr>
        <p:txBody>
          <a:bodyPr wrap="square" lIns="0" tIns="0" rIns="0" bIns="0" rtlCol="0" anchor="t"/>
          <a:lstStyle/>
          <a:p>
            <a:pPr marL="228600" indent="-228600">
              <a:spcAft>
                <a:spcPts val="800"/>
              </a:spcAft>
              <a:buSzPct val="100000"/>
              <a:buChar char="•"/>
            </a:pPr>
            <a:r>
              <a:rPr lang="en-US" sz="1300" dirty="0">
                <a:solidFill>
                  <a:schemeClr val="bg1"/>
                </a:solidFill>
              </a:rPr>
              <a:t>Cell Transmission Model: 12 cells, 3 ramps, bottleneck, 12% capacity drop; demand shaped by real METR-LA congestion; 5 test weekdays</a:t>
            </a:r>
            <a:endParaRPr lang="en-US" sz="1300" dirty="0"/>
          </a:p>
          <a:p>
            <a:pPr marL="228600" indent="-228600">
              <a:spcAft>
                <a:spcPts val="800"/>
              </a:spcAft>
              <a:buSzPct val="100000"/>
              <a:buChar char="•"/>
            </a:pPr>
            <a:r>
              <a:rPr lang="en-US" sz="1300" dirty="0">
                <a:solidFill>
                  <a:schemeClr val="bg1"/>
                </a:solidFill>
              </a:rPr>
              <a:t>ALINEA cuts mainline congestion ~40% — but total time is unchanged: delay moves to the ramps</a:t>
            </a:r>
            <a:endParaRPr lang="en-US" sz="1300" dirty="0"/>
          </a:p>
        </p:txBody>
      </p:sp>
      <p:sp>
        <p:nvSpPr>
          <p:cNvPr id="7" name="card"/>
          <p:cNvSpPr/>
          <p:nvPr/>
        </p:nvSpPr>
        <p:spPr>
          <a:xfrm>
            <a:off x="8046720" y="4846320"/>
            <a:ext cx="3566160" cy="1325880"/>
          </a:xfrm>
          <a:prstGeom prst="roundRect">
            <a:avLst>
              <a:gd name="adj" fmla="val 8276"/>
            </a:avLst>
          </a:prstGeom>
          <a:solidFill>
            <a:srgbClr val="3A1E28"/>
          </a:solidFill>
          <a:ln w="12700">
            <a:solidFill>
              <a:srgbClr val="3A1E28">
                <a:alpha val="0"/>
              </a:srgbClr>
            </a:solidFill>
            <a:prstDash val="solid"/>
          </a:ln>
          <a:effectLst>
            <a:outerShdw sx="100000" sy="100000" kx="0" ky="0" algn="bl" rotWithShape="0" blurRad="177800" dist="38100" dir="5400000">
              <a:srgbClr val="000000">
                <a:alpha val="45000"/>
              </a:srgbClr>
            </a:outerShdw>
          </a:effectLst>
        </p:spPr>
      </p:sp>
      <p:sp>
        <p:nvSpPr>
          <p:cNvPr id="8" name="Text 4"/>
          <p:cNvSpPr txBox="1"/>
          <p:nvPr/>
        </p:nvSpPr>
        <p:spPr>
          <a:xfrm>
            <a:off x="8321040" y="4846320"/>
            <a:ext cx="3017520" cy="1325880"/>
          </a:xfrm>
          <a:prstGeom prst="rect">
            <a:avLst/>
          </a:prstGeom>
          <a:noFill/>
          <a:ln/>
        </p:spPr>
        <p:txBody>
          <a:bodyPr wrap="square" lIns="0" tIns="0" rIns="0" bIns="0" rtlCol="0" anchor="ctr"/>
          <a:lstStyle/>
          <a:p>
            <a:pPr indent="0" marL="0">
              <a:buNone/>
            </a:pPr>
            <a:r>
              <a:rPr lang="en-US" sz="1500" b="1" dirty="0">
                <a:solidFill>
                  <a:schemeClr val="accent2"/>
                </a:solidFill>
              </a:rPr>
              <a:t>Forecasts gave no measurable benefit in this simulation.</a:t>
            </a:r>
            <a:endParaRPr lang="en-US" sz="15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What we learned</a:t>
            </a:r>
            <a:endParaRPr lang="en-US" sz="3600" dirty="0"/>
          </a:p>
        </p:txBody>
      </p:sp>
      <p:sp>
        <p:nvSpPr>
          <p:cNvPr id="3" name="card"/>
          <p:cNvSpPr/>
          <p:nvPr/>
        </p:nvSpPr>
        <p:spPr>
          <a:xfrm>
            <a:off x="548640" y="1371600"/>
            <a:ext cx="11064240" cy="850392"/>
          </a:xfrm>
          <a:prstGeom prst="roundRect">
            <a:avLst>
              <a:gd name="adj" fmla="val 12903"/>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4" name="Shape 2"/>
          <p:cNvSpPr/>
          <p:nvPr/>
        </p:nvSpPr>
        <p:spPr>
          <a:xfrm>
            <a:off x="777240" y="1499616"/>
            <a:ext cx="594360" cy="594360"/>
          </a:xfrm>
          <a:prstGeom prst="ellipse">
            <a:avLst/>
          </a:prstGeom>
          <a:solidFill>
            <a:schemeClr val="accent2"/>
          </a:solidFill>
          <a:ln w="12700">
            <a:solidFill>
              <a:schemeClr val="accent2">
                <a:alpha val="0"/>
              </a:schemeClr>
            </a:solidFill>
            <a:prstDash val="solid"/>
          </a:ln>
        </p:spPr>
      </p:sp>
      <p:sp>
        <p:nvSpPr>
          <p:cNvPr id="5" name="Text 3"/>
          <p:cNvSpPr txBox="1"/>
          <p:nvPr/>
        </p:nvSpPr>
        <p:spPr>
          <a:xfrm>
            <a:off x="777240" y="1499616"/>
            <a:ext cx="594360" cy="594360"/>
          </a:xfrm>
          <a:prstGeom prst="rect">
            <a:avLst/>
          </a:prstGeom>
          <a:noFill/>
          <a:ln/>
        </p:spPr>
        <p:txBody>
          <a:bodyPr wrap="square" lIns="0" tIns="0" rIns="0" bIns="0" rtlCol="0" anchor="ctr"/>
          <a:lstStyle/>
          <a:p>
            <a:pPr algn="ctr" indent="0" marL="0">
              <a:buNone/>
            </a:pPr>
            <a:r>
              <a:rPr lang="en-US" sz="1500" b="1" dirty="0">
                <a:solidFill>
                  <a:srgbClr val="0A0F1E"/>
                </a:solidFill>
              </a:rPr>
              <a:t>01</a:t>
            </a:r>
            <a:endParaRPr lang="en-US" sz="1500" dirty="0"/>
          </a:p>
        </p:txBody>
      </p:sp>
      <p:sp>
        <p:nvSpPr>
          <p:cNvPr id="6" name="Text 4"/>
          <p:cNvSpPr txBox="1"/>
          <p:nvPr/>
        </p:nvSpPr>
        <p:spPr>
          <a:xfrm>
            <a:off x="1645920" y="1463040"/>
            <a:ext cx="4023360" cy="667512"/>
          </a:xfrm>
          <a:prstGeom prst="rect">
            <a:avLst/>
          </a:prstGeom>
          <a:noFill/>
          <a:ln/>
        </p:spPr>
        <p:txBody>
          <a:bodyPr wrap="square" lIns="0" tIns="0" rIns="0" bIns="0" rtlCol="0" anchor="ctr"/>
          <a:lstStyle/>
          <a:p>
            <a:pPr indent="0" marL="0">
              <a:buNone/>
            </a:pPr>
            <a:r>
              <a:rPr lang="en-US" sz="1800" b="1" dirty="0">
                <a:solidFill>
                  <a:schemeClr val="bg1"/>
                </a:solidFill>
              </a:rPr>
              <a:t>Leak-free or it doesn't count</a:t>
            </a:r>
            <a:endParaRPr lang="en-US" sz="1800" dirty="0"/>
          </a:p>
        </p:txBody>
      </p:sp>
      <p:sp>
        <p:nvSpPr>
          <p:cNvPr id="7" name="Text 5"/>
          <p:cNvSpPr txBox="1"/>
          <p:nvPr/>
        </p:nvSpPr>
        <p:spPr>
          <a:xfrm>
            <a:off x="5760720" y="1463040"/>
            <a:ext cx="5669280" cy="667512"/>
          </a:xfrm>
          <a:prstGeom prst="rect">
            <a:avLst/>
          </a:prstGeom>
          <a:noFill/>
          <a:ln/>
        </p:spPr>
        <p:txBody>
          <a:bodyPr wrap="square" lIns="0" tIns="0" rIns="0" bIns="0" rtlCol="0" anchor="ctr"/>
          <a:lstStyle/>
          <a:p>
            <a:pPr indent="0" marL="0">
              <a:buNone/>
            </a:pPr>
            <a:r>
              <a:rPr lang="en-US" sz="1500" dirty="0">
                <a:solidFill>
                  <a:schemeClr val="bg2"/>
                </a:solidFill>
              </a:rPr>
              <a:t>Chronological splits, train-only statistics and masked metrics — the leakage alarm never fired.</a:t>
            </a:r>
            <a:endParaRPr lang="en-US" sz="1500" dirty="0"/>
          </a:p>
        </p:txBody>
      </p:sp>
      <p:sp>
        <p:nvSpPr>
          <p:cNvPr id="8" name="card"/>
          <p:cNvSpPr/>
          <p:nvPr/>
        </p:nvSpPr>
        <p:spPr>
          <a:xfrm>
            <a:off x="548640" y="2350008"/>
            <a:ext cx="11064240" cy="850392"/>
          </a:xfrm>
          <a:prstGeom prst="roundRect">
            <a:avLst>
              <a:gd name="adj" fmla="val 12903"/>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9" name="Shape 7"/>
          <p:cNvSpPr/>
          <p:nvPr/>
        </p:nvSpPr>
        <p:spPr>
          <a:xfrm>
            <a:off x="777240" y="2478024"/>
            <a:ext cx="594360" cy="594360"/>
          </a:xfrm>
          <a:prstGeom prst="ellipse">
            <a:avLst/>
          </a:prstGeom>
          <a:solidFill>
            <a:schemeClr val="accent1"/>
          </a:solidFill>
          <a:ln w="12700">
            <a:solidFill>
              <a:schemeClr val="accent1">
                <a:alpha val="0"/>
              </a:schemeClr>
            </a:solidFill>
            <a:prstDash val="solid"/>
          </a:ln>
        </p:spPr>
      </p:sp>
      <p:sp>
        <p:nvSpPr>
          <p:cNvPr id="10" name="Text 8"/>
          <p:cNvSpPr txBox="1"/>
          <p:nvPr/>
        </p:nvSpPr>
        <p:spPr>
          <a:xfrm>
            <a:off x="777240" y="2478024"/>
            <a:ext cx="594360" cy="594360"/>
          </a:xfrm>
          <a:prstGeom prst="rect">
            <a:avLst/>
          </a:prstGeom>
          <a:noFill/>
          <a:ln/>
        </p:spPr>
        <p:txBody>
          <a:bodyPr wrap="square" lIns="0" tIns="0" rIns="0" bIns="0" rtlCol="0" anchor="ctr"/>
          <a:lstStyle/>
          <a:p>
            <a:pPr algn="ctr" indent="0" marL="0">
              <a:buNone/>
            </a:pPr>
            <a:r>
              <a:rPr lang="en-US" sz="1500" b="1" dirty="0">
                <a:solidFill>
                  <a:srgbClr val="0A0F1E"/>
                </a:solidFill>
              </a:rPr>
              <a:t>02</a:t>
            </a:r>
            <a:endParaRPr lang="en-US" sz="1500" dirty="0"/>
          </a:p>
        </p:txBody>
      </p:sp>
      <p:sp>
        <p:nvSpPr>
          <p:cNvPr id="11" name="Text 9"/>
          <p:cNvSpPr txBox="1"/>
          <p:nvPr/>
        </p:nvSpPr>
        <p:spPr>
          <a:xfrm>
            <a:off x="1645920" y="2441448"/>
            <a:ext cx="4023360" cy="667512"/>
          </a:xfrm>
          <a:prstGeom prst="rect">
            <a:avLst/>
          </a:prstGeom>
          <a:noFill/>
          <a:ln/>
        </p:spPr>
        <p:txBody>
          <a:bodyPr wrap="square" lIns="0" tIns="0" rIns="0" bIns="0" rtlCol="0" anchor="ctr"/>
          <a:lstStyle/>
          <a:p>
            <a:pPr indent="0" marL="0">
              <a:buNone/>
            </a:pPr>
            <a:r>
              <a:rPr lang="en-US" sz="1800" b="1" dirty="0">
                <a:solidFill>
                  <a:schemeClr val="bg1"/>
                </a:solidFill>
              </a:rPr>
              <a:t>Neighbours help where it hurts</a:t>
            </a:r>
            <a:endParaRPr lang="en-US" sz="1800" dirty="0"/>
          </a:p>
        </p:txBody>
      </p:sp>
      <p:sp>
        <p:nvSpPr>
          <p:cNvPr id="12" name="Text 10"/>
          <p:cNvSpPr txBox="1"/>
          <p:nvPr/>
        </p:nvSpPr>
        <p:spPr>
          <a:xfrm>
            <a:off x="5760720" y="2441448"/>
            <a:ext cx="5669280" cy="667512"/>
          </a:xfrm>
          <a:prstGeom prst="rect">
            <a:avLst/>
          </a:prstGeom>
          <a:noFill/>
          <a:ln/>
        </p:spPr>
        <p:txBody>
          <a:bodyPr wrap="square" lIns="0" tIns="0" rIns="0" bIns="0" rtlCol="0" anchor="ctr"/>
          <a:lstStyle/>
          <a:p>
            <a:pPr indent="0" marL="0">
              <a:buNone/>
            </a:pPr>
            <a:r>
              <a:rPr lang="en-US" sz="1500" dirty="0">
                <a:solidFill>
                  <a:schemeClr val="bg2"/>
                </a:solidFill>
              </a:rPr>
              <a:t>Spatial features and graphs pay off at peaks and in congestion, not uniformly.</a:t>
            </a:r>
            <a:endParaRPr lang="en-US" sz="1500" dirty="0"/>
          </a:p>
        </p:txBody>
      </p:sp>
      <p:sp>
        <p:nvSpPr>
          <p:cNvPr id="13" name="card"/>
          <p:cNvSpPr/>
          <p:nvPr/>
        </p:nvSpPr>
        <p:spPr>
          <a:xfrm>
            <a:off x="548640" y="3328416"/>
            <a:ext cx="11064240" cy="850392"/>
          </a:xfrm>
          <a:prstGeom prst="roundRect">
            <a:avLst>
              <a:gd name="adj" fmla="val 12903"/>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14" name="Shape 12"/>
          <p:cNvSpPr/>
          <p:nvPr/>
        </p:nvSpPr>
        <p:spPr>
          <a:xfrm>
            <a:off x="777240" y="3456432"/>
            <a:ext cx="594360" cy="594360"/>
          </a:xfrm>
          <a:prstGeom prst="ellipse">
            <a:avLst/>
          </a:prstGeom>
          <a:solidFill>
            <a:schemeClr val="accent3"/>
          </a:solidFill>
          <a:ln w="12700">
            <a:solidFill>
              <a:schemeClr val="accent3">
                <a:alpha val="0"/>
              </a:schemeClr>
            </a:solidFill>
            <a:prstDash val="solid"/>
          </a:ln>
        </p:spPr>
      </p:sp>
      <p:sp>
        <p:nvSpPr>
          <p:cNvPr id="15" name="Text 13"/>
          <p:cNvSpPr txBox="1"/>
          <p:nvPr/>
        </p:nvSpPr>
        <p:spPr>
          <a:xfrm>
            <a:off x="777240" y="3456432"/>
            <a:ext cx="594360" cy="594360"/>
          </a:xfrm>
          <a:prstGeom prst="rect">
            <a:avLst/>
          </a:prstGeom>
          <a:noFill/>
          <a:ln/>
        </p:spPr>
        <p:txBody>
          <a:bodyPr wrap="square" lIns="0" tIns="0" rIns="0" bIns="0" rtlCol="0" anchor="ctr"/>
          <a:lstStyle/>
          <a:p>
            <a:pPr algn="ctr" indent="0" marL="0">
              <a:buNone/>
            </a:pPr>
            <a:r>
              <a:rPr lang="en-US" sz="1500" b="1" dirty="0">
                <a:solidFill>
                  <a:srgbClr val="0A0F1E"/>
                </a:solidFill>
              </a:rPr>
              <a:t>03</a:t>
            </a:r>
            <a:endParaRPr lang="en-US" sz="1500" dirty="0"/>
          </a:p>
        </p:txBody>
      </p:sp>
      <p:sp>
        <p:nvSpPr>
          <p:cNvPr id="16" name="Text 14"/>
          <p:cNvSpPr txBox="1"/>
          <p:nvPr/>
        </p:nvSpPr>
        <p:spPr>
          <a:xfrm>
            <a:off x="1645920" y="3419856"/>
            <a:ext cx="4023360" cy="667512"/>
          </a:xfrm>
          <a:prstGeom prst="rect">
            <a:avLst/>
          </a:prstGeom>
          <a:noFill/>
          <a:ln/>
        </p:spPr>
        <p:txBody>
          <a:bodyPr wrap="square" lIns="0" tIns="0" rIns="0" bIns="0" rtlCol="0" anchor="ctr"/>
          <a:lstStyle/>
          <a:p>
            <a:pPr indent="0" marL="0">
              <a:buNone/>
            </a:pPr>
            <a:r>
              <a:rPr lang="en-US" sz="1800" b="1" dirty="0">
                <a:solidFill>
                  <a:schemeClr val="bg1"/>
                </a:solidFill>
              </a:rPr>
              <a:t>The graph wins at long range</a:t>
            </a:r>
            <a:endParaRPr lang="en-US" sz="1800" dirty="0"/>
          </a:p>
        </p:txBody>
      </p:sp>
      <p:sp>
        <p:nvSpPr>
          <p:cNvPr id="17" name="Text 15"/>
          <p:cNvSpPr txBox="1"/>
          <p:nvPr/>
        </p:nvSpPr>
        <p:spPr>
          <a:xfrm>
            <a:off x="5760720" y="3419856"/>
            <a:ext cx="5669280" cy="667512"/>
          </a:xfrm>
          <a:prstGeom prst="rect">
            <a:avLst/>
          </a:prstGeom>
          <a:noFill/>
          <a:ln/>
        </p:spPr>
        <p:txBody>
          <a:bodyPr wrap="square" lIns="0" tIns="0" rIns="0" bIns="0" rtlCol="0" anchor="ctr"/>
          <a:lstStyle/>
          <a:p>
            <a:pPr indent="0" marL="0">
              <a:buNone/>
            </a:pPr>
            <a:r>
              <a:rPr lang="en-US" sz="1500" dirty="0">
                <a:solidFill>
                  <a:schemeClr val="bg2"/>
                </a:solidFill>
              </a:rPr>
              <a:t>STGAT ties the no-graph GRU at 15 min and beats it at 60 (3.67 vs 3.76).</a:t>
            </a:r>
            <a:endParaRPr lang="en-US" sz="1500" dirty="0"/>
          </a:p>
        </p:txBody>
      </p:sp>
      <p:sp>
        <p:nvSpPr>
          <p:cNvPr id="18" name="card"/>
          <p:cNvSpPr/>
          <p:nvPr/>
        </p:nvSpPr>
        <p:spPr>
          <a:xfrm>
            <a:off x="548640" y="4306824"/>
            <a:ext cx="11064240" cy="850392"/>
          </a:xfrm>
          <a:prstGeom prst="roundRect">
            <a:avLst>
              <a:gd name="adj" fmla="val 12903"/>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19" name="Shape 17"/>
          <p:cNvSpPr/>
          <p:nvPr/>
        </p:nvSpPr>
        <p:spPr>
          <a:xfrm>
            <a:off x="777240" y="4434840"/>
            <a:ext cx="594360" cy="594360"/>
          </a:xfrm>
          <a:prstGeom prst="ellipse">
            <a:avLst/>
          </a:prstGeom>
          <a:solidFill>
            <a:schemeClr val="accent4"/>
          </a:solidFill>
          <a:ln w="12700">
            <a:solidFill>
              <a:schemeClr val="accent4">
                <a:alpha val="0"/>
              </a:schemeClr>
            </a:solidFill>
            <a:prstDash val="solid"/>
          </a:ln>
        </p:spPr>
      </p:sp>
      <p:sp>
        <p:nvSpPr>
          <p:cNvPr id="20" name="Text 18"/>
          <p:cNvSpPr txBox="1"/>
          <p:nvPr/>
        </p:nvSpPr>
        <p:spPr>
          <a:xfrm>
            <a:off x="777240" y="4434840"/>
            <a:ext cx="594360" cy="594360"/>
          </a:xfrm>
          <a:prstGeom prst="rect">
            <a:avLst/>
          </a:prstGeom>
          <a:noFill/>
          <a:ln/>
        </p:spPr>
        <p:txBody>
          <a:bodyPr wrap="square" lIns="0" tIns="0" rIns="0" bIns="0" rtlCol="0" anchor="ctr"/>
          <a:lstStyle/>
          <a:p>
            <a:pPr algn="ctr" indent="0" marL="0">
              <a:buNone/>
            </a:pPr>
            <a:r>
              <a:rPr lang="en-US" sz="1500" b="1" dirty="0">
                <a:solidFill>
                  <a:srgbClr val="0A0F1E"/>
                </a:solidFill>
              </a:rPr>
              <a:t>04</a:t>
            </a:r>
            <a:endParaRPr lang="en-US" sz="1500" dirty="0"/>
          </a:p>
        </p:txBody>
      </p:sp>
      <p:sp>
        <p:nvSpPr>
          <p:cNvPr id="21" name="Text 19"/>
          <p:cNvSpPr txBox="1"/>
          <p:nvPr/>
        </p:nvSpPr>
        <p:spPr>
          <a:xfrm>
            <a:off x="1645920" y="4398264"/>
            <a:ext cx="4023360" cy="667512"/>
          </a:xfrm>
          <a:prstGeom prst="rect">
            <a:avLst/>
          </a:prstGeom>
          <a:noFill/>
          <a:ln/>
        </p:spPr>
        <p:txBody>
          <a:bodyPr wrap="square" lIns="0" tIns="0" rIns="0" bIns="0" rtlCol="0" anchor="ctr"/>
          <a:lstStyle/>
          <a:p>
            <a:pPr indent="0" marL="0">
              <a:buNone/>
            </a:pPr>
            <a:r>
              <a:rPr lang="en-US" sz="1800" b="1" dirty="0">
                <a:solidFill>
                  <a:schemeClr val="bg1"/>
                </a:solidFill>
              </a:rPr>
              <a:t>Trees + graph beat either alone</a:t>
            </a:r>
            <a:endParaRPr lang="en-US" sz="1800" dirty="0"/>
          </a:p>
        </p:txBody>
      </p:sp>
      <p:sp>
        <p:nvSpPr>
          <p:cNvPr id="22" name="Text 20"/>
          <p:cNvSpPr txBox="1"/>
          <p:nvPr/>
        </p:nvSpPr>
        <p:spPr>
          <a:xfrm>
            <a:off x="5760720" y="4398264"/>
            <a:ext cx="5669280" cy="667512"/>
          </a:xfrm>
          <a:prstGeom prst="rect">
            <a:avLst/>
          </a:prstGeom>
          <a:noFill/>
          <a:ln/>
        </p:spPr>
        <p:txBody>
          <a:bodyPr wrap="square" lIns="0" tIns="0" rIns="0" bIns="0" rtlCol="0" anchor="ctr"/>
          <a:lstStyle/>
          <a:p>
            <a:pPr indent="0" marL="0">
              <a:buNone/>
            </a:pPr>
            <a:r>
              <a:rPr lang="en-US" sz="1500" dirty="0">
                <a:solidFill>
                  <a:schemeClr val="bg2"/>
                </a:solidFill>
              </a:rPr>
              <a:t>Best: 2.82 · 3.22 · 3.61 mph at 15/30/60 min.</a:t>
            </a:r>
            <a:endParaRPr lang="en-US" sz="1500" dirty="0"/>
          </a:p>
        </p:txBody>
      </p:sp>
      <p:sp>
        <p:nvSpPr>
          <p:cNvPr id="23" name="card"/>
          <p:cNvSpPr/>
          <p:nvPr/>
        </p:nvSpPr>
        <p:spPr>
          <a:xfrm>
            <a:off x="548640" y="5285232"/>
            <a:ext cx="11064240" cy="850392"/>
          </a:xfrm>
          <a:prstGeom prst="roundRect">
            <a:avLst>
              <a:gd name="adj" fmla="val 12903"/>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24" name="Shape 22"/>
          <p:cNvSpPr/>
          <p:nvPr/>
        </p:nvSpPr>
        <p:spPr>
          <a:xfrm>
            <a:off x="777240" y="5413248"/>
            <a:ext cx="594360" cy="594360"/>
          </a:xfrm>
          <a:prstGeom prst="ellipse">
            <a:avLst/>
          </a:prstGeom>
          <a:solidFill>
            <a:schemeClr val="accent5"/>
          </a:solidFill>
          <a:ln w="12700">
            <a:solidFill>
              <a:schemeClr val="accent5">
                <a:alpha val="0"/>
              </a:schemeClr>
            </a:solidFill>
            <a:prstDash val="solid"/>
          </a:ln>
        </p:spPr>
      </p:sp>
      <p:sp>
        <p:nvSpPr>
          <p:cNvPr id="25" name="Text 23"/>
          <p:cNvSpPr txBox="1"/>
          <p:nvPr/>
        </p:nvSpPr>
        <p:spPr>
          <a:xfrm>
            <a:off x="777240" y="5413248"/>
            <a:ext cx="594360" cy="594360"/>
          </a:xfrm>
          <a:prstGeom prst="rect">
            <a:avLst/>
          </a:prstGeom>
          <a:noFill/>
          <a:ln/>
        </p:spPr>
        <p:txBody>
          <a:bodyPr wrap="square" lIns="0" tIns="0" rIns="0" bIns="0" rtlCol="0" anchor="ctr"/>
          <a:lstStyle/>
          <a:p>
            <a:pPr algn="ctr" indent="0" marL="0">
              <a:buNone/>
            </a:pPr>
            <a:r>
              <a:rPr lang="en-US" sz="1500" b="1" dirty="0">
                <a:solidFill>
                  <a:srgbClr val="0A0F1E"/>
                </a:solidFill>
              </a:rPr>
              <a:t>05</a:t>
            </a:r>
            <a:endParaRPr lang="en-US" sz="1500" dirty="0"/>
          </a:p>
        </p:txBody>
      </p:sp>
      <p:sp>
        <p:nvSpPr>
          <p:cNvPr id="26" name="Text 24"/>
          <p:cNvSpPr txBox="1"/>
          <p:nvPr/>
        </p:nvSpPr>
        <p:spPr>
          <a:xfrm>
            <a:off x="1645920" y="5376672"/>
            <a:ext cx="4023360" cy="667512"/>
          </a:xfrm>
          <a:prstGeom prst="rect">
            <a:avLst/>
          </a:prstGeom>
          <a:noFill/>
          <a:ln/>
        </p:spPr>
        <p:txBody>
          <a:bodyPr wrap="square" lIns="0" tIns="0" rIns="0" bIns="0" rtlCol="0" anchor="ctr"/>
          <a:lstStyle/>
          <a:p>
            <a:pPr indent="0" marL="0">
              <a:buNone/>
            </a:pPr>
            <a:r>
              <a:rPr lang="en-US" sz="1800" b="1" dirty="0">
                <a:solidFill>
                  <a:schemeClr val="bg1"/>
                </a:solidFill>
              </a:rPr>
              <a:t>Honest nulls are results too</a:t>
            </a:r>
            <a:endParaRPr lang="en-US" sz="1800" dirty="0"/>
          </a:p>
        </p:txBody>
      </p:sp>
      <p:sp>
        <p:nvSpPr>
          <p:cNvPr id="27" name="Text 25"/>
          <p:cNvSpPr txBox="1"/>
          <p:nvPr/>
        </p:nvSpPr>
        <p:spPr>
          <a:xfrm>
            <a:off x="5760720" y="5376672"/>
            <a:ext cx="5669280" cy="667512"/>
          </a:xfrm>
          <a:prstGeom prst="rect">
            <a:avLst/>
          </a:prstGeom>
          <a:noFill/>
          <a:ln/>
        </p:spPr>
        <p:txBody>
          <a:bodyPr wrap="square" lIns="0" tIns="0" rIns="0" bIns="0" rtlCol="0" anchor="ctr"/>
          <a:lstStyle/>
          <a:p>
            <a:pPr indent="0" marL="0">
              <a:buNone/>
            </a:pPr>
            <a:r>
              <a:rPr lang="en-US" sz="1500" dirty="0">
                <a:solidFill>
                  <a:schemeClr val="bg2"/>
                </a:solidFill>
              </a:rPr>
              <a:t>Ablations, attention and control did not confirm everything — and we report it.</a:t>
            </a:r>
            <a:endParaRPr lang="en-US" sz="15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Limits and what comes next</a:t>
            </a:r>
            <a:endParaRPr lang="en-US" sz="3600" dirty="0"/>
          </a:p>
        </p:txBody>
      </p:sp>
      <p:sp>
        <p:nvSpPr>
          <p:cNvPr id="3" name="card"/>
          <p:cNvSpPr/>
          <p:nvPr/>
        </p:nvSpPr>
        <p:spPr>
          <a:xfrm>
            <a:off x="548640" y="1417320"/>
            <a:ext cx="5394960" cy="4754880"/>
          </a:xfrm>
          <a:prstGeom prst="roundRect">
            <a:avLst>
              <a:gd name="adj" fmla="val 2308"/>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4" name="Text 2"/>
          <p:cNvSpPr txBox="1"/>
          <p:nvPr/>
        </p:nvSpPr>
        <p:spPr>
          <a:xfrm>
            <a:off x="868680" y="1691640"/>
            <a:ext cx="4846320" cy="320040"/>
          </a:xfrm>
          <a:prstGeom prst="rect">
            <a:avLst/>
          </a:prstGeom>
          <a:noFill/>
          <a:ln/>
        </p:spPr>
        <p:txBody>
          <a:bodyPr wrap="square" lIns="0" tIns="0" rIns="0" bIns="0" rtlCol="0" anchor="t"/>
          <a:lstStyle/>
          <a:p>
            <a:pPr indent="0" marL="0">
              <a:buNone/>
            </a:pPr>
            <a:r>
              <a:rPr lang="en-US" sz="1400" b="1" spc="300" kern="0" dirty="0">
                <a:solidFill>
                  <a:schemeClr val="accent1"/>
                </a:solidFill>
              </a:rPr>
              <a:t>LIMITATIONS</a:t>
            </a:r>
            <a:endParaRPr lang="en-US" sz="1400" dirty="0"/>
          </a:p>
        </p:txBody>
      </p:sp>
      <p:sp>
        <p:nvSpPr>
          <p:cNvPr id="5" name="Text 3"/>
          <p:cNvSpPr txBox="1"/>
          <p:nvPr/>
        </p:nvSpPr>
        <p:spPr>
          <a:xfrm>
            <a:off x="868680" y="2240280"/>
            <a:ext cx="4846320" cy="3840480"/>
          </a:xfrm>
          <a:prstGeom prst="rect">
            <a:avLst/>
          </a:prstGeom>
          <a:noFill/>
          <a:ln/>
        </p:spPr>
        <p:txBody>
          <a:bodyPr wrap="square" lIns="0" tIns="0" rIns="0" bIns="0" rtlCol="0" anchor="t"/>
          <a:lstStyle/>
          <a:p>
            <a:pPr marL="228600" indent="-228600">
              <a:spcAft>
                <a:spcPts val="800"/>
              </a:spcAft>
              <a:buSzPct val="100000"/>
              <a:buChar char="•"/>
            </a:pPr>
            <a:r>
              <a:rPr lang="en-US" sz="2000" dirty="0">
                <a:solidFill>
                  <a:schemeClr val="bg1"/>
                </a:solidFill>
              </a:rPr>
              <a:t>One city, one season (Mar–Jun 2012), speed only</a:t>
            </a:r>
            <a:endParaRPr lang="en-US" sz="2000" dirty="0"/>
          </a:p>
          <a:p>
            <a:pPr marL="228600" indent="-228600">
              <a:spcAft>
                <a:spcPts val="800"/>
              </a:spcAft>
              <a:buSzPct val="100000"/>
              <a:buChar char="•"/>
            </a:pPr>
            <a:r>
              <a:rPr lang="en-US" sz="2000" dirty="0">
                <a:solidFill>
                  <a:schemeClr val="bg1"/>
                </a:solidFill>
              </a:rPr>
              <a:t>Laptop budgets: 15 tuning trials, 400-tree cap always reached, 40 epochs</a:t>
            </a:r>
            <a:endParaRPr lang="en-US" sz="2000" dirty="0"/>
          </a:p>
          <a:p>
            <a:pPr marL="228600" indent="-228600">
              <a:spcAft>
                <a:spcPts val="800"/>
              </a:spcAft>
              <a:buSzPct val="100000"/>
              <a:buChar char="•"/>
            </a:pPr>
            <a:r>
              <a:rPr lang="en-US" sz="2000" dirty="0">
                <a:solidFill>
                  <a:schemeClr val="bg1"/>
                </a:solidFill>
              </a:rPr>
              <a:t>Ablations on one seed; STGAT attention on the last 4 steps</a:t>
            </a:r>
            <a:endParaRPr lang="en-US" sz="2000" dirty="0"/>
          </a:p>
          <a:p>
            <a:pPr marL="228600" indent="-228600">
              <a:spcAft>
                <a:spcPts val="800"/>
              </a:spcAft>
              <a:buSzPct val="100000"/>
              <a:buChar char="•"/>
            </a:pPr>
            <a:r>
              <a:rPr lang="en-US" sz="2000" dirty="0">
                <a:solidFill>
                  <a:schemeClr val="bg1"/>
                </a:solidFill>
              </a:rPr>
              <a:t>Control demand is synthetic and open loop</a:t>
            </a:r>
            <a:endParaRPr lang="en-US" sz="2000" dirty="0"/>
          </a:p>
        </p:txBody>
      </p:sp>
      <p:sp>
        <p:nvSpPr>
          <p:cNvPr id="6" name="card"/>
          <p:cNvSpPr/>
          <p:nvPr/>
        </p:nvSpPr>
        <p:spPr>
          <a:xfrm>
            <a:off x="6217920" y="1417320"/>
            <a:ext cx="5394960" cy="4754880"/>
          </a:xfrm>
          <a:prstGeom prst="roundRect">
            <a:avLst>
              <a:gd name="adj" fmla="val 2308"/>
            </a:avLst>
          </a:prstGeom>
          <a:solidFill>
            <a:schemeClr val="tx2">
              <a:alpha val="92000"/>
            </a:schemeClr>
          </a:solidFill>
          <a:ln w="12700">
            <a:solidFill>
              <a:schemeClr val="tx2">
                <a:alpha val="0"/>
              </a:schemeClr>
            </a:solidFill>
            <a:prstDash val="solid"/>
          </a:ln>
          <a:effectLst>
            <a:outerShdw sx="100000" sy="100000" kx="0" ky="0" algn="bl" rotWithShape="0" blurRad="177800" dist="38100" dir="5400000">
              <a:srgbClr val="000000">
                <a:alpha val="45000"/>
              </a:srgbClr>
            </a:outerShdw>
          </a:effectLst>
        </p:spPr>
      </p:sp>
      <p:sp>
        <p:nvSpPr>
          <p:cNvPr id="7" name="Text 5"/>
          <p:cNvSpPr txBox="1"/>
          <p:nvPr/>
        </p:nvSpPr>
        <p:spPr>
          <a:xfrm>
            <a:off x="6537960" y="1691640"/>
            <a:ext cx="4846320" cy="320040"/>
          </a:xfrm>
          <a:prstGeom prst="rect">
            <a:avLst/>
          </a:prstGeom>
          <a:noFill/>
          <a:ln/>
        </p:spPr>
        <p:txBody>
          <a:bodyPr wrap="square" lIns="0" tIns="0" rIns="0" bIns="0" rtlCol="0" anchor="t"/>
          <a:lstStyle/>
          <a:p>
            <a:pPr indent="0" marL="0">
              <a:buNone/>
            </a:pPr>
            <a:r>
              <a:rPr lang="en-US" sz="1400" b="1" spc="300" kern="0" dirty="0">
                <a:solidFill>
                  <a:schemeClr val="accent3"/>
                </a:solidFill>
              </a:rPr>
              <a:t>NEXT</a:t>
            </a:r>
            <a:endParaRPr lang="en-US" sz="1400" dirty="0"/>
          </a:p>
        </p:txBody>
      </p:sp>
      <p:sp>
        <p:nvSpPr>
          <p:cNvPr id="8" name="Text 6"/>
          <p:cNvSpPr txBox="1"/>
          <p:nvPr/>
        </p:nvSpPr>
        <p:spPr>
          <a:xfrm>
            <a:off x="6537960" y="2240280"/>
            <a:ext cx="4846320" cy="3840480"/>
          </a:xfrm>
          <a:prstGeom prst="rect">
            <a:avLst/>
          </a:prstGeom>
          <a:noFill/>
          <a:ln/>
        </p:spPr>
        <p:txBody>
          <a:bodyPr wrap="square" lIns="0" tIns="0" rIns="0" bIns="0" rtlCol="0" anchor="t"/>
          <a:lstStyle/>
          <a:p>
            <a:pPr marL="228600" indent="-228600">
              <a:spcAft>
                <a:spcPts val="800"/>
              </a:spcAft>
              <a:buSzPct val="100000"/>
              <a:buChar char="•"/>
            </a:pPr>
            <a:r>
              <a:rPr lang="en-US" sz="2000" dirty="0">
                <a:solidFill>
                  <a:schemeClr val="bg1"/>
                </a:solidFill>
              </a:rPr>
              <a:t>Full-budget training and 3-seed ablations</a:t>
            </a:r>
            <a:endParaRPr lang="en-US" sz="2000" dirty="0"/>
          </a:p>
          <a:p>
            <a:pPr marL="228600" indent="-228600">
              <a:spcAft>
                <a:spcPts val="800"/>
              </a:spcAft>
              <a:buSzPct val="100000"/>
              <a:buChar char="•"/>
            </a:pPr>
            <a:r>
              <a:rPr lang="en-US" sz="2000" dirty="0">
                <a:solidFill>
                  <a:schemeClr val="bg1"/>
                </a:solidFill>
              </a:rPr>
              <a:t>Adaptive (learned) adjacency instead of a fixed distance graph</a:t>
            </a:r>
            <a:endParaRPr lang="en-US" sz="2000" dirty="0"/>
          </a:p>
          <a:p>
            <a:pPr marL="228600" indent="-228600">
              <a:spcAft>
                <a:spcPts val="800"/>
              </a:spcAft>
              <a:buSzPct val="100000"/>
              <a:buChar char="•"/>
            </a:pPr>
            <a:r>
              <a:rPr lang="en-US" sz="2000" dirty="0">
                <a:solidFill>
                  <a:schemeClr val="bg1"/>
                </a:solidFill>
              </a:rPr>
              <a:t>Flow and occupancy from PeMS; literature-protocol comparison</a:t>
            </a:r>
            <a:endParaRPr lang="en-US" sz="2000" dirty="0"/>
          </a:p>
          <a:p>
            <a:pPr marL="228600" indent="-228600">
              <a:spcAft>
                <a:spcPts val="800"/>
              </a:spcAft>
              <a:buSzPct val="100000"/>
              <a:buChar char="•"/>
            </a:pPr>
            <a:r>
              <a:rPr lang="en-US" sz="2000" dirty="0">
                <a:solidFill>
                  <a:schemeClr val="bg1"/>
                </a:solidFill>
              </a:rPr>
              <a:t>Closed-loop control where forecasts react to the controller</a:t>
            </a:r>
            <a:endParaRPr lang="en-US" sz="20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731520" y="914400"/>
            <a:ext cx="10698480" cy="1371600"/>
          </a:xfrm>
          <a:prstGeom prst="rect">
            <a:avLst/>
          </a:prstGeom>
          <a:noFill/>
          <a:ln/>
        </p:spPr>
        <p:txBody>
          <a:bodyPr wrap="square" lIns="0" tIns="0" rIns="0" bIns="0" rtlCol="0" anchor="b"/>
          <a:lstStyle/>
          <a:p>
            <a:pPr algn="l" indent="0" marL="0">
              <a:buNone/>
            </a:pPr>
            <a:r>
              <a:rPr lang="en-US" sz="6600" b="1" dirty="0">
                <a:solidFill>
                  <a:schemeClr val="bg1"/>
                </a:solidFill>
              </a:rPr>
              <a:t>Thank you</a:t>
            </a:r>
            <a:endParaRPr lang="en-US" sz="6600" dirty="0"/>
          </a:p>
        </p:txBody>
      </p:sp>
      <p:sp>
        <p:nvSpPr>
          <p:cNvPr id="3" name="Text 0"/>
          <p:cNvSpPr/>
          <p:nvPr>
            <p:ph idx="101" type="body" hasCustomPrompt="1"/>
          </p:nvPr>
        </p:nvSpPr>
        <p:spPr>
          <a:xfrm>
            <a:off x="731520" y="2377440"/>
            <a:ext cx="9601200" cy="822960"/>
          </a:xfrm>
          <a:prstGeom prst="rect">
            <a:avLst/>
          </a:prstGeom>
          <a:noFill/>
          <a:ln/>
        </p:spPr>
        <p:txBody>
          <a:bodyPr wrap="square" lIns="0" tIns="0" rIns="0" bIns="0" rtlCol="0" anchor="t"/>
          <a:lstStyle/>
          <a:p>
            <a:pPr algn="l" indent="0" marL="0">
              <a:buNone/>
            </a:pPr>
            <a:r>
              <a:rPr lang="en-US" sz="2600" dirty="0">
                <a:solidFill>
                  <a:schemeClr val="bg2"/>
                </a:solidFill>
              </a:rPr>
              <a:t>Questions welcome — every number is in the repository.</a:t>
            </a:r>
            <a:endParaRPr lang="en-US" sz="2600" dirty="0"/>
          </a:p>
        </p:txBody>
      </p:sp>
      <p:sp>
        <p:nvSpPr>
          <p:cNvPr id="4" name="Text 2"/>
          <p:cNvSpPr txBox="1"/>
          <p:nvPr/>
        </p:nvSpPr>
        <p:spPr>
          <a:xfrm>
            <a:off x="731520" y="3017520"/>
            <a:ext cx="10058400" cy="1005840"/>
          </a:xfrm>
          <a:prstGeom prst="rect">
            <a:avLst/>
          </a:prstGeom>
          <a:noFill/>
          <a:ln/>
        </p:spPr>
        <p:txBody>
          <a:bodyPr wrap="square" lIns="0" tIns="0" rIns="0" bIns="0" rtlCol="0" anchor="t"/>
          <a:lstStyle/>
          <a:p>
            <a:pPr indent="0" marL="0">
              <a:buNone/>
            </a:pPr>
            <a:r>
              <a:rPr lang="en-US" sz="1800" b="1" spc="300" kern="0" dirty="0">
                <a:solidFill>
                  <a:schemeClr val="accent2"/>
                </a:solidFill>
              </a:rPr>
              <a:t>TEAM T042</a:t>
            </a:r>
            <a:endParaRPr lang="en-US" sz="1800" dirty="0"/>
          </a:p>
          <a:p>
            <a:pPr indent="0" marL="0">
              <a:buNone/>
            </a:pPr>
            <a:r>
              <a:rPr lang="en-US" sz="1800" dirty="0">
                <a:solidFill>
                  <a:schemeClr val="bg1"/>
                </a:solidFill>
              </a:rPr>
              <a:t>Pranav Singh · Kunal · Himanshu · Kanchan · Vaibhav</a:t>
            </a:r>
            <a:endParaRPr lang="en-US" sz="1800" dirty="0"/>
          </a:p>
          <a:p>
            <a:pPr indent="0" marL="0">
              <a:buNone/>
            </a:pPr>
            <a:r>
              <a:rPr lang="en-US" sz="1800" dirty="0">
                <a:solidFill>
                  <a:schemeClr val="bg2"/>
                </a:solidFill>
              </a:rPr>
              <a:t>github.com/Pranav-Singh-Devloper/traffic-oracle</a:t>
            </a:r>
            <a:endParaRPr lang="en-US" sz="1800" dirty="0"/>
          </a:p>
        </p:txBody>
      </p:sp>
    </p:spTree>
  </p:cSld>
  <p:clrMapOvr>
    <a:masterClrMapping/>
  </p:clrMapOvr>
</p:sld>
</file>

<file path=ppt/theme/theme1.xml><?xml version="1.0" encoding="utf-8"?>
<a:theme xmlns:a="http://schemas.openxmlformats.org/drawingml/2006/main" name="Traffic Oracle Night">
  <a:themeElements>
    <a:clrScheme name="Traffic Oracle Night">
      <a:dk1>
        <a:srgbClr val="0A0F1E"/>
      </a:dk1>
      <a:lt1>
        <a:srgbClr val="FFFFFF"/>
      </a:lt1>
      <a:dk2>
        <a:srgbClr val="151C35"/>
      </a:dk2>
      <a:lt2>
        <a:srgbClr val="AEB8D0"/>
      </a:lt2>
      <a:accent1>
        <a:srgbClr val="FF5A4E"/>
      </a:accent1>
      <a:accent2>
        <a:srgbClr val="FFB547"/>
      </a:accent2>
      <a:accent3>
        <a:srgbClr val="3DD6C4"/>
      </a:accent3>
      <a:accent4>
        <a:srgbClr val="8C9BFF"/>
      </a:accent4>
      <a:accent5>
        <a:srgbClr val="6B7794"/>
      </a:accent5>
      <a:accent6>
        <a:srgbClr val="5BD68A"/>
      </a:accent6>
      <a:hlink>
        <a:srgbClr val="FFB547"/>
      </a:hlink>
      <a:folHlink>
        <a:srgbClr val="8C9BFF"/>
      </a:folHlink>
    </a:clrScheme>
    <a:fontScheme name="Traffic Oracle Nigh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Traffic Oracle — Team T042</dc:title>
  <dc:subject>PptxGenJS Presentation</dc:subject>
  <dc:creator>Team T042</dc:creator>
  <cp:lastModifiedBy>Team T042</cp:lastModifiedBy>
  <cp:revision>1</cp:revision>
  <dcterms:created xsi:type="dcterms:W3CDTF">2026-10-27T08:22:13Z</dcterms:created>
  <dcterms:modified xsi:type="dcterms:W3CDTF">2026-10-27T08:22:13Z</dcterms:modified>
</cp:coreProperties>
</file>